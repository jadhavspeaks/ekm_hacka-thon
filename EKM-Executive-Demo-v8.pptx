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8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13258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search.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knowledge.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cold start.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24688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search · intelligence analytics · community layer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Jira, Confluence, GitHub and SharePoint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3749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·  POC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46634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Team  ·  Citi  ·  March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840480" y="64008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0" y="640080"/>
            <a:ext cx="23774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777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840480" y="1389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Indexed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64008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640080"/>
            <a:ext cx="2377440" cy="6400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777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46520" y="1389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Live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205740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2057400"/>
            <a:ext cx="23774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1945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840480" y="2807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Modules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205740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2057400"/>
            <a:ext cx="23774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1945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446520" y="2807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49040" y="3977640"/>
            <a:ext cx="521208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397764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·  Confluence  ·  GitHub  ·  SharePoint  ·  MongoDB  ·  FastAPI  ·  React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separate problems. One systemic knowledge gap.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658368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658368"/>
            <a:ext cx="4224528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680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9784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4 tools. 1 question.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316736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context-switch across Jira, Confluence, GitHub and SharePoint for every single answer.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90872" y="658368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658368"/>
            <a:ext cx="422452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7680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28032" y="9784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Knowledge walks out.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316736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departures silently erase years of context. No handover pack. No audit trail.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724912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724912"/>
            <a:ext cx="422452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30449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No single source of truth.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3832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tools return inconsistent, stale results with no unified relevance ranking.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90872" y="2724912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90872" y="2724912"/>
            <a:ext cx="4224528" cy="54864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28032" y="30449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Right now, at Citi.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33832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audits, repeated questions, and lost institutional knowledge compound daily.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46120" y="10424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46120" y="140817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week spent searching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708392" y="10424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08392" y="140817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handover trails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246120" y="31089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246120" y="3474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search effort daily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708392" y="31089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708392" y="3474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onboard a new engineer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engine. Four sources. Instant answers.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658368"/>
            <a:ext cx="2560320" cy="41605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822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ENGINE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0" y="1234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BM25 Unified Search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0" y="1801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Intelligence Layer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236829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Community Layer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29352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Onboarding Paths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35021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Share Links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6858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685800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7955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52928" y="106984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169164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169164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8013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52928" y="207568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269748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697480"/>
            <a:ext cx="2651760" cy="5486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8072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52928" y="308152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70332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3703320"/>
            <a:ext cx="265176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8130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852928" y="408736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68580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685800"/>
            <a:ext cx="29260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758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Search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10149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across all 4 sources simultaneously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852160" y="106984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169164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1691640"/>
            <a:ext cx="292608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17647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202082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analytical modules — gaps, risk, experts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52160" y="207568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269748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2697480"/>
            <a:ext cx="29260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2770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Layer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72200" y="30266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Flags, smart annotations, leaderboard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852160" y="308152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370332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35040" y="3703320"/>
            <a:ext cx="29260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3776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Paths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72200" y="40325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learning journeys per topic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852160" y="408736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0" y="45537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 ·  FastAPI  ·  React  ·  Python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Live Today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features. Running on your infrastructure. Real data.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Unified Search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078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full-text across Jira, Confluence, GitHub &amp; SharePoint simultaneously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54680" y="65836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Intelligence Hub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91840" y="1078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6-tab analytics: knowledge gaps, risk, experts &amp; more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26480" y="65836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658368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 Community Flags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63640" y="1078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docs outdated, incorrect, useful or needing SME review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207568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075688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Onboarding Paths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2496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learning journeys — share with any new joiner instantly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54680" y="207568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075688"/>
            <a:ext cx="28346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Risk &amp; Vendor Intel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2496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NE vendor classification with knowledge concentration risk alerts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26480" y="207568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075688"/>
            <a:ext cx="2834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Smart Annotations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2496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notes, corrections &amp; suggestions with community upvotes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349300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3493008"/>
            <a:ext cx="2834640" cy="54864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Leaderboard &amp; Digest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0040" y="3913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contributions with weekly knowledge digest and rankings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54680" y="349300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54680" y="3493008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Deep Links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91840" y="3913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/join/:topic URLs route directly to curated onboarding paths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26480" y="349300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3493008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People Search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63640" y="3913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finder and contributor profiles across all sources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5,092 raw documents to 6 actionable analytical views.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68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768096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22529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undocumented systems and topics your team searches but finds nothing 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65836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768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768096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At Risk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22529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departure alerts — who owns critical topics and what happens when they leave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0" y="65836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658368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768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768096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Vendors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122529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NE vendor classification with knowledge concentration and dependency alerts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2688336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688336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" y="279806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Tracker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25526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structured SME knowledge transfer packs — shareable and audit-ready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54680" y="2688336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2688336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03320" y="279806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Search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325526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finder and contributor profiles built from real activity across all sources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26480" y="2688336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688336"/>
            <a:ext cx="2834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75120" y="279806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325526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/join/:topic onboarding journeys for any new joiner, instantly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Layer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 makes the platform smarter for the next.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Flags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344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— content no longer reflects reality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956816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842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— factual error identified by reviewer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706624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340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Useful — high-value document, surface to others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456432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838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 — escalate to SME for attention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54680" y="65836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749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Annotations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91840" y="1207008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2344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— add contextual insight directly on a doc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1840" y="1956816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9842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— propose improvements or missing content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2706624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7340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— fix factual errors with upvote validation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91840" y="3456432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4838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of community-added knowledge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26480" y="65836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658368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749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&amp; Leaderboard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63640" y="1207008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12344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— top contributors ranked by quality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63640" y="1956816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9842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Flagged — docs needing urgent attention surfaced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63640" y="2706624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27340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Useful — highest-rated docs promoted to new joiners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63640" y="3456432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34838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 — activity summary and highlights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CANVAS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Management  —  EKM  ·  E3  ·  Citi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1.0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315200" y="5486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9728" y="804672"/>
            <a:ext cx="1719072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" y="804672"/>
            <a:ext cx="1719072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82880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P: Engineers run 4 separate searches per question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82880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I: Knowledge exits silently with every SME departure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2880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C: No unified source of truth across tools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82880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U: Manual onboarding, manual audits — every time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74520" y="804672"/>
            <a:ext cx="17190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74520" y="804672"/>
            <a:ext cx="171907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47672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947672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BM25 unified search — 1 query, 4 sources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947672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6-tab intelligence hub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947672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flags &amp; smart annotations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947672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Deep-link /join/:topic onboarding URLs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39312" y="804672"/>
            <a:ext cx="17190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39312" y="804672"/>
            <a:ext cx="1719072" cy="457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2464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 PROP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712464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One search. All your knowledge.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712464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Zero cold start.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712464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5,092 docs · Day-1 ready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712464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cold start problem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404104" y="804672"/>
            <a:ext cx="17190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04104" y="804672"/>
            <a:ext cx="171907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77256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ADVANTAGE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477256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5,092 docs already indexed — Day 1 ready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477256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Live SharePoint connector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77256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Citi TECH NE vendor classifier built-in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477256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Built by E3 — deep insider knowledge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168896" y="804672"/>
            <a:ext cx="1865376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68896" y="804672"/>
            <a:ext cx="1865376" cy="457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42048" y="868680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7242048" y="1078992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Engineering teams (primary users)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242048" y="14630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New joiners &amp; graduates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242048" y="184708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Project managers &amp; leads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242048" y="2231136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Compliance &amp; audit teams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874520" y="2770632"/>
            <a:ext cx="1719072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74520" y="2770632"/>
            <a:ext cx="1719072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47672" y="283464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ALTERNATIVES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947672" y="304495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Native Jira / Confluence search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947672" y="342900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Manual wiki maintenance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947672" y="381304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Apache Answer (no Citi data)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947672" y="419709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SharePoint search (SP only)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639312" y="2770632"/>
            <a:ext cx="1719072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39312" y="2770632"/>
            <a:ext cx="171907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12464" y="283464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3712464" y="304495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Searches per week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712464" y="342900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Zero-result query rate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712464" y="381304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contributions/week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712464" y="419709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Time-to-first-answer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404104" y="2770632"/>
            <a:ext cx="1719072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04104" y="2770632"/>
            <a:ext cx="1719072" cy="457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77256" y="283464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477256" y="304495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localhost:3000 (internal deploy)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477256" y="342900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/join/:topic shareable deep links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477256" y="381304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Microsoft Teams integration path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477256" y="419709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Direct onboarding share URLs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109728" y="4590288"/>
            <a:ext cx="4434840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2880" y="459943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182880" y="4754880"/>
            <a:ext cx="4206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(existing infra)  ·  Python · FastAPI · React (open source)  ·  Engineer time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599432" y="4590288"/>
            <a:ext cx="4434840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63440" y="459943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4663440" y="4754880"/>
            <a:ext cx="4206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productivity uplift  ·  POC pathway to enterprise platform rollout across Citi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search to synthesis — the next frontier for EKM.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21792"/>
            <a:ext cx="422452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21792"/>
            <a:ext cx="4224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36592" y="621792"/>
            <a:ext cx="4224528" cy="347472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621792"/>
            <a:ext cx="4224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 ·  EKM + AI ENGINE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042416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88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search. You read.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136245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manually scans 10+ results per query to piece together an answer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36592" y="1042416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1042416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088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Ask. Get a synthesised answer.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136245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reads your 5,092 docs and returns a direct answer with citations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07408" y="1362456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136245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1993392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039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lost between docs.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23134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 links to Confluence. Confluence links to GitHub. You follow each separately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36592" y="1993392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993392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039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stitched automatically.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23134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connects Jira tickets, Confluence pages and GitHub PRs into a unified response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07408" y="2313432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7408" y="2313432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" y="2944368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9900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every onboard.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" y="32644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 ask the same questions. Knowledge stays in peoples heads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36592" y="2944368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2944368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9900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Zero-repeat onboarding.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32644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 asks once. The AI answer is reusable and lives in EKM forever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407408" y="3264408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07408" y="326440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2880" y="3895344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9410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as the search engine.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" y="421538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become bottlenecks because there is no synthesised answer layer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36592" y="3895344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36592" y="3895344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9410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freed from bottlenecks.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92040" y="421538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questions answered instantly. SME time reserved for real decisions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407408" y="4215384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07408" y="421538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engine integrates with EKM via Retrieval-Augmented Generation.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1600200" cy="14173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8308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658368"/>
            <a:ext cx="1600200" cy="14173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596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6596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Retrieval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docs from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5,092 indexed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56616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658368"/>
            <a:ext cx="1600200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4904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chunks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metadata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4924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658368"/>
            <a:ext cx="160020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3212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3212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(Anthropic)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13232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658368"/>
            <a:ext cx="1600200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1520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source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2331720"/>
            <a:ext cx="205740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lexical search returns top-20 candidate chunks. Metadata filters by source, recency and community score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04872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04872" y="2331720"/>
            <a:ext cx="20574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Assembly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42032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chunks concatenated with doc metadata, community flags and expert annotations into structured prompt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26864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26864" y="2331720"/>
            <a:ext cx="20574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64024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64024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generates a direct answer grounded strictly in retrieved context — no hallucination risk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48856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48856" y="2331720"/>
            <a:ext cx="20574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86016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Overlay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86016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the response is linked back to its source document — Jira, Confluence, GitHub or SharePoint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Roadmap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from search enhancement to autonomous knowledge maintenance.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658368"/>
            <a:ext cx="20574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307592" y="804672"/>
            <a:ext cx="777240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7592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01752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Answers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Natural language Q&amp;A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1752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01752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User query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1752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5,092 indexed docs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01752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flags + scores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01752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01752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Cited answer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1752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Source links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01752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Confidence level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56032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BM25 retrieval  ·  FastAPI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386584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386584" y="658368"/>
            <a:ext cx="205740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3744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529584" y="804672"/>
            <a:ext cx="777240" cy="23774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9584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2523744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Suggestions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23744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Proactive gap filling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23744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23744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Zero-result searches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23744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Knowledge gap report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523744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Stale doc alerts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523744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23744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Draft doc stubs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523744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Suggested SME owners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523744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Gap priority score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478024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Intelligence layer  ·  Scheduled jobs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4608576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08576" y="658368"/>
            <a:ext cx="20574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45736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5751576" y="804672"/>
            <a:ext cx="77724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1576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745736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Summaries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45736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Living documentation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45736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45736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New Jira/GitHub commits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745736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Confluence page changes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745736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corrections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745736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745736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Auto-updated summaries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745736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Change digest email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745736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Version diff notes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700016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Webhook triggers  ·  MongoDB change streams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6830568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830568" y="658368"/>
            <a:ext cx="205740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67728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7973568" y="804672"/>
            <a:ext cx="777240" cy="23774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73568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967728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Maintenance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967728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· Self-healing knowledge base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967728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967728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Flagged outdated docs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967728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Cross-source conflicts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967728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Audit schedules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967728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967728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Auto-refresh proposals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967728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Conflict resolution drafts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967728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Audit-ready reports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922008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Human-in-loop review  ·  Full EKM stack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POC to production-ready platform.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59436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822960"/>
            <a:ext cx="658368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82296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627632" y="73152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Answers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627632" y="104241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+ RAG pipeline — natural language answers synthesised from your 5,092 docs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166420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664208"/>
            <a:ext cx="594360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75564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68680" y="1828800"/>
            <a:ext cx="658368" cy="21945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182880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627632" y="173736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Feedback Loop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627632" y="204825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up/down signals feed back into BM25 ranking — search improves with every query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267004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670048"/>
            <a:ext cx="59436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76148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68680" y="2834640"/>
            <a:ext cx="658368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283464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627632" y="274320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627632" y="305409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O365 ADFS WS-Federation connector extends coverage to cloud SharePoint environments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367588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3675888"/>
            <a:ext cx="59436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76732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68680" y="3840480"/>
            <a:ext cx="658368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84048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627632" y="374904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Pack PDF Export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627632" y="405993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exportable SME handover documents — structured, shareable, audit-ready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09360" y="658368"/>
            <a:ext cx="2651760" cy="4005072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55080" y="914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35508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1874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5,092 documents.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data. Right now.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92240" y="26334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Jira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29809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Confluence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33284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GitHub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0" y="36758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SharePoint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55080" y="4251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 ·  Citi  ·  Hackathon 2026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ROI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  ·  500 engineers  ·  Fully loaded cost range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21792"/>
            <a:ext cx="4224528" cy="123444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67665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89611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834640" y="129844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year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6093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search overhead  ·  40% recovered  ·  $120k loaded cost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736592" y="621792"/>
            <a:ext cx="422452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67665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828032" y="89611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$9.1M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388352" y="129844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year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28032" y="16093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search overhead  ·  60% recovered  ·  $150k loaded cost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82880" y="19385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GET THERE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82880" y="2176272"/>
            <a:ext cx="8778240" cy="2743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76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97480" y="2176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2176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46520" y="2176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" y="2450592"/>
            <a:ext cx="8778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97480" y="2450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0" y="2450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46520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 rollout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82880" y="2724912"/>
            <a:ext cx="8778240" cy="2743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724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overhead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697480" y="2724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(6 hrs)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0" y="2724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(8 hrs)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46520" y="2724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/ IDC knowledge worker data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82880" y="2999232"/>
            <a:ext cx="8778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999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recovered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697480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(2.4 hrs)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0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(4.8 hrs)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46520" y="2999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week, per engineer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82880" y="3273552"/>
            <a:ext cx="8778240" cy="2743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273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cost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69748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 / yr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 / yr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46520" y="3273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$62–$78 per hour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82880" y="3547872"/>
            <a:ext cx="8778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547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/ engineer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3547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$7,200 / yr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0" y="3547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$18,000 / yr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46520" y="3547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× hourly rate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82880" y="3822192"/>
            <a:ext cx="8778240" cy="274320"/>
          </a:xfrm>
          <a:prstGeom prst="rect">
            <a:avLst/>
          </a:prstGeom>
          <a:solidFill>
            <a:srgbClr val="00387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8221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(500 eng.)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$3.6M / yr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2000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$9.0M / yr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46520" y="38221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onboarding &amp; cost offset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82880" y="413308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82880" y="4133088"/>
            <a:ext cx="28346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2608" y="41788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Onboarding savings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920240" y="4160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+$200k / yr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92608" y="44256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new joiners · 40% faster ramp · 64 hrs saved each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154680" y="413308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154680" y="4133088"/>
            <a:ext cx="28346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64408" y="41788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 to run EKM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892040" y="4160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−$65k / yr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264408" y="44256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infrastructure · ~0.5 FTE maintenance only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126480" y="413308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126480" y="4133088"/>
            <a:ext cx="283464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36208" y="41788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Net ROI (conservative)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863840" y="4160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$3.74M / yr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236208" y="44256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$3.6M + $200k onboarding − $65k running cost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182880" y="4818888"/>
            <a:ext cx="8778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based on McKinsey &amp; IDC knowledge worker productivity benchmarks. Actual savings subject to adoption rate and baseline measurement.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EKM Executive Demo v7</dc:title>
  <dc:subject>PptxGenJS Presentation</dc:subject>
  <dc:creator>PptxGenJS</dc:creator>
  <cp:lastModifiedBy>PptxGenJS</cp:lastModifiedBy>
  <cp:revision>1</cp:revision>
  <dcterms:created xsi:type="dcterms:W3CDTF">2026-03-16T06:11:21Z</dcterms:created>
  <dcterms:modified xsi:type="dcterms:W3CDTF">2026-03-16T06:11:21Z</dcterms:modified>
</cp:coreProperties>
</file>