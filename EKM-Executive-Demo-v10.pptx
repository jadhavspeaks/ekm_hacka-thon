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8"/>
    <p:sldId id="268" r:id="rId19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20040" y="13258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search.
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your knowledge.
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cold start.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246888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search · intelligence analytics · community layer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Jira, Confluence, GitHub and SharePoint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3749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 ·  POC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0040" y="466344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Team  ·  Citi  ·  March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840480" y="64008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0" y="640080"/>
            <a:ext cx="23774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777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5,092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840480" y="13898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Indexed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46520" y="64008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640080"/>
            <a:ext cx="2377440" cy="64008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777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446520" y="13898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Live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0" y="205740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0" y="2057400"/>
            <a:ext cx="23774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21945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840480" y="28072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Modules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46520" y="205740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2057400"/>
            <a:ext cx="237744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21945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446520" y="28072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Use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49040" y="3977640"/>
            <a:ext cx="5212080" cy="29260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397764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 ·  Confluence  ·  GitHub  ·  SharePoint  ·  MongoDB  ·  FastAPI  ·  React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separate problems. One systemic knowledge gap.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658368"/>
            <a:ext cx="422452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658368"/>
            <a:ext cx="4224528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680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9784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4 tools. 1 question.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316736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context-switch across Jira, Confluence, GitHub and SharePoint for every single answer.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90872" y="658368"/>
            <a:ext cx="422452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90872" y="658368"/>
            <a:ext cx="422452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7680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28032" y="9784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Knowledge walks out.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1316736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departures silently erase years of context. No handover pack. No audit trail.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2724912"/>
            <a:ext cx="422452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724912"/>
            <a:ext cx="422452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34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30449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No single source of truth.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3832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tools return inconsistent, stale results with no unified relevance ranking.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90872" y="2724912"/>
            <a:ext cx="422452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90872" y="2724912"/>
            <a:ext cx="4224528" cy="54864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834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28032" y="30449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Right now, at Citi.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28032" y="33832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audits, repeated questions, and lost institutional knowledge compound daily.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46120" y="104241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46120" y="140817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week spent searching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708392" y="104241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708392" y="140817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handover trails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246120" y="31089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246120" y="3474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search effort daily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708392" y="31089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708392" y="3474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onboard a new engineer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engine. Four sources. Instant answers.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658368"/>
            <a:ext cx="2560320" cy="416052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822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ENGINE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83280" y="1234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BM25 Unified Search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0" y="18013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Intelligence Layer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0" y="236829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Community Layer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0" y="293522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Onboarding Paths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0" y="35021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Share Links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68580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685800"/>
            <a:ext cx="26517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79552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52928" y="1069848"/>
            <a:ext cx="43891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169164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1691640"/>
            <a:ext cx="2651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80136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852928" y="2075688"/>
            <a:ext cx="43891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269748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2697480"/>
            <a:ext cx="2651760" cy="5486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80720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852928" y="3081528"/>
            <a:ext cx="43891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370332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82880" y="3703320"/>
            <a:ext cx="265176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8130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852928" y="4087368"/>
            <a:ext cx="43891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685800"/>
            <a:ext cx="2926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685800"/>
            <a:ext cx="29260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7589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Search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101498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across all 4 sources simultaneously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852160" y="1069848"/>
            <a:ext cx="1828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35040" y="1691640"/>
            <a:ext cx="2926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1691640"/>
            <a:ext cx="292608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17647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72200" y="202082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analytical modules — gaps, risk, experts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852160" y="2075688"/>
            <a:ext cx="1828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2697480"/>
            <a:ext cx="2926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35040" y="2697480"/>
            <a:ext cx="292608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27706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Layer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72200" y="302666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Flags, smart annotations, leaderboard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852160" y="3081528"/>
            <a:ext cx="1828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3703320"/>
            <a:ext cx="2926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35040" y="3703320"/>
            <a:ext cx="29260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72200" y="37764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Paths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72200" y="403250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learning journeys per topic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852160" y="4087368"/>
            <a:ext cx="1828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91840" y="45537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 ·  FastAPI  ·  React  ·  Python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Live Today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features. Running on your infrastructure. Real data.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658368"/>
            <a:ext cx="28346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49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Unified Search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107899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full-text across Jira, Confluence, GitHub &amp; SharePoint simultaneously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54680" y="65836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658368"/>
            <a:ext cx="283464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749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Intelligence Hub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91840" y="107899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6-tab analytics: knowledge gaps, risk, experts &amp; more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26480" y="65836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658368"/>
            <a:ext cx="28346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749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 Community Flags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63640" y="107899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docs outdated, incorrect, useful or needing SME review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2880" y="207568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2075688"/>
            <a:ext cx="28346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1671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Onboarding Paths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040" y="24963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learning journeys — share with any new joiner instantly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154680" y="207568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075688"/>
            <a:ext cx="28346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1671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Risk &amp; Vendor Intel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91840" y="24963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NE vendor classification with knowledge concentration risk alerts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126480" y="207568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075688"/>
            <a:ext cx="283464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1671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Smart Annotations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63640" y="24963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notes, corrections &amp; suggestions with community upvotes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2880" y="349300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2880" y="3493008"/>
            <a:ext cx="2834640" cy="54864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5844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Leaderboard &amp; Digest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0040" y="391363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contributions with weekly knowledge digest and rankings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154680" y="349300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54680" y="3493008"/>
            <a:ext cx="28346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35844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Deep Links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91840" y="391363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/join/:topic URLs route directly to curated onboarding paths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126480" y="349300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3493008"/>
            <a:ext cx="283464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35844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People Search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263640" y="391363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finder and contributor profiles across all sources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5,092 raw documents to 6 actionable analytical views.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658368"/>
            <a:ext cx="28346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680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🕳️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768096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Gaps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225296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undocumented systems and topics your team searches but finds nothing 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54680" y="658368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658368"/>
            <a:ext cx="28346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7680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03320" y="768096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At Risk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225296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departure alerts — who owns critical topics and what happens when they leave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26480" y="658368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658368"/>
            <a:ext cx="28346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7680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75120" y="768096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Vendors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1225296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NE vendor classification with knowledge concentration and dependency alerts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82880" y="2688336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2688336"/>
            <a:ext cx="283464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798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1520" y="2798064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Tracker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3255264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structured SME knowledge transfer packs — shareable and audit-ready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154680" y="2688336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54680" y="2688336"/>
            <a:ext cx="28346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2798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703320" y="2798064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Search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91840" y="3255264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finder and contributor profiles built from real activity across all sources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26480" y="2688336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2688336"/>
            <a:ext cx="283464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2798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675120" y="2798064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63640" y="3255264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/join/:topic onboarding journeys for any new joiner, instantly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Layer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engineer makes the platform smarter for the next.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2834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658368"/>
            <a:ext cx="28346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498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Flags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207008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3444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— content no longer reflects reality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956816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842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— factual error identified by reviewer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706624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3405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Useful — high-value document, surface to others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3456432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48386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 — escalate to SME for attention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54680" y="658368"/>
            <a:ext cx="2834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54680" y="658368"/>
            <a:ext cx="283464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7498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Annotations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91840" y="1207008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123444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— add contextual insight directly on a doc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91840" y="1956816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19842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— propose improvements or missing content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91840" y="2706624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273405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— fix factual errors with upvote validation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91840" y="3456432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48386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types of community-added knowledge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26480" y="658368"/>
            <a:ext cx="2834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658368"/>
            <a:ext cx="28346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7498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 &amp; Leaderboard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63640" y="1207008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123444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— top contributors ranked by quality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63640" y="1956816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19842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Flagged — docs needing urgent attention surfaced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63640" y="2706624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273405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Useful — highest-rated docs promoted to new joiners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263640" y="3456432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348386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Digest — activity summary and highlights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CANVAS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0" y="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Management  —  EKM  ·  E3  ·  Citi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VERSION: 1.0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315200" y="5486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09728" y="804672"/>
            <a:ext cx="1719072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" y="804672"/>
            <a:ext cx="1719072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86868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82880" y="107899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P: Engineers run 4 separate searches per question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82880" y="146304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I: Knowledge exits silently with every SME departure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82880" y="184708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C: No unified source of truth across tools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82880" y="223113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U: Manual onboarding, manual audits — every time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874520" y="804672"/>
            <a:ext cx="171907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74520" y="804672"/>
            <a:ext cx="171907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47672" y="86868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947672" y="107899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BM25 unified search — 1 query, 4 sources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947672" y="146304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6-tab intelligence hub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947672" y="184708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Community flags &amp; smart annotations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947672" y="223113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Deep-link /join/:topic onboarding URLs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639312" y="804672"/>
            <a:ext cx="171907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39312" y="804672"/>
            <a:ext cx="1719072" cy="4572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12464" y="86868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VALUE PROP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3712464" y="107899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One search. All your knowledge.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712464" y="146304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Zero cold start.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712464" y="184708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5,092 docs · Day-1 ready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712464" y="223113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cold start problem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404104" y="804672"/>
            <a:ext cx="171907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04104" y="804672"/>
            <a:ext cx="1719072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77256" y="86868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 ADVANTAGE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5477256" y="107899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5,092 docs already indexed — Day 1 ready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477256" y="146304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Live SharePoint connector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477256" y="184708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Citi TECH NE vendor classifier built-in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477256" y="223113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Built by E3 — deep insider knowledge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7168896" y="804672"/>
            <a:ext cx="1865376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68896" y="804672"/>
            <a:ext cx="1865376" cy="4572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42048" y="868680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7242048" y="1078992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Engineering teams (primary users)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242048" y="146304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New joiners &amp; graduates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242048" y="184708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Project managers &amp; leads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242048" y="2231136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Compliance &amp; audit teams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874520" y="2770632"/>
            <a:ext cx="1719072" cy="2039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74520" y="2770632"/>
            <a:ext cx="1719072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47672" y="283464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ALTERNATIVES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1947672" y="304495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Native Jira / Confluence search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947672" y="342900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Manual wiki maintenance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947672" y="381304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Apache Answer (no Citi data)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947672" y="419709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SharePoint search (SP only)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639312" y="2770632"/>
            <a:ext cx="1719072" cy="2039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39312" y="2770632"/>
            <a:ext cx="171907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12464" y="283464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3712464" y="304495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Searches per week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712464" y="342900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Zero-result query rate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712464" y="381304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Community contributions/week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712464" y="419709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Time-to-first-answer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5404104" y="2770632"/>
            <a:ext cx="1719072" cy="2039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404104" y="2770632"/>
            <a:ext cx="1719072" cy="4572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77256" y="283464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5477256" y="304495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localhost:3000 (internal deploy)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477256" y="342900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/join/:topic shareable deep links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477256" y="381304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Microsoft Teams integration path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477256" y="419709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Direct onboarding share URLs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109728" y="4590288"/>
            <a:ext cx="4434840" cy="34747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2880" y="459943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182880" y="4754880"/>
            <a:ext cx="4206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(existing infra)  ·  Python · FastAPI · React (open source)  ·  Engineer time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599432" y="4590288"/>
            <a:ext cx="4434840" cy="34747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63440" y="459943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4663440" y="4754880"/>
            <a:ext cx="4206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productivity uplift  ·  POC pathway to enterprise platform rollout across Citi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search to synthesis — the next frontier for EKM.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21792"/>
            <a:ext cx="422452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21792"/>
            <a:ext cx="4224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36592" y="621792"/>
            <a:ext cx="4224528" cy="347472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621792"/>
            <a:ext cx="4224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  ·  EKM + AI ENGINE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1042416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0881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search. You read.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136245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manually scans 10+ results per query to piece together an answer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36592" y="1042416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36592" y="1042416"/>
            <a:ext cx="64008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0881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Ask. Get a synthesised answer.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136245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reads your 5,092 docs and returns a direct answer with citations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407408" y="1362456"/>
            <a:ext cx="32918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07408" y="1362456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2880" y="1993392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0391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lost between docs.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040" y="231343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ticket links to Confluence. Confluence links to GitHub. You follow each separately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36592" y="1993392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1993392"/>
            <a:ext cx="64008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0391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stitched automatically.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92040" y="231343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connects Jira tickets, Confluence pages and GitHub PRs into a unified response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407408" y="2313432"/>
            <a:ext cx="32918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07408" y="2313432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2880" y="2944368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9900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question, every onboard.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0040" y="326440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joiners ask the same questions. Knowledge stays in peoples heads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36592" y="2944368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36592" y="2944368"/>
            <a:ext cx="64008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9900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Zero-repeat onboarding.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92040" y="326440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joiner asks once. The AI answer is reusable and lives in EKM forever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407408" y="3264408"/>
            <a:ext cx="32918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07408" y="3264408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82880" y="3895344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9410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as the search engine.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0040" y="421538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engineers become bottlenecks because there is no synthesised answer layer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36592" y="3895344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36592" y="3895344"/>
            <a:ext cx="64008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9410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freed from bottlenecks.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92040" y="421538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questions answered instantly. SME time reserved for real decisions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407408" y="4215384"/>
            <a:ext cx="32918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07408" y="4215384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Architecture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engine integrates with EKM via Retrieval-Augmented Generation.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1600200" cy="141732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7132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" y="10972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" y="1389888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83080" y="1362456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5960" y="658368"/>
            <a:ext cx="1600200" cy="141732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65960" y="7132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65960" y="10972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Retrieval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65960" y="1389888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docs from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5,092 indexed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566160" y="1362456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658368"/>
            <a:ext cx="1600200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49040" y="7132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49040" y="10972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49040" y="1389888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chunks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metadata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349240" y="1362456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32120" y="658368"/>
            <a:ext cx="1600200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32120" y="7132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32120" y="10972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32120" y="1389888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(Anthropic)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132320" y="1362456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658368"/>
            <a:ext cx="1600200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15200" y="7132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315200" y="10972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0" y="1389888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+ source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2880" y="2331720"/>
            <a:ext cx="20574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2880" y="2331720"/>
            <a:ext cx="205740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4231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" y="274320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lexical search returns top-20 candidate chunks. Metadata filters by source, recency and community score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404872" y="2331720"/>
            <a:ext cx="20574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404872" y="2331720"/>
            <a:ext cx="20574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42032" y="24231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Assembly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542032" y="274320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chunks concatenated with doc metadata, community flags and expert annotations into structured prompt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26864" y="2331720"/>
            <a:ext cx="20574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26864" y="2331720"/>
            <a:ext cx="20574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64024" y="24231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64024" y="274320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generates a direct answer grounded strictly in retrieved context — no hallucination risk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848856" y="2331720"/>
            <a:ext cx="20574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48856" y="2331720"/>
            <a:ext cx="20574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86016" y="24231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Overlay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86016" y="274320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the response is linked back to its source document — Jira, Confluence, GitHub or SharePoint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Roadmap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 from search enhancement to autonomous knowledge maintenance.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658368"/>
            <a:ext cx="2057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658368"/>
            <a:ext cx="20574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74980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307592" y="804672"/>
            <a:ext cx="777240" cy="23774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07592" y="80467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301752" y="1207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Answers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" y="1572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· Natural language Q&amp;A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01752" y="1920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01752" y="2121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User query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01752" y="2395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5,092 indexed docs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01752" y="2670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Community flags + scores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01752" y="29900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01752" y="3191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Cited answer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01752" y="34655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Source links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01752" y="37398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Confidence level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56032" y="4462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 ·  BM25 retrieval  ·  FastAPI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2386584" y="658368"/>
            <a:ext cx="2057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386584" y="658368"/>
            <a:ext cx="205740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3744" y="74980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3529584" y="804672"/>
            <a:ext cx="777240" cy="23774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9584" y="80467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2523744" y="1207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Suggestions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23744" y="1572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· Proactive gap filling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23744" y="1920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23744" y="2121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Zero-result searches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23744" y="2395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Knowledge gap report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523744" y="2670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Stale doc alerts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523744" y="29900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23744" y="3191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Draft doc stubs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523744" y="34655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Suggested SME owners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523744" y="37398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Gap priority score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478024" y="4462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 ·  Intelligence layer  ·  Scheduled jobs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4608576" y="658368"/>
            <a:ext cx="2057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08576" y="658368"/>
            <a:ext cx="20574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45736" y="74980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5751576" y="804672"/>
            <a:ext cx="777240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1576" y="80467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4745736" y="1207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Summaries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45736" y="1572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· Living documentation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745736" y="1920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745736" y="2121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New Jira/GitHub commits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745736" y="2395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Confluence page changes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745736" y="2670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Community corrections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745736" y="29900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745736" y="3191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Auto-updated summaries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745736" y="34655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Change digest email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745736" y="37398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Version diff notes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700016" y="4462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 ·  Webhook triggers  ·  MongoDB change streams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6830568" y="658368"/>
            <a:ext cx="2057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830568" y="658368"/>
            <a:ext cx="2057400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67728" y="74980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57" name="Shape 55"/>
          <p:cNvSpPr/>
          <p:nvPr/>
        </p:nvSpPr>
        <p:spPr>
          <a:xfrm>
            <a:off x="7973568" y="804672"/>
            <a:ext cx="777240" cy="23774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73568" y="80467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6967728" y="1207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Maintenance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967728" y="1572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· Self-healing knowledge base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967728" y="1920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967728" y="2121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Flagged outdated docs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967728" y="2395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Cross-source conflicts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967728" y="2670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Audit schedules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967728" y="29900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6967728" y="3191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Auto-refresh proposals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967728" y="34655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Conflict resolution drafts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967728" y="37398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Audit-ready reports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922008" y="4462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 ·  Human-in-loop review  ·  Full EKM stack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Hackathon POC to production-ready platform.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5943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658368"/>
            <a:ext cx="59436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4980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68680" y="822960"/>
            <a:ext cx="658368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822960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627632" y="73152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Answers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627632" y="1042416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+ RAG pipeline — natural language answers synthesised from your 5,092 docs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" y="1664208"/>
            <a:ext cx="5943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1664208"/>
            <a:ext cx="594360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75564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68680" y="1828800"/>
            <a:ext cx="658368" cy="21945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1828800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627632" y="173736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Feedback Loop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627632" y="2048256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 up/down signals feed back into BM25 ranking — search improves with every query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82880" y="2670048"/>
            <a:ext cx="5943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2670048"/>
            <a:ext cx="59436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76148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68680" y="2834640"/>
            <a:ext cx="658368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2834640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627632" y="274320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Online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627632" y="3054096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O365 ADFS WS-Federation connector extends coverage to cloud SharePoint environments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82880" y="3675888"/>
            <a:ext cx="5943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82880" y="3675888"/>
            <a:ext cx="59436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76732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68680" y="3840480"/>
            <a:ext cx="658368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3840480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627632" y="374904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Pack PDF Export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627632" y="4059936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exportable SME handover documents — structured, shareable, audit-ready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309360" y="658368"/>
            <a:ext cx="2651760" cy="4005072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55080" y="914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355080" y="1463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55080" y="18745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5,092 documents.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data. Right now.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492240" y="263347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Jira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2240" y="29809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Confluence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92240" y="33284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GitHub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92240" y="36758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SharePoint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55080" y="4251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 ·  Citi  ·  Hackathon 2026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EKM delivers across time, knowledge, risk and cost.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28346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658368"/>
            <a:ext cx="28346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4980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 Savings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03120" y="73152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11680" y="1078992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engineering week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320040" y="111556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One search replaces 4 tool context switches per query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20040" y="157276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~4 hrs/week per engineer returned to productive work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20040" y="202996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At 500 engineers = 1 FTE equivalent recovered weekly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154680" y="658368"/>
            <a:ext cx="28346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658368"/>
            <a:ext cx="283464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74980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Knowledge Retention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74920" y="73152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83480" y="1078992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capture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knowledge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3291840" y="111556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SME departures no longer silently erase years of context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291840" y="157276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Handover packs auto-generated before anyone leaves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291840" y="202996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Experts at Risk alerts flag concentration risk proactively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126480" y="658368"/>
            <a:ext cx="28346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658368"/>
            <a:ext cx="28346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74980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Risk Reduction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46720" y="73152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955280" y="1078992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risk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6263640" y="111556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Vendor concentration risk surfaced automatically via TECH NE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263640" y="157276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Undocumented systems identified before they cause incidents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263640" y="202996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Audit trail exists — every document, flag and correction timestamped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82880" y="2743200"/>
            <a:ext cx="28346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2880" y="2743200"/>
            <a:ext cx="28346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8346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Operational Efficiency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103120" y="281635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60–70%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011680" y="316382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320040" y="320040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New joiners ramp in days, not weeks — one shareable link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20040" y="365760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Zero manual knowledge audits — Intelligence Layer auto-runs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20040" y="411480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Community self-correction keeps docs accurate without admin overhead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154680" y="2743200"/>
            <a:ext cx="28346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154680" y="2743200"/>
            <a:ext cx="283464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28346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Strategic Value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74920" y="281635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983480" y="316382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cost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3291840" y="320040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Scales without headcount — knowledge grows with contributions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291840" y="365760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Built on existing MongoDB infrastructure — near-zero marginal cost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291840" y="411480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POC pathway to enterprise rollout across all Citi engineering teams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126480" y="2743200"/>
            <a:ext cx="28346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26480" y="2743200"/>
            <a:ext cx="2834640" cy="54864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28346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Search Performance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046720" y="281635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955280" y="316382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time-to-answer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6263640" y="320040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40–75 min per query today → 3–6 min with EKM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263640" y="365760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3–5 queries per engineer per day — saving compounds daily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263640" y="411480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BM25 ranking improves further with every feedback signal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Enterprise-wide  ·  500 engineers  ·  $70k–$90k loaded cost  ·  Conservative to optimistic range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621792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 METRIC  —  TIME-TO-ANSWER PER QUERY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82880" y="832104"/>
            <a:ext cx="2834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832104"/>
            <a:ext cx="283464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868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92608" y="103327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40–75 min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2608" y="13898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tools · manual cross-referencing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017520" y="1115568"/>
            <a:ext cx="137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832104"/>
            <a:ext cx="2834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832104"/>
            <a:ext cx="283464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868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EKM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264408" y="103327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min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264408" y="13898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BM25 search · instant results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989320" y="1115568"/>
            <a:ext cx="137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832104"/>
            <a:ext cx="2834640" cy="804672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832104"/>
            <a:ext cx="283464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868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236208" y="103327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~88%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36208" y="13898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per knowledge query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82880" y="1719072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VALUE  —  500 ENGINEERS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82880" y="1938528"/>
            <a:ext cx="4224528" cy="96012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74320" y="19842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74320" y="2157984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$2.15M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3108960" y="2359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year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2743200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overhead · 40% recovered · $70k loaded · 50 joiners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736592" y="1938528"/>
            <a:ext cx="4224528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28032" y="19842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28032" y="2157984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$5.48M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7662672" y="2359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year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28032" y="2743200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overhead · 60% recovered · $90k loaded · 50 joiners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82880" y="2944368"/>
            <a:ext cx="8778240" cy="237744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294436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606040" y="294436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480560" y="294436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355080" y="294436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82880" y="3182112"/>
            <a:ext cx="8778240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3182112"/>
            <a:ext cx="22860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606040" y="3182112"/>
            <a:ext cx="18288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480560" y="3182112"/>
            <a:ext cx="18288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355080" y="3182112"/>
            <a:ext cx="26060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Enterprise-wide rollout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82880" y="3399739"/>
            <a:ext cx="8778240" cy="2148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3399739"/>
            <a:ext cx="22860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overhead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606040" y="3399739"/>
            <a:ext cx="18288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· 6 hrs/wk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480560" y="3399739"/>
            <a:ext cx="18288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· 8 hrs/wk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355080" y="3399739"/>
            <a:ext cx="26060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/ IDC benchmark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82880" y="3617366"/>
            <a:ext cx="8778240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3617366"/>
            <a:ext cx="22860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recovered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606040" y="3617366"/>
            <a:ext cx="18288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· 2.4 hrs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480560" y="3617366"/>
            <a:ext cx="18288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· 4.8 hrs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355080" y="3617366"/>
            <a:ext cx="26060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week, per engineer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82880" y="3834994"/>
            <a:ext cx="8778240" cy="2148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3834994"/>
            <a:ext cx="22860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cost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2606040" y="3834994"/>
            <a:ext cx="18288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$70k/yr · $36/hr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480560" y="3834994"/>
            <a:ext cx="18288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$90k/yr · $47/hr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355080" y="3834994"/>
            <a:ext cx="26060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loaded incl. benefits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182880" y="4052621"/>
            <a:ext cx="8778240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4052621"/>
            <a:ext cx="22860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/ engineer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2606040" y="4052621"/>
            <a:ext cx="18288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$4,198 / yr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480560" y="4052621"/>
            <a:ext cx="18288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$10,782 / yr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355080" y="4052621"/>
            <a:ext cx="26060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saved × hourly rate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182880" y="4270248"/>
            <a:ext cx="8778240" cy="2148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4270248"/>
            <a:ext cx="22860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savings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606040" y="4270248"/>
            <a:ext cx="18288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+$117k / yr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4480560" y="4270248"/>
            <a:ext cx="18288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+$150k / yr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355080" y="4270248"/>
            <a:ext cx="26060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joiners · 64 hrs saved each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182880" y="4487875"/>
            <a:ext cx="8778240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4320" y="4487875"/>
            <a:ext cx="22860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cost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2606040" y="4487875"/>
            <a:ext cx="18288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−$65k / yr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4480560" y="4487875"/>
            <a:ext cx="18288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−$65k / yr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6355080" y="4487875"/>
            <a:ext cx="26060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infra · 0.5 FTE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182880" y="4705502"/>
            <a:ext cx="8778240" cy="214884"/>
          </a:xfrm>
          <a:prstGeom prst="rect">
            <a:avLst/>
          </a:prstGeom>
          <a:solidFill>
            <a:srgbClr val="00387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4320" y="4705502"/>
            <a:ext cx="22860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ROI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2606040" y="4705502"/>
            <a:ext cx="18288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$2.15M / yr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4480560" y="4705502"/>
            <a:ext cx="18288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$5.48M / yr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6355080" y="4705502"/>
            <a:ext cx="26060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onboarding − cost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182880" y="4818888"/>
            <a:ext cx="87782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based on McKinsey &amp; IDC knowledge worker productivity benchmarks. TAT baseline to be formally measured at pilot launch.</a:t>
            </a:r>
            <a:endParaRPr lang="en-US" sz="600" dirty="0"/>
          </a:p>
        </p:txBody>
      </p:sp>
      <p:sp>
        <p:nvSpPr>
          <p:cNvPr id="81" name="Shape 7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EKM Executive Demo v7</dc:title>
  <dc:subject>PptxGenJS Presentation</dc:subject>
  <dc:creator>PptxGenJS</dc:creator>
  <cp:lastModifiedBy>PptxGenJS</cp:lastModifiedBy>
  <cp:revision>1</cp:revision>
  <dcterms:created xsi:type="dcterms:W3CDTF">2026-03-16T06:11:21Z</dcterms:created>
  <dcterms:modified xsi:type="dcterms:W3CDTF">2026-03-16T06:11:21Z</dcterms:modified>
</cp:coreProperties>
</file>