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  <p:sldId id="268" r:id="rId19"/>
    <p:sldId id="269" r:id="rId20"/>
    <p:sldId id="270" r:id="rId21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knowledge.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cold start.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4688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 · intelligence analytics · community layer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Jira, Confluence, GitHub and SharePoint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3749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·  POC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46634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Team  ·  Citi  ·  March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840480" y="64008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0" y="640080"/>
            <a:ext cx="23774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777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40480" y="1389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Indexed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64008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640080"/>
            <a:ext cx="2377440" cy="6400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777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46520" y="1389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Live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20574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2057400"/>
            <a:ext cx="23774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194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840480" y="2807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Modules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0574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2057400"/>
            <a:ext cx="23774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194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446520" y="2807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49040" y="3977640"/>
            <a:ext cx="521208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9776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Confluence  ·  GitHub  ·  SharePoint  ·  MongoDB  ·  FastAPI  ·  React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separate problems. One systemic knowledge gap.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658368"/>
            <a:ext cx="4224528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680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9784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4 tools. 1 question.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316736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context-switch across Jira, Confluence, GitHub and SharePoint for every single answer.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90872" y="658368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658368"/>
            <a:ext cx="422452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7680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28032" y="9784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Knowledge walks out.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316736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departures silently erase years of context. No handover pack. No audit trail.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724912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724912"/>
            <a:ext cx="422452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044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No single source of truth.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383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tools return inconsistent, stale results with no unified relevance ranking.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90872" y="2724912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2724912"/>
            <a:ext cx="4224528" cy="5486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28032" y="3044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Right now, at Citi.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3383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audits, repeated questions, and lost institutional knowledge compound daily.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46120" y="10424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46120" y="14081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week spent searching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708392" y="10424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08392" y="14081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handover trails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246120" y="3108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246120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search effort daily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708392" y="3108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708392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 a new engineer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engine. Four sources. Instant answers.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658368"/>
            <a:ext cx="2560320" cy="41605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822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ENGINE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BM25 Unified Search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Intelligence Layer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23682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Community 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29352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Onboarding Paths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35021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Share Links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6858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68580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7955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52928" y="106984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169164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169164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8013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52928" y="207568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269748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697480"/>
            <a:ext cx="2651760" cy="548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072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52928" y="308152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70332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703320"/>
            <a:ext cx="265176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8130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52928" y="408736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68580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685800"/>
            <a:ext cx="29260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758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10149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across all 4 sources simultaneously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52160" y="106984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169164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691640"/>
            <a:ext cx="292608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764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202082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analytical modules — gaps, risk, experts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52160" y="207568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269748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2697480"/>
            <a:ext cx="29260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770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Layer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72200" y="30266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Flags, smart annotations, leaderboard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852160" y="308152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370332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3703320"/>
            <a:ext cx="29260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3776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Paths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72200" y="40325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learning journeys per topic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852160" y="408736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4553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·  FastAPI  ·  React  ·  Python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Live Today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features. Running on your infrastructure. Real data.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Unified 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full-text across Jira, Confluence, GitHub &amp; SharePoint simultaneously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Intelligence Hub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918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 analytics: knowledge gaps, risk, experts &amp; more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Community Flags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36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docs outdated, incorrect, useful or needing SME review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07568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Onboarding Paths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learning journeys — share with any new joiner instantly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546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07568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 &amp; Vendor Intel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NE vendor classification with knowledge concentration risk alerts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264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075688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Smart Annotations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notes, corrections &amp; suggestions with community upvotes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3493008"/>
            <a:ext cx="2834640" cy="5486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Leaderboard &amp; Digest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contributions with weekly knowledge digest and rankings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546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54680" y="349300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Deep Links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918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/join/:topic URLs route directly to curated onboarding paths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264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349300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People Search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636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finder and contributor profiles across all sources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5,092 raw documents to 6 actionable analytical views.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undocumented systems and topics your team searches but finds nothing 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At 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departure alerts — who owns critical topics and what happens when they leave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Vendors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NE vendor classification with knowledge concentration and dependency alerts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688336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Tracker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SME knowledge transfer packs — shareable and audit-ready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546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2688336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033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Search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finder and contributor profiles built from real activity across all sources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688336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751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/join/:topic onboarding journeys for any new joiner, instantly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Layer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 makes the platform smarter for the next.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Flags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— content no longer reflects reality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— factual error identified by reviewer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Useful — high-value document, surface to others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 — escalate to SME for attention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Annotations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— add contextual insight directly on a doc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— propose improvements or missing content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— fix factual errors with upvote validation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of community-added knowledge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&amp; Leaderboard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— top contributors ranked by quality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636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Flagged — docs needing urgent attention surfaced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Useful — highest-rated docs promoted to new joiners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636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 — activity summary and highlights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CANVAS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Management  —  EKM  ·  E3  ·  Citi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1.0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5200" y="5486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9728" y="804672"/>
            <a:ext cx="171907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804672"/>
            <a:ext cx="1719072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82880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P: Engineers run 4 separate searches per question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2880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I: Knowledge exits silently with every SME departure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880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C: No unified source of truth across tools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2880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U: Manual onboarding, manual audits — every time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74520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520" y="804672"/>
            <a:ext cx="171907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947672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BM25 unified search — 1 query, 4 sources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947672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6-tab intelligence hub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47672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flags &amp; smart annotations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947672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Deep-link /join/:topic onboarding URLs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39312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39312" y="804672"/>
            <a:ext cx="1719072" cy="457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PROP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712464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One search. All your knowledge.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712464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 cold start.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712464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docs · Day-1 ready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12464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cold start problem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404104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04104" y="804672"/>
            <a:ext cx="171907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ADVANTAGE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477256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docs already indexed — Day 1 ready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77256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SharePoint connector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77256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Citi TECH NE vendor classifier built-in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77256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Built by E3 — deep insider knowledge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168896" y="804672"/>
            <a:ext cx="1865376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8896" y="804672"/>
            <a:ext cx="1865376" cy="457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868680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7242048" y="107899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Engineering teams (primary users)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242048" y="14630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New joiners &amp; graduates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242048" y="184708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Project managers &amp; leads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242048" y="223113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Compliance &amp; audit teams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874520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74520" y="2770632"/>
            <a:ext cx="1719072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47672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ALTERNATIVES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947672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Native Jira / Confluence search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947672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Manual wiki maintenance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947672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Apache Answer (no Citi data)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947672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SharePoint search (SP only)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39312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39312" y="2770632"/>
            <a:ext cx="171907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12464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712464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Searches per week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12464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Zero-result query rate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712464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contributions/week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712464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Time-to-first-answer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404104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04104" y="2770632"/>
            <a:ext cx="1719072" cy="457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77256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477256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localhost:3000 (internal deploy)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477256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/join/:topic shareable deep links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477256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Microsoft Teams integration path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477256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Direct onboarding share URLs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09728" y="4590288"/>
            <a:ext cx="443484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" y="45994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82880" y="4754880"/>
            <a:ext cx="4206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(existing infra)  ·  Python · FastAPI · React (open source)  ·  Engineer time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599432" y="4590288"/>
            <a:ext cx="443484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63440" y="459943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663440" y="4754880"/>
            <a:ext cx="4206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productivity uplift  ·  POC pathway to enterprise platform rollout across Citi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search to synthesis — the next frontier for EKM.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21792"/>
            <a:ext cx="422452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21792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36592" y="621792"/>
            <a:ext cx="4224528" cy="34747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621792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 ·  EKM + AI ENGINE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042416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88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search. You read.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136245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manually scans 10+ results per query to piece together an answer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36592" y="1042416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042416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88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Ask. Get a synthesised answer.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136245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reads your 5,092 docs and returns a direct answer with citations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07408" y="1362456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36245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1993392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039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lost between docs.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2313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 links to Confluence. Confluence links to GitHub. You follow each separately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36592" y="1993392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993392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39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stitched automatically.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2313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connects Jira tickets, Confluence pages and GitHub PRs into a unified response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07408" y="2313432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231343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2944368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990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every onboard.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32644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ask the same questions. Knowledge stays in peoples heads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36592" y="2944368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2944368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990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Zero-repeat onboarding.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32644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 asks once. The AI answer is reusable and lives in EKM forever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07408" y="3264408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326440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" y="3895344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941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as the search engine.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42153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become bottlenecks because there is no synthesised answer layer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36592" y="3895344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36592" y="3895344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941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freed from bottlenecks.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42153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questions answered instantly. SME time reserved for real decisions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407408" y="4215384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07408" y="421538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engine integrates with EKM via Retrieval-Augmented Generation.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600200" cy="14173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8308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658368"/>
            <a:ext cx="1600200" cy="14173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6596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Retrieval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docs from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 indexed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56616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658368"/>
            <a:ext cx="160020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chunks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4924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658368"/>
            <a:ext cx="160020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3212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(Anthropic)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3232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658368"/>
            <a:ext cx="1600200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1520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source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331720"/>
            <a:ext cx="20574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lexical search returns top-20 candidate chunks. Metadata filters by source, recency and community score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04872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04872" y="2331720"/>
            <a:ext cx="20574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42032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chunks concatenated with doc metadata, community flags and expert annotations into structured prompt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26864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26864" y="2331720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64024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64024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generates a direct answer grounded strictly in retrieved context — no hallucination risk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48856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48856" y="2331720"/>
            <a:ext cx="20574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86016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Overlay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86016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response is linked back to its source document — Jira, Confluence, GitHub or SharePoint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Roadmap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from search enhancement to autonomous knowledge maintenance.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658368"/>
            <a:ext cx="20574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07592" y="804672"/>
            <a:ext cx="777240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01752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Answers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Natural language Q&amp;A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1752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1752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User query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1752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indexed docs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01752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flags + scores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1752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01752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Cited answer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1752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Source links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1752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Confidence level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6032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BM25 retrieval  ·  FastAPI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386584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386584" y="658368"/>
            <a:ext cx="20574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529584" y="804672"/>
            <a:ext cx="777240" cy="23774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2523744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23744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Proactive gap filling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23744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23744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Zero-result searches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23744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Knowledge gap report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523744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Stale doc alerts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523744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23744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Draft doc stubs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523744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Suggested SME owners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523744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Gap priority score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78024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Intelligence layer  ·  Scheduled jobs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608576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08576" y="658368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45736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5751576" y="804672"/>
            <a:ext cx="7772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1576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745736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Summaries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45736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Living documentation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45736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45736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New Jira/GitHub commits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745736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Confluence page changes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745736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corrections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745736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45736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Auto-updated summaries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745736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Change digest email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745736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Version diff notes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700016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Webhook triggers  ·  MongoDB change streams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830568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830568" y="658368"/>
            <a:ext cx="205740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67728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7973568" y="804672"/>
            <a:ext cx="777240" cy="2377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73568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967728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Maintenance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67728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· Self-healing knowledge base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967728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967728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Flagged outdated docs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967728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Cross-source conflicts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967728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Audit schedules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67728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967728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Auto-refresh proposals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967728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Conflict resolution drafts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967728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Audit-ready reports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922008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Human-in-loop review  ·  Full EKM stack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POC to production-ready platform.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59436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822960"/>
            <a:ext cx="65836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82296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627632" y="7315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Answers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27632" y="104241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+ RAG pipeline — natural language answers synthesised from your 5,092 docs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166420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664208"/>
            <a:ext cx="59436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75564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68680" y="1828800"/>
            <a:ext cx="658368" cy="21945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182880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627632" y="17373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Feedback Loop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627632" y="204825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up/down signals feed back into BM25 ranking — search improves with every query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267004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670048"/>
            <a:ext cx="5943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6148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68680" y="2834640"/>
            <a:ext cx="658368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283464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627632" y="27432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27632" y="305409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O365 ADFS WS-Federation connector extends coverage to cloud SharePoint environments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367588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675888"/>
            <a:ext cx="5943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76732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68680" y="3840480"/>
            <a:ext cx="658368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84048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627632" y="37490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Pack PDF Export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627632" y="405993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exportable SME handover documents — structured, shareable, audit-ready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9360" y="658368"/>
            <a:ext cx="2651760" cy="400507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55080" y="914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35508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1874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 documents.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data. Right now.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92240" y="26334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Jira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29809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Confluence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33284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36758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SharePoint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4251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 ·  Citi  ·  Hackathon 2026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EKM delivers across time, knowledge, risk and cost.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Savings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03120" y="7315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107899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engineering week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20040" y="11155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One search replaces 4 tool context switches per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0040" y="15727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~4 hrs/week per engineer returned to productive work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" y="20299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At 500 engineers = 1 FTE equivalent recovered weekly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154680" y="658368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7498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Knowledge Retention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4920" y="7315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107899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capture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knowledge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291840" y="11155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SME departures no longer silently erase years of context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91840" y="15727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Handover packs auto-generated before anyone leaves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91840" y="20299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Experts at Risk alerts flag concentration risk proactively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26480" y="658368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7498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 Reduction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46720" y="7315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55280" y="107899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263640" y="11155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Vendor concentration risk surfaced automatically via TECH NE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263640" y="15727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Undocumented systems identified before they cause incidents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263640" y="20299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Audit trail exists — every document, flag and correction timestamped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82880" y="2743200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743200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8346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Operational Efficiency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103120" y="28163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011680" y="316382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20040" y="32004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New joiners ramp in days, not weeks — one shareable link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20040" y="36576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Zero manual knowledge audits — Intelligence Layer auto-runs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20040" y="41148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Community self-correction keeps docs accurate without admin overhead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154680" y="2743200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54680" y="2743200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28346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Strategic Value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74920" y="28163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83480" y="316382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291840" y="32004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Scales without headcount — knowledge grows with contributions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291840" y="36576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Built on existing MongoDB infrastructure — near-zero marginal cost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91840" y="41148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POC pathway to enterprise rollout across all Citi engineering teams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26480" y="2743200"/>
            <a:ext cx="283464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26480" y="2743200"/>
            <a:ext cx="2834640" cy="5486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8346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Performance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046720" y="28163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955280" y="316382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time-to-answer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263640" y="32004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40–75 min per query today → 3–6 min with EKM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263640" y="36576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3–5 queries per engineer per day — saving compounds daily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263640" y="41148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BM25 ranking improves further with every feedback signal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 ·  500 engineers  ·  $70k–$90k loaded cost  ·  Conservative to optimistic range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621792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METRIC  —  TIME-TO-ANSWER PER QUERY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82880" y="832104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32104"/>
            <a:ext cx="28346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868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92608" y="10332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40–75 min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2608" y="13898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tools · manual cross-referencing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17520" y="1115568"/>
            <a:ext cx="137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832104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832104"/>
            <a:ext cx="28346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868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EKM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64408" y="10332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min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64408" y="13898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BM25 search · instant results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89320" y="1115568"/>
            <a:ext cx="137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832104"/>
            <a:ext cx="2834640" cy="80467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832104"/>
            <a:ext cx="28346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868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36208" y="10332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36208" y="13898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per knowledge query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82880" y="1719072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  —  500 ENGINEERS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82880" y="1938528"/>
            <a:ext cx="4224528" cy="9601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1984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4320" y="215798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$2.15M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3108960" y="2359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year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2743200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overhead · 40% recovered · $70k loaded · 50 joiners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736592" y="1938528"/>
            <a:ext cx="422452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28032" y="1984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28032" y="215798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$5.48M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7662672" y="23591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year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2743200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overhead · 60% recovered · $90k loaded · 50 joiners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82880" y="2944368"/>
            <a:ext cx="8778240" cy="23774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9443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606040" y="29443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480560" y="29443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55080" y="294436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82880" y="3182112"/>
            <a:ext cx="877824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182112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606040" y="3182112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480560" y="3182112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355080" y="3182112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rollout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82880" y="3399739"/>
            <a:ext cx="8778240" cy="2148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399739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overhead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606040" y="3399739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· 6 hrs/wk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480560" y="3399739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· 8 hrs/wk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355080" y="3399739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/ IDC benchmark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82880" y="3617366"/>
            <a:ext cx="877824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617366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recovered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606040" y="3617366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· 2.4 hrs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480560" y="3617366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· 4.8 hrs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355080" y="3617366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week, per engineer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82880" y="3834994"/>
            <a:ext cx="8778240" cy="2148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834994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cost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606040" y="3834994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$70k/yr · $36/hr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480560" y="3834994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$90k/yr · $47/hr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55080" y="3834994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loaded incl. benefits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82880" y="4052621"/>
            <a:ext cx="877824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052621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engineer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606040" y="4052621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$4,198 / yr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480560" y="4052621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$10,782 / yr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355080" y="4052621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× hourly rate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82880" y="4270248"/>
            <a:ext cx="8778240" cy="21488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270248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savings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606040" y="4270248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+$117k / yr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480560" y="4270248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+$150k / yr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355080" y="4270248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joiners · 64 hrs saved each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82880" y="4487875"/>
            <a:ext cx="8778240" cy="2148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487875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2606040" y="4487875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−$65k / yr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480560" y="4487875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−$65k / yr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355080" y="4487875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infra · 0.5 FTE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82880" y="4705502"/>
            <a:ext cx="8778240" cy="214884"/>
          </a:xfrm>
          <a:prstGeom prst="rect">
            <a:avLst/>
          </a:prstGeom>
          <a:solidFill>
            <a:srgbClr val="00387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4705502"/>
            <a:ext cx="22860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ROI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2606040" y="4705502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$2.15M / yr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480560" y="4705502"/>
            <a:ext cx="18288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$5.48M / yr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355080" y="4705502"/>
            <a:ext cx="26060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onboarding − cost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82880" y="4818888"/>
            <a:ext cx="8778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based on McKinsey &amp; IDC knowledge worker productivity benchmarks. TAT baseline to be formally measured at pilot launch.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Enhancement: AI-Powered EKM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Large Language Models with EKM for Next-Gen Intelligence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13232"/>
            <a:ext cx="1600200" cy="749808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" y="8046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4592" y="11155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(Natural Language)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764792" y="1088136"/>
            <a:ext cx="30175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4248" y="978408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01952" y="713232"/>
            <a:ext cx="160020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01952" y="8046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01952" y="11155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 + Routing)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502152" y="1088136"/>
            <a:ext cx="30175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978408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39312" y="713232"/>
            <a:ext cx="1600200" cy="74980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39312" y="8046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Platform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39312" y="11155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(Index + Search)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239512" y="1088136"/>
            <a:ext cx="30175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8968" y="978408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76672" y="713232"/>
            <a:ext cx="16002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76672" y="8046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76672" y="11155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 + Summarize)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76872" y="1088136"/>
            <a:ext cx="30175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96328" y="978408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14032" y="713232"/>
            <a:ext cx="150876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14032" y="85039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9412" y="1380744"/>
            <a:ext cx="0" cy="22860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61688" y="142646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234440" y="1609344"/>
            <a:ext cx="1298448" cy="32004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234440" y="160934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06040" y="1609344"/>
            <a:ext cx="1298448" cy="32004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06040" y="160934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977640" y="1609344"/>
            <a:ext cx="1298448" cy="32004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977640" y="160934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49240" y="1609344"/>
            <a:ext cx="1298448" cy="32004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349240" y="160934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720840" y="1609344"/>
            <a:ext cx="1298448" cy="32004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720840" y="160934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82880" y="206654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CAPABILITIES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82880" y="2286000"/>
            <a:ext cx="2286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" y="237744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82880" y="2377440"/>
            <a:ext cx="20574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" y="2487168"/>
            <a:ext cx="658368" cy="6583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7824" y="2487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292608" y="3200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Search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92608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natural language; get synthesised answers from all knowledge sources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404872" y="237744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404872" y="2377440"/>
            <a:ext cx="20574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99816" y="2487168"/>
            <a:ext cx="658368" cy="658368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99816" y="2487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2514600" y="3200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Auto-Summarisation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51460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summarise long Jira threads, Confluence pages and GitHub PRs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26864" y="237744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26864" y="2377440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21808" y="2487168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21808" y="2487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4736592" y="3200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Understanding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736592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intent and context; find related docs even without exact keyword matches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848856" y="2377440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848856" y="2377440"/>
            <a:ext cx="20574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43800" y="2487168"/>
            <a:ext cx="658368" cy="6583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43800" y="2487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6958584" y="3200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Assistant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958584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recommendations; auto-tag and categorise; generate documentation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82880" y="4315968"/>
            <a:ext cx="8778240" cy="420624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82880" y="4315968"/>
            <a:ext cx="54864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431596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325880" y="431596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EKM Platform  +  AI API (Auth, Routing, SSO)  +  LLM Engine  +  Guardrails (PII filtering, Hallucination detection)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KnowMads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25603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4708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Nomads.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map so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gets lost.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743200"/>
            <a:ext cx="137160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7432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Team  ·  Citi  ·  March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520440" y="2286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520440" y="621792"/>
            <a:ext cx="539496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749808"/>
            <a:ext cx="263347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0440" y="749808"/>
            <a:ext cx="263347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5032" y="914400"/>
            <a:ext cx="658368" cy="6583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914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53128" y="91440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53128" y="122529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 / Title]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85032" y="1645920"/>
            <a:ext cx="2304288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6459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[Contribution area]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309360" y="749808"/>
            <a:ext cx="263347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749808"/>
            <a:ext cx="2633472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3952" y="914400"/>
            <a:ext cx="658368" cy="658368"/>
          </a:xfrm>
          <a:prstGeom prst="ellipse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9144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42048" y="91440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42048" y="122529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 / Title]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73952" y="1645920"/>
            <a:ext cx="2304288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6459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[Contribution area]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520440" y="2167128"/>
            <a:ext cx="263347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20440" y="2167128"/>
            <a:ext cx="263347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85032" y="2331720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85032" y="2331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453128" y="233172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53128" y="264261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 / Title]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85032" y="3063240"/>
            <a:ext cx="2304288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30632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[Contribution area]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309360" y="2167128"/>
            <a:ext cx="263347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2167128"/>
            <a:ext cx="263347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73952" y="2331720"/>
            <a:ext cx="658368" cy="6583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2331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242048" y="233172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242048" y="264261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 / Title]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73952" y="3063240"/>
            <a:ext cx="2304288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30632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[Contribution area]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520440" y="3584448"/>
            <a:ext cx="263347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520440" y="3584448"/>
            <a:ext cx="263347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85032" y="3749040"/>
            <a:ext cx="658368" cy="6583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85032" y="37490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4453128" y="374904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453128" y="405993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 / Title]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85032" y="4480560"/>
            <a:ext cx="2304288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0" y="4480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[Contribution area]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309360" y="3584448"/>
            <a:ext cx="263347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309360" y="3584448"/>
            <a:ext cx="2633472" cy="5486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73952" y="3749040"/>
            <a:ext cx="658368" cy="658368"/>
          </a:xfrm>
          <a:prstGeom prst="ellipse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73952" y="37490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242048" y="374904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242048" y="405993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 / Title]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473952" y="4480560"/>
            <a:ext cx="2304288" cy="25603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37960" y="4480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[Contribution area]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EKM Executive Demo v7</dc:title>
  <dc:subject>PptxGenJS Presentation</dc:subject>
  <dc:creator>PptxGenJS</dc:creator>
  <cp:lastModifiedBy>PptxGenJS</cp:lastModifiedBy>
  <cp:revision>1</cp:revision>
  <dcterms:created xsi:type="dcterms:W3CDTF">2026-03-16T06:11:21Z</dcterms:created>
  <dcterms:modified xsi:type="dcterms:W3CDTF">2026-03-16T06:11:21Z</dcterms:modified>
</cp:coreProperties>
</file>