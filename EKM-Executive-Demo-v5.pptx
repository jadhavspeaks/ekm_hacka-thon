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9616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9616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1408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21408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99616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21408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9616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1408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99616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1408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99616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21408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0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7824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99616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21408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99616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21408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0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824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99616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21408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0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0128" y="0"/>
            <a:ext cx="502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47548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EKM</a:t>
            </a:r>
            <a:endParaRPr lang="en-US" sz="8000" dirty="0"/>
          </a:p>
        </p:txBody>
      </p:sp>
      <p:sp>
        <p:nvSpPr>
          <p:cNvPr id="65" name="Shape 63"/>
          <p:cNvSpPr/>
          <p:nvPr/>
        </p:nvSpPr>
        <p:spPr>
          <a:xfrm>
            <a:off x="256032" y="1828800"/>
            <a:ext cx="2377440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Enterprise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256032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Knowledge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256032" y="2615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Management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256032" y="2944368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HACKATHON  ·  POC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56032" y="4773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E3 Team  ·  Citi  ·  March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703320" y="5029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874"/>
                </a:solidFill>
              </a:rPr>
              <a:t>One search.</a:t>
            </a:r>
            <a:endParaRPr lang="en-US" sz="3800" dirty="0"/>
          </a:p>
        </p:txBody>
      </p:sp>
      <p:sp>
        <p:nvSpPr>
          <p:cNvPr id="73" name="Text 71"/>
          <p:cNvSpPr/>
          <p:nvPr/>
        </p:nvSpPr>
        <p:spPr>
          <a:xfrm>
            <a:off x="3703320" y="111556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874"/>
                </a:solidFill>
              </a:rPr>
              <a:t>All your knowledge.</a:t>
            </a:r>
            <a:endParaRPr lang="en-US" sz="3800" dirty="0"/>
          </a:p>
        </p:txBody>
      </p:sp>
      <p:sp>
        <p:nvSpPr>
          <p:cNvPr id="74" name="Text 72"/>
          <p:cNvSpPr/>
          <p:nvPr/>
        </p:nvSpPr>
        <p:spPr>
          <a:xfrm>
            <a:off x="3703320" y="17373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91B2"/>
                </a:solidFill>
              </a:rPr>
              <a:t>Zero cold start.</a:t>
            </a:r>
            <a:endParaRPr lang="en-US" sz="3800" dirty="0"/>
          </a:p>
        </p:txBody>
      </p:sp>
      <p:sp>
        <p:nvSpPr>
          <p:cNvPr id="75" name="Text 73"/>
          <p:cNvSpPr/>
          <p:nvPr/>
        </p:nvSpPr>
        <p:spPr>
          <a:xfrm>
            <a:off x="3703320" y="2487168"/>
            <a:ext cx="5257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Unified search · intelligence analytics · community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across Jira, Confluence, GitHub and SharePoint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703320" y="3072384"/>
            <a:ext cx="525780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03320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703320" y="3163824"/>
            <a:ext cx="1225296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03320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</a:rPr>
              <a:t>5,092</a:t>
            </a:r>
            <a:endParaRPr lang="en-US" sz="3000" dirty="0"/>
          </a:p>
        </p:txBody>
      </p:sp>
      <p:sp>
        <p:nvSpPr>
          <p:cNvPr id="80" name="Text 78"/>
          <p:cNvSpPr/>
          <p:nvPr/>
        </p:nvSpPr>
        <p:spPr>
          <a:xfrm>
            <a:off x="3703320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Docs Indexed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020056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020056" y="3163824"/>
            <a:ext cx="1225296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0056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4</a:t>
            </a:r>
            <a:endParaRPr lang="en-US" sz="3000" dirty="0"/>
          </a:p>
        </p:txBody>
      </p:sp>
      <p:sp>
        <p:nvSpPr>
          <p:cNvPr id="84" name="Text 82"/>
          <p:cNvSpPr/>
          <p:nvPr/>
        </p:nvSpPr>
        <p:spPr>
          <a:xfrm>
            <a:off x="5020056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Sources Live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336792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336792" y="3163824"/>
            <a:ext cx="1225296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36792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10</a:t>
            </a:r>
            <a:endParaRPr lang="en-US" sz="3000" dirty="0"/>
          </a:p>
        </p:txBody>
      </p:sp>
      <p:sp>
        <p:nvSpPr>
          <p:cNvPr id="88" name="Text 86"/>
          <p:cNvSpPr/>
          <p:nvPr/>
        </p:nvSpPr>
        <p:spPr>
          <a:xfrm>
            <a:off x="6336792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Intel Modules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653528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653528" y="3163824"/>
            <a:ext cx="1225296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53528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Day 1</a:t>
            </a:r>
            <a:endParaRPr lang="en-US" sz="3000" dirty="0"/>
          </a:p>
        </p:txBody>
      </p:sp>
      <p:sp>
        <p:nvSpPr>
          <p:cNvPr id="92" name="Text 90"/>
          <p:cNvSpPr/>
          <p:nvPr/>
        </p:nvSpPr>
        <p:spPr>
          <a:xfrm>
            <a:off x="7653528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Ready to Use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703320" y="4261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Jira  ·  Confluence  ·  GitHub  ·  SharePoint  ·  MongoDB  ·  FastAPI  ·  React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The Challenge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Four separate problems. One systemic knowledge gap.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0" y="749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</a:rPr>
              <a:t>P  ·  I  ·  C  ·  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35424" y="822960"/>
            <a:ext cx="34747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98064"/>
            <a:ext cx="8595360" cy="3474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2296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822960"/>
            <a:ext cx="4224528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102412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" y="1139342"/>
            <a:ext cx="281635" cy="28163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78992" y="1152144"/>
            <a:ext cx="726034" cy="1920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1152144"/>
            <a:ext cx="7260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108960" y="932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~20%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2651760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of the week spent searching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5488" y="144475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4 tools. 1 question.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5488" y="175564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181051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Engineers context-switch across Jira, Confluence, GitHub and SharePoint for every single answer.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90288" y="82296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90288" y="822960"/>
            <a:ext cx="4224528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18304" y="102412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1139342"/>
            <a:ext cx="281635" cy="28163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394960" y="1152144"/>
            <a:ext cx="651053" cy="192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1152144"/>
            <a:ext cx="65105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IMPACT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7424928" y="932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6967728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documented handover trails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791456" y="144475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Knowledge walks out.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4791456" y="175564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91456" y="181051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SME departures silently erase years of context. No handover pack. No audit trail.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274320" y="283464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274320" y="2834640"/>
            <a:ext cx="4224528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02336" y="303580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" y="3151022"/>
            <a:ext cx="281635" cy="28163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1078992" y="3163824"/>
            <a:ext cx="640080" cy="1920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078992" y="3163824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CAUSE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3108960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4×</a:t>
            </a:r>
            <a:endParaRPr lang="en-US" sz="2600" dirty="0"/>
          </a:p>
        </p:txBody>
      </p:sp>
      <p:sp>
        <p:nvSpPr>
          <p:cNvPr id="41" name="Text 36"/>
          <p:cNvSpPr/>
          <p:nvPr/>
        </p:nvSpPr>
        <p:spPr>
          <a:xfrm>
            <a:off x="265176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duplicate search effort daily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475488" y="345643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No single source of truth.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475488" y="376732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75488" y="382219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Siloed tools return inconsistent, stale results with no unified relevance ranking.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590288" y="283464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4590288" y="2834640"/>
            <a:ext cx="4224528" cy="38405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718304" y="303580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518" y="3151022"/>
            <a:ext cx="281635" cy="281635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5394960" y="3163824"/>
            <a:ext cx="726034" cy="19202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394960" y="3163824"/>
            <a:ext cx="7260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URGENCY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7424928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3874"/>
                </a:solidFill>
              </a:rPr>
              <a:t>Weeks</a:t>
            </a:r>
            <a:endParaRPr lang="en-US" sz="2600" dirty="0"/>
          </a:p>
        </p:txBody>
      </p:sp>
      <p:sp>
        <p:nvSpPr>
          <p:cNvPr id="52" name="Text 46"/>
          <p:cNvSpPr/>
          <p:nvPr/>
        </p:nvSpPr>
        <p:spPr>
          <a:xfrm>
            <a:off x="6967728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to onboard a new engineer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4791456" y="345643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Right now, at Citi.</a:t>
            </a: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4791456" y="376732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4791456" y="382219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Manual audits, repeated questions, and lost institutional knowledge compound daily.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What We Built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One engine. Four sources. Instant answers.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950976"/>
            <a:ext cx="1828800" cy="65836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2471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Jira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084832" y="1261872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0" y="1207008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40864" y="1207008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40864" y="1307592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" y="1828800"/>
            <a:ext cx="18288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002536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Confluence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2084832" y="2139696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377440" y="2084832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40864" y="2084832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340864" y="2185416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56032" y="2706624"/>
            <a:ext cx="1828800" cy="658368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80360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86384" y="28712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GitHub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2084832" y="3017520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377440" y="2962656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340864" y="2962656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340864" y="3063240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6032" y="3584448"/>
            <a:ext cx="18288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758184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86384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SharePoint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2084832" y="3895344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377440" y="3840480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340864" y="3840480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340864" y="3941064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423160" y="950976"/>
            <a:ext cx="34747" cy="345643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578608" y="804672"/>
            <a:ext cx="4133088" cy="3822192"/>
          </a:xfrm>
          <a:prstGeom prst="rect">
            <a:avLst/>
          </a:prstGeom>
          <a:solidFill>
            <a:srgbClr val="FFFFFF"/>
          </a:solidFill>
          <a:ln w="31750">
            <a:solidFill>
              <a:srgbClr val="0052C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578608" y="804672"/>
            <a:ext cx="4133088" cy="3840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2578608" y="804672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FFFFFF"/>
                </a:solidFill>
              </a:rPr>
              <a:t>EKM  ENGINE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2761488" y="135331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243" y="1452067"/>
            <a:ext cx="241402" cy="24140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37560" y="133502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BM25 Unified Search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3337560" y="160934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Full-text across all 4 sources simultaneously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2788920" y="2020824"/>
            <a:ext cx="373075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761488" y="213055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0243" y="2229307"/>
            <a:ext cx="241402" cy="24140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3337560" y="211226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Intelligence Layer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3337560" y="238658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 analytical modules — gaps, risk, velocity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2788920" y="2798064"/>
            <a:ext cx="373075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2761488" y="290779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0243" y="3006547"/>
            <a:ext cx="241402" cy="24140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3337560" y="2889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Community Layer</a:t>
            </a:r>
            <a:endParaRPr lang="en-US" sz="1250" dirty="0"/>
          </a:p>
        </p:txBody>
      </p:sp>
      <p:sp>
        <p:nvSpPr>
          <p:cNvPr id="54" name="Text 45"/>
          <p:cNvSpPr/>
          <p:nvPr/>
        </p:nvSpPr>
        <p:spPr>
          <a:xfrm>
            <a:off x="3337560" y="316382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Flags, smart annotations, leaderboard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2788920" y="3575304"/>
            <a:ext cx="373075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2761488" y="368503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243" y="3783787"/>
            <a:ext cx="241402" cy="24140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3337560" y="36667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Onboarding Paths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3337560" y="394106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Auto-generated learning journeys per topic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3218688" y="4407408"/>
            <a:ext cx="2395728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3218688" y="44074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874"/>
                </a:solidFill>
              </a:rPr>
              <a:t>MongoDB  ·  FastAPI  ·  React  ·  Python</a:t>
            </a:r>
            <a:endParaRPr lang="en-US" sz="800" dirty="0"/>
          </a:p>
        </p:txBody>
      </p:sp>
      <p:sp>
        <p:nvSpPr>
          <p:cNvPr id="62" name="Shape 52"/>
          <p:cNvSpPr/>
          <p:nvPr/>
        </p:nvSpPr>
        <p:spPr>
          <a:xfrm>
            <a:off x="6675120" y="950976"/>
            <a:ext cx="34747" cy="3456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6711696" y="1252728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6949440" y="1005840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5" name="Shape 55"/>
          <p:cNvSpPr/>
          <p:nvPr/>
        </p:nvSpPr>
        <p:spPr>
          <a:xfrm>
            <a:off x="6949440" y="1005840"/>
            <a:ext cx="1920240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7022592" y="10424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</a:rPr>
              <a:t>Search UI</a:t>
            </a:r>
            <a:endParaRPr lang="en-US" sz="1200" dirty="0"/>
          </a:p>
        </p:txBody>
      </p:sp>
      <p:sp>
        <p:nvSpPr>
          <p:cNvPr id="67" name="Text 57"/>
          <p:cNvSpPr/>
          <p:nvPr/>
        </p:nvSpPr>
        <p:spPr>
          <a:xfrm>
            <a:off x="7022592" y="12984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React · BM25</a:t>
            </a:r>
            <a:endParaRPr lang="en-US" sz="900" dirty="0"/>
          </a:p>
        </p:txBody>
      </p:sp>
      <p:sp>
        <p:nvSpPr>
          <p:cNvPr id="68" name="Shape 58"/>
          <p:cNvSpPr/>
          <p:nvPr/>
        </p:nvSpPr>
        <p:spPr>
          <a:xfrm>
            <a:off x="6711696" y="2130552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6949440" y="1883664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0" name="Shape 60"/>
          <p:cNvSpPr/>
          <p:nvPr/>
        </p:nvSpPr>
        <p:spPr>
          <a:xfrm>
            <a:off x="6949440" y="1883664"/>
            <a:ext cx="1920240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7022592" y="19202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Intelligence</a:t>
            </a:r>
            <a:endParaRPr lang="en-US" sz="1200" dirty="0"/>
          </a:p>
        </p:txBody>
      </p:sp>
      <p:sp>
        <p:nvSpPr>
          <p:cNvPr id="72" name="Text 62"/>
          <p:cNvSpPr/>
          <p:nvPr/>
        </p:nvSpPr>
        <p:spPr>
          <a:xfrm>
            <a:off x="7022592" y="21762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 dashboards</a:t>
            </a:r>
            <a:endParaRPr lang="en-US" sz="900" dirty="0"/>
          </a:p>
        </p:txBody>
      </p:sp>
      <p:sp>
        <p:nvSpPr>
          <p:cNvPr id="73" name="Shape 63"/>
          <p:cNvSpPr/>
          <p:nvPr/>
        </p:nvSpPr>
        <p:spPr>
          <a:xfrm>
            <a:off x="6711696" y="3008376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6949440" y="2761488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5" name="Shape 65"/>
          <p:cNvSpPr/>
          <p:nvPr/>
        </p:nvSpPr>
        <p:spPr>
          <a:xfrm>
            <a:off x="6949440" y="2761488"/>
            <a:ext cx="1920240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7022592" y="279806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Community</a:t>
            </a:r>
            <a:endParaRPr lang="en-US" sz="1200" dirty="0"/>
          </a:p>
        </p:txBody>
      </p:sp>
      <p:sp>
        <p:nvSpPr>
          <p:cNvPr id="77" name="Text 67"/>
          <p:cNvSpPr/>
          <p:nvPr/>
        </p:nvSpPr>
        <p:spPr>
          <a:xfrm>
            <a:off x="7022592" y="305409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Flags &amp; Notes</a:t>
            </a:r>
            <a:endParaRPr lang="en-US" sz="900" dirty="0"/>
          </a:p>
        </p:txBody>
      </p:sp>
      <p:sp>
        <p:nvSpPr>
          <p:cNvPr id="78" name="Shape 68"/>
          <p:cNvSpPr/>
          <p:nvPr/>
        </p:nvSpPr>
        <p:spPr>
          <a:xfrm>
            <a:off x="6711696" y="3886200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6949440" y="3639312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0" name="Shape 70"/>
          <p:cNvSpPr/>
          <p:nvPr/>
        </p:nvSpPr>
        <p:spPr>
          <a:xfrm>
            <a:off x="6949440" y="3639312"/>
            <a:ext cx="1920240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1" name="Text 71"/>
          <p:cNvSpPr/>
          <p:nvPr/>
        </p:nvSpPr>
        <p:spPr>
          <a:xfrm>
            <a:off x="7022592" y="367588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Share Links</a:t>
            </a:r>
            <a:endParaRPr lang="en-US" sz="1200" dirty="0"/>
          </a:p>
        </p:txBody>
      </p:sp>
      <p:sp>
        <p:nvSpPr>
          <p:cNvPr id="82" name="Text 72"/>
          <p:cNvSpPr/>
          <p:nvPr/>
        </p:nvSpPr>
        <p:spPr>
          <a:xfrm>
            <a:off x="7022592" y="393192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/join/:topic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What's Live Today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9 features. Running on your infrastructure. Real data.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59536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59536"/>
            <a:ext cx="2761488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95097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1" y="1057961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24128" y="9509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Unified Search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24128" y="1261872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1335024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BM25 full-text across Jira, Confluence, GitHub &amp; SharePoint simultaneously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63824" y="859536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63824" y="859536"/>
            <a:ext cx="2761488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10128" y="95097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113" y="1057961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31920" y="9509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Intelligence Hub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931920" y="1261872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0" y="1335024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10-tab analytics: knowledge gaps, risk, experts, coverage, velocity &amp; more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071616" y="859536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71616" y="859536"/>
            <a:ext cx="2761488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17920" y="95097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5" y="1057961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39712" y="9509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Community Flags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39712" y="1261872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99632" y="1335024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Mark docs outdated, incorrect, useful or needing SME review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56032" y="2194560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56032" y="2194560"/>
            <a:ext cx="2761488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02336" y="228600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1" y="2392985"/>
            <a:ext cx="261518" cy="26151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24128" y="22860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Onboarding Paths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24128" y="2596896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84048" y="267004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Auto-generated learning journeys — share with any new joiner instantly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163824" y="2194560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163824" y="2194560"/>
            <a:ext cx="2761488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10128" y="228600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113" y="2392985"/>
            <a:ext cx="261518" cy="26151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931920" y="22860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Risk &amp; Vendor Intel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3931920" y="2596896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91840" y="267004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TECH NE vendor classification with knowledge concentration risk alerts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071616" y="2194560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071616" y="2194560"/>
            <a:ext cx="2761488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217920" y="228600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905" y="2392985"/>
            <a:ext cx="261518" cy="26151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839712" y="22860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Smart Annotations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6839712" y="2596896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199632" y="267004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Contextual notes, corrections &amp; suggestions with community upvotes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256032" y="3529584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256032" y="3529584"/>
            <a:ext cx="2761488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02336" y="362102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1" y="3728009"/>
            <a:ext cx="261518" cy="26151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024128" y="3621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Coverage Scores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1024128" y="3931920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384048" y="4005072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Per-topic documentation grade A–F across all four sources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3163824" y="3529584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3163824" y="3529584"/>
            <a:ext cx="2761488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3310128" y="362102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7113" y="3728009"/>
            <a:ext cx="261518" cy="26151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3931920" y="3621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Leaderboard &amp; Digest</a:t>
            </a:r>
            <a:endParaRPr lang="en-US" sz="1300" dirty="0"/>
          </a:p>
        </p:txBody>
      </p:sp>
      <p:sp>
        <p:nvSpPr>
          <p:cNvPr id="63" name="Shape 53"/>
          <p:cNvSpPr/>
          <p:nvPr/>
        </p:nvSpPr>
        <p:spPr>
          <a:xfrm>
            <a:off x="3931920" y="3931920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3291840" y="4005072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Gamified contributions with weekly knowledge digest and rankings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6071616" y="3529584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6" name="Shape 56"/>
          <p:cNvSpPr/>
          <p:nvPr/>
        </p:nvSpPr>
        <p:spPr>
          <a:xfrm>
            <a:off x="6071616" y="3529584"/>
            <a:ext cx="2761488" cy="38405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6217920" y="362102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905" y="3728009"/>
            <a:ext cx="261518" cy="261518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6839712" y="3621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Deep Links</a:t>
            </a:r>
            <a:endParaRPr lang="en-US" sz="1300" dirty="0"/>
          </a:p>
        </p:txBody>
      </p:sp>
      <p:sp>
        <p:nvSpPr>
          <p:cNvPr id="70" name="Shape 59"/>
          <p:cNvSpPr/>
          <p:nvPr/>
        </p:nvSpPr>
        <p:spPr>
          <a:xfrm>
            <a:off x="6839712" y="3931920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6199632" y="4005072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Shareable /join/:topic URLs route directly to curated onboarding paths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Intelligence Layer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5,092 raw documents to 10 actionable analytical views.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2944368" cy="4041648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04672"/>
            <a:ext cx="29443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950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7472" y="157276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Beyond Search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04672" y="2011680"/>
            <a:ext cx="1847088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13969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" y="21031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Identify undocumented systems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688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See who owns critical topics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79806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27614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Track knowledge freshness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12724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" y="30906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Detect vendor concentration risk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45643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3232" y="34198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Visualise topic activity velocity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785616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" y="37490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Generate SME handover packs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3419856" y="822960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3419856" y="822960"/>
            <a:ext cx="38405" cy="64008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502152" y="932688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6792" y="1027328"/>
            <a:ext cx="231343" cy="23134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78224" y="886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Knowledge Gaps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4078224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Undocumented topics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6181344" y="822960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181344" y="822960"/>
            <a:ext cx="38405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263640" y="932688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8280" y="1027328"/>
            <a:ext cx="231343" cy="23134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39712" y="886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Risk &amp; Vendors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6839712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TECH NE analysis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3419856" y="1591056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3419856" y="1591056"/>
            <a:ext cx="38405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3502152" y="1700784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6792" y="1795424"/>
            <a:ext cx="231343" cy="231343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078224" y="16550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Experts at Risk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4078224" y="19568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SME departure alerts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6181344" y="1591056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181344" y="1591056"/>
            <a:ext cx="38405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6263640" y="1700784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8280" y="1795424"/>
            <a:ext cx="231343" cy="231343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839712" y="16550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Coverage Score</a:t>
            </a:r>
            <a:endParaRPr lang="en-US" sz="1150" dirty="0"/>
          </a:p>
        </p:txBody>
      </p:sp>
      <p:sp>
        <p:nvSpPr>
          <p:cNvPr id="49" name="Text 36"/>
          <p:cNvSpPr/>
          <p:nvPr/>
        </p:nvSpPr>
        <p:spPr>
          <a:xfrm>
            <a:off x="6839712" y="19568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A–F doc grade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3419856" y="2359152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3419856" y="2359152"/>
            <a:ext cx="38405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3502152" y="2468880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6792" y="2563520"/>
            <a:ext cx="231343" cy="231343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4078224" y="24231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Velocity</a:t>
            </a:r>
            <a:endParaRPr lang="en-US" sz="1150" dirty="0"/>
          </a:p>
        </p:txBody>
      </p:sp>
      <p:sp>
        <p:nvSpPr>
          <p:cNvPr id="55" name="Text 41"/>
          <p:cNvSpPr/>
          <p:nvPr/>
        </p:nvSpPr>
        <p:spPr>
          <a:xfrm>
            <a:off x="4078224" y="2724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Activity trend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181344" y="2359152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7" name="Shape 43"/>
          <p:cNvSpPr/>
          <p:nvPr/>
        </p:nvSpPr>
        <p:spPr>
          <a:xfrm>
            <a:off x="6181344" y="2359152"/>
            <a:ext cx="38405" cy="6400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6263640" y="2468880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8280" y="2563520"/>
            <a:ext cx="231343" cy="231343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6839712" y="24231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Health Report</a:t>
            </a:r>
            <a:endParaRPr lang="en-US" sz="1150" dirty="0"/>
          </a:p>
        </p:txBody>
      </p:sp>
      <p:sp>
        <p:nvSpPr>
          <p:cNvPr id="61" name="Text 46"/>
          <p:cNvSpPr/>
          <p:nvPr/>
        </p:nvSpPr>
        <p:spPr>
          <a:xfrm>
            <a:off x="6839712" y="2724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Freshness audit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3419856" y="3127248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3" name="Shape 48"/>
          <p:cNvSpPr/>
          <p:nvPr/>
        </p:nvSpPr>
        <p:spPr>
          <a:xfrm>
            <a:off x="3419856" y="3127248"/>
            <a:ext cx="38405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3502152" y="3236976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96792" y="3331616"/>
            <a:ext cx="231343" cy="231343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4078224" y="319125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Onboarding Path</a:t>
            </a:r>
            <a:endParaRPr lang="en-US" sz="1150" dirty="0"/>
          </a:p>
        </p:txBody>
      </p:sp>
      <p:sp>
        <p:nvSpPr>
          <p:cNvPr id="67" name="Text 51"/>
          <p:cNvSpPr/>
          <p:nvPr/>
        </p:nvSpPr>
        <p:spPr>
          <a:xfrm>
            <a:off x="4078224" y="3493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New joiner journeys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6181344" y="3127248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9" name="Shape 53"/>
          <p:cNvSpPr/>
          <p:nvPr/>
        </p:nvSpPr>
        <p:spPr>
          <a:xfrm>
            <a:off x="6181344" y="3127248"/>
            <a:ext cx="38405" cy="64008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70" name="Shape 54"/>
          <p:cNvSpPr/>
          <p:nvPr/>
        </p:nvSpPr>
        <p:spPr>
          <a:xfrm>
            <a:off x="6263640" y="3236976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8280" y="3331616"/>
            <a:ext cx="231343" cy="231343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6839712" y="319125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Knowledge Graph</a:t>
            </a:r>
            <a:endParaRPr lang="en-US" sz="1150" dirty="0"/>
          </a:p>
        </p:txBody>
      </p:sp>
      <p:sp>
        <p:nvSpPr>
          <p:cNvPr id="73" name="Text 56"/>
          <p:cNvSpPr/>
          <p:nvPr/>
        </p:nvSpPr>
        <p:spPr>
          <a:xfrm>
            <a:off x="6839712" y="3493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Topic connections</a:t>
            </a:r>
            <a:endParaRPr lang="en-US" sz="900" dirty="0"/>
          </a:p>
        </p:txBody>
      </p:sp>
      <p:sp>
        <p:nvSpPr>
          <p:cNvPr id="74" name="Shape 57"/>
          <p:cNvSpPr/>
          <p:nvPr/>
        </p:nvSpPr>
        <p:spPr>
          <a:xfrm>
            <a:off x="3419856" y="3895344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3419856" y="3895344"/>
            <a:ext cx="38405" cy="6400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59"/>
          <p:cNvSpPr/>
          <p:nvPr/>
        </p:nvSpPr>
        <p:spPr>
          <a:xfrm>
            <a:off x="3502152" y="4005072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96792" y="4099712"/>
            <a:ext cx="231343" cy="231343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4078224" y="39593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Handover Pack</a:t>
            </a:r>
            <a:endParaRPr lang="en-US" sz="1150" dirty="0"/>
          </a:p>
        </p:txBody>
      </p:sp>
      <p:sp>
        <p:nvSpPr>
          <p:cNvPr id="79" name="Text 61"/>
          <p:cNvSpPr/>
          <p:nvPr/>
        </p:nvSpPr>
        <p:spPr>
          <a:xfrm>
            <a:off x="4078224" y="42611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SME exit docs</a:t>
            </a:r>
            <a:endParaRPr lang="en-US" sz="900" dirty="0"/>
          </a:p>
        </p:txBody>
      </p:sp>
      <p:sp>
        <p:nvSpPr>
          <p:cNvPr id="80" name="Shape 62"/>
          <p:cNvSpPr/>
          <p:nvPr/>
        </p:nvSpPr>
        <p:spPr>
          <a:xfrm>
            <a:off x="6181344" y="3895344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1" name="Shape 63"/>
          <p:cNvSpPr/>
          <p:nvPr/>
        </p:nvSpPr>
        <p:spPr>
          <a:xfrm>
            <a:off x="6181344" y="3895344"/>
            <a:ext cx="38405" cy="6400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6263640" y="4005072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8280" y="4099712"/>
            <a:ext cx="231343" cy="231343"/>
          </a:xfrm>
          <a:prstGeom prst="rect">
            <a:avLst/>
          </a:prstGeom>
        </p:spPr>
      </p:pic>
      <p:sp>
        <p:nvSpPr>
          <p:cNvPr id="84" name="Text 65"/>
          <p:cNvSpPr/>
          <p:nvPr/>
        </p:nvSpPr>
        <p:spPr>
          <a:xfrm>
            <a:off x="6839712" y="39593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People Search</a:t>
            </a:r>
            <a:endParaRPr lang="en-US" sz="1150" dirty="0"/>
          </a:p>
        </p:txBody>
      </p:sp>
      <p:sp>
        <p:nvSpPr>
          <p:cNvPr id="85" name="Text 66"/>
          <p:cNvSpPr/>
          <p:nvPr/>
        </p:nvSpPr>
        <p:spPr>
          <a:xfrm>
            <a:off x="6839712" y="42611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Expert finder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Community Layer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engineer makes the platform smarter for the next.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276148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859536"/>
            <a:ext cx="804672" cy="80467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024128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7373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Community Flags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5760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4 signal types captured on every document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5059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" y="24140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Outdated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68096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Content no longer reflects reality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8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8096" y="27614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Incorrect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68096" y="2944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Factual error identified by a reviewer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4553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3108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Mark Useful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68096" y="32918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High-value document — surface to others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93008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8096" y="34564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Needs Review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68096" y="363931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Escalate to SME for attention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127248" y="822960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127248" y="822960"/>
            <a:ext cx="276148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114800" y="859536"/>
            <a:ext cx="804672" cy="80467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024128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236976" y="17373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 Annotations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3236976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3 types of community-added knowledge</a:t>
            </a:r>
            <a:endParaRPr lang="en-US" sz="8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245059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639312" y="24140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Notes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3639312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Add contextual insight directly on a doc</a:t>
            </a:r>
            <a:endParaRPr lang="en-US" sz="9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6" y="279806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639312" y="27614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Suggestions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3639312" y="2944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Propose improvements or missing content</a:t>
            </a:r>
            <a:endParaRPr lang="en-US" sz="9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416" y="3145536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639312" y="3108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Corrections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3639312" y="32918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Fix factual errors with upvote validation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5998464" y="822960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5998464" y="822960"/>
            <a:ext cx="276148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6986016" y="859536"/>
            <a:ext cx="804672" cy="80467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7184" y="1024128"/>
            <a:ext cx="402336" cy="40233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108192" y="17373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Digest &amp; Leaderboard</a:t>
            </a:r>
            <a:endParaRPr lang="en-US" sz="1500" dirty="0"/>
          </a:p>
        </p:txBody>
      </p:sp>
      <p:sp>
        <p:nvSpPr>
          <p:cNvPr id="47" name="Text 35"/>
          <p:cNvSpPr/>
          <p:nvPr/>
        </p:nvSpPr>
        <p:spPr>
          <a:xfrm>
            <a:off x="6108192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Weekly intelligence surfaces the best contributions</a:t>
            </a:r>
            <a:endParaRPr lang="en-US" sz="8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9632" y="2450592"/>
            <a:ext cx="219456" cy="21945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510528" y="24140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Leaderboard</a:t>
            </a:r>
            <a:endParaRPr lang="en-US" sz="1100" dirty="0"/>
          </a:p>
        </p:txBody>
      </p:sp>
      <p:sp>
        <p:nvSpPr>
          <p:cNvPr id="50" name="Text 37"/>
          <p:cNvSpPr/>
          <p:nvPr/>
        </p:nvSpPr>
        <p:spPr>
          <a:xfrm>
            <a:off x="6510528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Top contributors ranked by quality &amp; volume</a:t>
            </a:r>
            <a:endParaRPr lang="en-US" sz="9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9632" y="2798064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510528" y="27614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Most Flagged</a:t>
            </a:r>
            <a:endParaRPr lang="en-US" sz="1100" dirty="0"/>
          </a:p>
        </p:txBody>
      </p:sp>
      <p:sp>
        <p:nvSpPr>
          <p:cNvPr id="53" name="Text 39"/>
          <p:cNvSpPr/>
          <p:nvPr/>
        </p:nvSpPr>
        <p:spPr>
          <a:xfrm>
            <a:off x="6510528" y="2944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Docs needing urgent attention surfaced</a:t>
            </a:r>
            <a:endParaRPr lang="en-US" sz="9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9632" y="3145536"/>
            <a:ext cx="219456" cy="219456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510528" y="3108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Most Useful</a:t>
            </a:r>
            <a:endParaRPr lang="en-US" sz="1100" dirty="0"/>
          </a:p>
        </p:txBody>
      </p:sp>
      <p:sp>
        <p:nvSpPr>
          <p:cNvPr id="56" name="Text 41"/>
          <p:cNvSpPr/>
          <p:nvPr/>
        </p:nvSpPr>
        <p:spPr>
          <a:xfrm>
            <a:off x="6510528" y="32918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Highest-rated docs promoted to new joiners</a:t>
            </a:r>
            <a:endParaRPr lang="en-US" sz="90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9632" y="3493008"/>
            <a:ext cx="219456" cy="219456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510528" y="34564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Weekly Digest</a:t>
            </a:r>
            <a:endParaRPr lang="en-US" sz="1100" dirty="0"/>
          </a:p>
        </p:txBody>
      </p:sp>
      <p:sp>
        <p:nvSpPr>
          <p:cNvPr id="59" name="Text 43"/>
          <p:cNvSpPr/>
          <p:nvPr/>
        </p:nvSpPr>
        <p:spPr>
          <a:xfrm>
            <a:off x="6510528" y="363931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Activity summary — trends and highlights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8528" y="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Enterprise Knowledge Management  —  EKM  ·  E3  ·  Citi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126480" y="36576"/>
            <a:ext cx="1280160" cy="2194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365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VERSION: 1.0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79792" y="36576"/>
            <a:ext cx="1572768" cy="2194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9792" y="3657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MARCH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288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448556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4448556"/>
            <a:ext cx="9144" cy="6949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"/>
            <a:ext cx="1828800" cy="2077974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052CC"/>
                </a:solidFill>
              </a:rPr>
              <a:t>PROBLEM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440" y="548640"/>
            <a:ext cx="1645920" cy="137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P: Engineers run 4 separate searches per question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I: Knowledge exits silently with every SME departure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80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C: No unified source of truth across tools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80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U: Manual onboarding, manual audits — every time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0" y="292608"/>
            <a:ext cx="1828800" cy="2077974"/>
          </a:xfrm>
          <a:prstGeom prst="rect">
            <a:avLst/>
          </a:prstGeom>
          <a:solidFill>
            <a:srgbClr val="F0FDF8"/>
          </a:solidFill>
          <a:ln w="12700">
            <a:solidFill>
              <a:srgbClr val="F0F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891B2"/>
                </a:solidFill>
              </a:rPr>
              <a:t>SOLUTION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920240" y="548640"/>
            <a:ext cx="1645920" cy="137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BM25 unified search — 1 query, 4 sources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568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10-tab intelligence hub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568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Community flags &amp; smart annotations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568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Deep-link /join/:topic onboarding URLs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0" y="292608"/>
            <a:ext cx="1828800" cy="41559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UNIQUE VALUE PROPOSITION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767328" y="539496"/>
            <a:ext cx="1609344" cy="1280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60350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One search.
All your knowledge.
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3749040" y="1261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91B2"/>
                </a:solidFill>
              </a:rPr>
              <a:t>Zero cold start.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3913632" y="1664208"/>
            <a:ext cx="1316736" cy="12802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17556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5,092 docs · Day-1 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No cold start problem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49040" y="2626614"/>
            <a:ext cx="1645920" cy="1280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HIGH LEVEL CONCEPT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749040" y="269976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"Google for your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org's engineering knowledge"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49040" y="339471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Jira · Confluence · GitHub · SharePoint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1 clean interface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0" y="292608"/>
            <a:ext cx="1828800" cy="2077974"/>
          </a:xfrm>
          <a:prstGeom prst="rect">
            <a:avLst/>
          </a:prstGeom>
          <a:solidFill>
            <a:srgbClr val="FFFBF0"/>
          </a:solidFill>
          <a:ln w="12700">
            <a:solidFill>
              <a:srgbClr val="FFFB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D97706"/>
                </a:solidFill>
              </a:rPr>
              <a:t>UNFAIR ADVANTAGE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77840" y="548640"/>
            <a:ext cx="1645920" cy="13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5,092 docs already indexed — Day 1 ready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144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Live NTLM SharePoint connector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144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Citi TECH NE vendor classifier built-in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144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Built by E3 — deep insider knowledge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15200" y="292608"/>
            <a:ext cx="1828800" cy="207797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59669"/>
                </a:solidFill>
              </a:rPr>
              <a:t>CUSTOMER SEGMENTS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06640" y="548640"/>
            <a:ext cx="1645920" cy="137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432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Engineering teams (primary users)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432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New joiners &amp; graduates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432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Project managers &amp; leads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432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Compliance &amp; audit teams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2370582"/>
            <a:ext cx="1828800" cy="2077974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D97706"/>
                </a:solidFill>
              </a:rPr>
              <a:t>EXISTING ALTERNATIVES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1440" y="2626614"/>
            <a:ext cx="1645920" cy="13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80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Native Jira / Confluence search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280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Manual wiki maintenance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280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Apache Answer (no Citi data)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280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SharePoint search (SP only)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828800" y="2370582"/>
            <a:ext cx="1828800" cy="2077974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052CC"/>
                </a:solidFill>
              </a:rPr>
              <a:t>KEY METRICS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920240" y="2626614"/>
            <a:ext cx="1645920" cy="137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568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Searches per week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9568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Zero-result query rate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9568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Community contributions/week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9568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Time-to-first-answer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86400" y="2370582"/>
            <a:ext cx="1828800" cy="2077974"/>
          </a:xfrm>
          <a:prstGeom prst="rect">
            <a:avLst/>
          </a:prstGeom>
          <a:solidFill>
            <a:srgbClr val="F8FFF4"/>
          </a:solidFill>
          <a:ln w="12700">
            <a:solidFill>
              <a:srgbClr val="F8FF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59669"/>
                </a:solidFill>
              </a:rPr>
              <a:t>CHANNELS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77840" y="2626614"/>
            <a:ext cx="1645920" cy="137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144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localhost:3000 (internal deploy)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144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/join/:topic shareable deep links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144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Microsoft Teams integration path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6144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Direct onboarding share URLs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315200" y="2370582"/>
            <a:ext cx="1828800" cy="2077974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DC2626"/>
                </a:solidFill>
              </a:rPr>
              <a:t>EARLY ADOPTERS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7406640" y="2626614"/>
            <a:ext cx="1645920" cy="137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432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E3 engineering team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4432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New joiners — immediate value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4432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SMEs facing offboarding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4432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Knowledge owners &amp; leads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0" y="4448556"/>
            <a:ext cx="4572000" cy="694944"/>
          </a:xfrm>
          <a:prstGeom prst="rect">
            <a:avLst/>
          </a:prstGeom>
          <a:solidFill>
            <a:srgbClr val="F8F0FF"/>
          </a:solidFill>
          <a:ln w="12700">
            <a:solidFill>
              <a:srgbClr val="F8F0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9728" y="4521708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COST STRUCTURE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09728" y="4704588"/>
            <a:ext cx="4352544" cy="1097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" y="4759452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MongoDB (existing infra)  ·  Python · FastAPI · React (open source)  ·  Engineer time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81144" y="4448556"/>
            <a:ext cx="4562856" cy="694944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81728" y="4521708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REVENUE STREAMS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681728" y="4704588"/>
            <a:ext cx="4352544" cy="1097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81728" y="4759452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Internal productivity uplift  ·  POC pathway to enterprise platform rollout across Citi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What's Next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Hackathon POC to production-ready platform.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77824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77824"/>
            <a:ext cx="5486400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101498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1121969"/>
            <a:ext cx="261518" cy="26151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462272" y="1152144"/>
            <a:ext cx="1170432" cy="20116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1521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UP NEXT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042416" y="932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AI-Powered Answers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42416" y="1243584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Claude API + RAG pipeline — natural language answers synthesised from your 5,092 docs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" y="1764792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6032" y="1764792"/>
            <a:ext cx="5486400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0624" y="1901952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9" y="2008937"/>
            <a:ext cx="261518" cy="26151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462272" y="2039112"/>
            <a:ext cx="117043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6227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42416" y="1819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Result Feedback Loop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1042416" y="2130552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42416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Thumbs up/down signals feed back into BM25 ranking — search improves with every query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56032" y="265176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256032" y="2651760"/>
            <a:ext cx="5486400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0624" y="278892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9" y="2895905"/>
            <a:ext cx="261518" cy="26151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462272" y="2926080"/>
            <a:ext cx="117043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462272" y="29260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1042416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SharePoint Online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1042416" y="3017520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42416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O365 ADFS WS-Federation connector extends coverage to cloud SharePoint environments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56032" y="3538728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56032" y="3538728"/>
            <a:ext cx="5486400" cy="38405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20624" y="3675888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9" y="3782873"/>
            <a:ext cx="261518" cy="26151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4462272" y="3813048"/>
            <a:ext cx="117043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462272" y="38130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1042416" y="3593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Handover Pack PDF Export</a:t>
            </a:r>
            <a:endParaRPr lang="en-US" sz="1350" dirty="0"/>
          </a:p>
        </p:txBody>
      </p:sp>
      <p:sp>
        <p:nvSpPr>
          <p:cNvPr id="43" name="Shape 37"/>
          <p:cNvSpPr/>
          <p:nvPr/>
        </p:nvSpPr>
        <p:spPr>
          <a:xfrm>
            <a:off x="1042416" y="3904488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42416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Auto-generate exportable SME handover documents — structured, shareable, audit-ready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5998464" y="877824"/>
            <a:ext cx="2889504" cy="356616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5998464" y="877824"/>
            <a:ext cx="2889504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144768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803136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461504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8119872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6144768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803136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461504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119872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144768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803136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7461504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119872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144768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6803136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7461504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119872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144768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803136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7461504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8119872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6144768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6803136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461504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8119872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6144768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6803136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7461504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8119872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6144768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6803136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7461504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8119872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042416"/>
            <a:ext cx="475488" cy="475488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6089904" y="15910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See it live.</a:t>
            </a:r>
            <a:endParaRPr lang="en-US" sz="2200" dirty="0"/>
          </a:p>
        </p:txBody>
      </p:sp>
      <p:sp>
        <p:nvSpPr>
          <p:cNvPr id="81" name="Shape 74"/>
          <p:cNvSpPr/>
          <p:nvPr/>
        </p:nvSpPr>
        <p:spPr>
          <a:xfrm>
            <a:off x="6565392" y="2048256"/>
            <a:ext cx="1755648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6089904" y="210312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localhost:3000</a:t>
            </a:r>
            <a:endParaRPr lang="en-US" sz="1600" dirty="0"/>
          </a:p>
        </p:txBody>
      </p:sp>
      <p:sp>
        <p:nvSpPr>
          <p:cNvPr id="83" name="Text 76"/>
          <p:cNvSpPr/>
          <p:nvPr/>
        </p:nvSpPr>
        <p:spPr>
          <a:xfrm>
            <a:off x="6089904" y="2523744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5,092 documents.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data. Right now.</a:t>
            </a:r>
            <a:endParaRPr lang="en-US" sz="1100" dirty="0"/>
          </a:p>
        </p:txBody>
      </p:sp>
      <p:sp>
        <p:nvSpPr>
          <p:cNvPr id="84" name="Shape 77"/>
          <p:cNvSpPr/>
          <p:nvPr/>
        </p:nvSpPr>
        <p:spPr>
          <a:xfrm>
            <a:off x="6089904" y="316382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78"/>
          <p:cNvSpPr/>
          <p:nvPr/>
        </p:nvSpPr>
        <p:spPr>
          <a:xfrm>
            <a:off x="6089904" y="31638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Jira</a:t>
            </a:r>
            <a:endParaRPr lang="en-US" sz="850" dirty="0"/>
          </a:p>
        </p:txBody>
      </p:sp>
      <p:sp>
        <p:nvSpPr>
          <p:cNvPr id="86" name="Shape 79"/>
          <p:cNvSpPr/>
          <p:nvPr/>
        </p:nvSpPr>
        <p:spPr>
          <a:xfrm>
            <a:off x="7443216" y="316382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7443216" y="31638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Confluence</a:t>
            </a:r>
            <a:endParaRPr lang="en-US" sz="850" dirty="0"/>
          </a:p>
        </p:txBody>
      </p:sp>
      <p:sp>
        <p:nvSpPr>
          <p:cNvPr id="88" name="Shape 81"/>
          <p:cNvSpPr/>
          <p:nvPr/>
        </p:nvSpPr>
        <p:spPr>
          <a:xfrm>
            <a:off x="6089904" y="343814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6089904" y="34381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GitHub</a:t>
            </a:r>
            <a:endParaRPr lang="en-US" sz="850" dirty="0"/>
          </a:p>
        </p:txBody>
      </p:sp>
      <p:sp>
        <p:nvSpPr>
          <p:cNvPr id="90" name="Shape 83"/>
          <p:cNvSpPr/>
          <p:nvPr/>
        </p:nvSpPr>
        <p:spPr>
          <a:xfrm>
            <a:off x="7443216" y="343814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7443216" y="34381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SharePoint</a:t>
            </a:r>
            <a:endParaRPr lang="en-US" sz="850" dirty="0"/>
          </a:p>
        </p:txBody>
      </p:sp>
      <p:sp>
        <p:nvSpPr>
          <p:cNvPr id="92" name="Text 85"/>
          <p:cNvSpPr/>
          <p:nvPr/>
        </p:nvSpPr>
        <p:spPr>
          <a:xfrm>
            <a:off x="6089904" y="424281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E3  ·  Citi  ·  Hackathon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— Enterprise Knowledge Management</dc:title>
  <dc:subject>PptxGenJS Presentation</dc:subject>
  <dc:creator>PptxGenJS</dc:creator>
  <cp:lastModifiedBy>PptxGenJS</cp:lastModifiedBy>
  <cp:revision>1</cp:revision>
  <dcterms:created xsi:type="dcterms:W3CDTF">2026-03-11T06:02:20Z</dcterms:created>
  <dcterms:modified xsi:type="dcterms:W3CDTF">2026-03-11T06:02:20Z</dcterms:modified>
</cp:coreProperties>
</file>