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731520"/>
            <a:ext cx="1371600" cy="347472"/>
          </a:xfrm>
          <a:prstGeom prst="roundRect">
            <a:avLst>
              <a:gd name="adj" fmla="val 26316"/>
            </a:avLst>
          </a:prstGeom>
          <a:solidFill>
            <a:srgbClr val="00D4AA"/>
          </a:solidFill>
          <a:ln w="12700">
            <a:solidFill>
              <a:srgbClr val="00D4A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7315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v3.1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11704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55448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spc="800" kern="0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EKM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548640" y="25146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Knowledge Management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Notes — v3.1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4206240"/>
            <a:ext cx="2743200" cy="27432"/>
          </a:xfrm>
          <a:prstGeom prst="rect">
            <a:avLst/>
          </a:prstGeom>
          <a:solidFill>
            <a:srgbClr val="1A3050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4297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Citi ICG Technology · BIC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Changed in v3.1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product fixes and redesigns this sprint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14300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0D1F35"/>
          </a:solidFill>
          <a:ln w="9525">
            <a:solidFill>
              <a:srgbClr val="1A30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36576" cy="5943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1887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Search Redesign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21792" y="13990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 enterprise theme · 2-column layout · compact SME sidebar (right panel, not full page)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57200" y="1856232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0D1F35"/>
          </a:solidFill>
          <a:ln w="9525">
            <a:solidFill>
              <a:srgbClr val="1A3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56232"/>
            <a:ext cx="36576" cy="5943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" y="19019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 Person-Query Intent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21792" y="21122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"What Jadhav worked on" now shows Person Profile card automatically — not SME list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57200" y="2569464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0D1F35"/>
          </a:solidFill>
          <a:ln w="9525">
            <a:solidFill>
              <a:srgbClr val="1A30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569464"/>
            <a:ext cx="36576" cy="5943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621792" y="261518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 NE Classification Fixed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21792" y="282549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[ICG-IT NE], [ICG NE] now correctly classified as Vendor across all routes + SME ranker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" y="3282696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0D1F35"/>
          </a:solidFill>
          <a:ln w="9525">
            <a:solidFill>
              <a:srgbClr val="1A305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82696"/>
            <a:ext cx="36576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621792" y="332841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 Documents Redesign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1792" y="35387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table layout with source filters, metadata columns, pagination controls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3995928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0D1F35"/>
          </a:solidFill>
          <a:ln w="9525">
            <a:solidFill>
              <a:srgbClr val="1A305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995928"/>
            <a:ext cx="36576" cy="594360"/>
          </a:xfrm>
          <a:prstGeom prst="rect">
            <a:avLst/>
          </a:prstGeom>
          <a:solidFill>
            <a:srgbClr val="10D98A"/>
          </a:solidFill>
          <a:ln/>
        </p:spPr>
      </p:sp>
      <p:sp>
        <p:nvSpPr>
          <p:cNvPr id="24" name="Text 22"/>
          <p:cNvSpPr/>
          <p:nvPr/>
        </p:nvSpPr>
        <p:spPr>
          <a:xfrm>
            <a:off x="621792" y="404164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Intelligence Analytics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1792" y="425196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strip · volume chart with tooltips · 3-column layout (queries/gaps/source breakdown)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5029200" y="1143000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0D1F35"/>
          </a:solidFill>
          <a:ln w="9525">
            <a:solidFill>
              <a:srgbClr val="1A305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029200" y="1143000"/>
            <a:ext cx="36576" cy="594360"/>
          </a:xfrm>
          <a:prstGeom prst="rect">
            <a:avLst/>
          </a:prstGeom>
          <a:solidFill>
            <a:srgbClr val="F43F5E"/>
          </a:solidFill>
          <a:ln/>
        </p:spPr>
      </p:sp>
      <p:sp>
        <p:nvSpPr>
          <p:cNvPr id="28" name="Text 26"/>
          <p:cNvSpPr/>
          <p:nvPr/>
        </p:nvSpPr>
        <p:spPr>
          <a:xfrm>
            <a:off x="5193792" y="1188720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Dashboard Speed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193792" y="13990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MongoDB queries now parallel with asyncio.gather — eliminates sequential bottleneck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5029200" y="1856232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0D1F35"/>
          </a:solidFill>
          <a:ln w="9525">
            <a:solidFill>
              <a:srgbClr val="1A305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0" y="1856232"/>
            <a:ext cx="36576" cy="59436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2" name="Text 30"/>
          <p:cNvSpPr/>
          <p:nvPr/>
        </p:nvSpPr>
        <p:spPr>
          <a:xfrm>
            <a:off x="5193792" y="1901952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At-Risk Experts Count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193792" y="21122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from vendor contributors in DB · now shows real count on dashboard KPI card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029200" y="2569464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0D1F35"/>
          </a:solidFill>
          <a:ln w="9525">
            <a:solidFill>
              <a:srgbClr val="1A305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029200" y="2569464"/>
            <a:ext cx="36576" cy="59436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36" name="Text 34"/>
          <p:cNvSpPr/>
          <p:nvPr/>
        </p:nvSpPr>
        <p:spPr>
          <a:xfrm>
            <a:off x="5193792" y="2615184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 Velocity Fixed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193792" y="282549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BSON Date + ISO string dates · falls back to all-time data when no 12mo window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029200" y="3282696"/>
            <a:ext cx="4206240" cy="594360"/>
          </a:xfrm>
          <a:prstGeom prst="roundRect">
            <a:avLst>
              <a:gd name="adj" fmla="val 12308"/>
            </a:avLst>
          </a:prstGeom>
          <a:solidFill>
            <a:srgbClr val="0D1F35"/>
          </a:solidFill>
          <a:ln w="9525">
            <a:solidFill>
              <a:srgbClr val="1A305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5029200" y="3282696"/>
            <a:ext cx="36576" cy="59436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5193792" y="3328416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🎨 Docs by Source Moved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193792" y="353872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Repositioned to top of analytics column on dashboard for immediate visibility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— Before &amp; After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FEE2E2"/>
          </a:solidFill>
          <a:ln w="12700">
            <a:solidFill>
              <a:srgbClr val="FCA5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7772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DC26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BEFORE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SME panel takes FULL PAGE — results invisible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2029968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02996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"What X worked on" shows SME list, not profile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688336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68833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[ICG-IT NE] shown as "Internal" (wrong)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3346704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34670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Dark background — not enterprise appropriate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4005072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00507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No visual hierarchy between sources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54880" y="777240"/>
            <a:ext cx="4023360" cy="457200"/>
          </a:xfrm>
          <a:prstGeom prst="roundRect">
            <a:avLst>
              <a:gd name="adj" fmla="val 20000"/>
            </a:avLst>
          </a:prstGeom>
          <a:solidFill>
            <a:srgbClr val="D1FAE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54880" y="7772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AFTER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54880" y="1371600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Compact right sidebar (35% width) · 3 experts max · expandable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754880" y="2029968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37760" y="2029968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Person-intent detected → Person Profile card shown inline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754880" y="2688336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688336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NE regex fixed: matches [ICG-IT NE], [ICG NE] correctly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754880" y="3346704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3346704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Clean enterprise white/slate — professional &amp; accessible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754880" y="4005072"/>
            <a:ext cx="402336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4005072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"Official Documentation" (Confluence) shown first, then activity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Person-Query Intent Detection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6858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queries about people now surface the right answer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5156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0D1F35"/>
          </a:solidFill>
          <a:ln w="9525">
            <a:solidFill>
              <a:srgbClr val="1A30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115568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417320"/>
            <a:ext cx="1920240" cy="320040"/>
          </a:xfrm>
          <a:prstGeom prst="roundRect">
            <a:avLst>
              <a:gd name="adj" fmla="val 17143"/>
            </a:avLst>
          </a:prstGeom>
          <a:solidFill>
            <a:srgbClr val="00D4AA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Query entered → backend regex matches person-intent pattern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2651760" y="1417320"/>
            <a:ext cx="1920240" cy="320040"/>
          </a:xfrm>
          <a:prstGeom prst="roundRect">
            <a:avLst>
              <a:gd name="adj" fmla="val 17143"/>
            </a:avLst>
          </a:prstGeom>
          <a:solidFill>
            <a:srgbClr val="00D4AA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5176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Name extracted from query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4663440" y="1417320"/>
            <a:ext cx="1920240" cy="320040"/>
          </a:xfrm>
          <a:prstGeom prst="roundRect">
            <a:avLst>
              <a:gd name="adj" fmla="val 17143"/>
            </a:avLst>
          </a:prstGeom>
          <a:solidFill>
            <a:srgbClr val="00D4AA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Person Profile fetched from /api/people/{name}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6675120" y="1417320"/>
            <a:ext cx="1920240" cy="320040"/>
          </a:xfrm>
          <a:prstGeom prst="roundRect">
            <a:avLst>
              <a:gd name="adj" fmla="val 17143"/>
            </a:avLst>
          </a:prstGeom>
          <a:solidFill>
            <a:srgbClr val="00D4AA"/>
          </a:solidFill>
          <a:ln w="9525">
            <a:solidFill>
              <a:srgbClr val="00D4A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75120" y="14173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Profile card shown inline above results · SME panel hidden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457200" y="2011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Detected Query Patterns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377440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0D1F35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237744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18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"what has Jadhav worked on"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2926080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0D1F35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292608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18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"what did Nishantchandra do"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57200" y="3474720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0D1F35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347472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18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"contributions of Gandhi Mihir"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377440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0D1F35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37744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18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"work by Chavan Jyoti Dinkar"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2926080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0D1F35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37760" y="292608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18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"show commits by Pagidela"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3474720"/>
            <a:ext cx="4023360" cy="438912"/>
          </a:xfrm>
          <a:prstGeom prst="roundRect">
            <a:avLst>
              <a:gd name="adj" fmla="val 16667"/>
            </a:avLst>
          </a:prstGeom>
          <a:solidFill>
            <a:srgbClr val="0D1F35"/>
          </a:solidFill>
          <a:ln w="9525">
            <a:solidFill>
              <a:srgbClr val="818CF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474720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18CF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"what Sharma Nikita has worked on"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patterns extract a person name and fetch their full contribution profile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Analytics — Redesigned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sparse number + single chart to a full analytics workbench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0058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005840"/>
            <a:ext cx="192024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155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Searches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560320" y="10058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005840"/>
            <a:ext cx="192024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1155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256032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Queries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63440" y="10058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005840"/>
            <a:ext cx="192024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6" name="Text 14"/>
          <p:cNvSpPr/>
          <p:nvPr/>
        </p:nvSpPr>
        <p:spPr>
          <a:xfrm>
            <a:off x="4663440" y="11155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6344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Results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6766560" y="10058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0" y="1005840"/>
            <a:ext cx="1920240" cy="36576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1115568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596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12%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766560" y="150876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Trend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57200" y="201168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2011680"/>
            <a:ext cx="2743200" cy="36576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🔥 Top Queries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94360" y="2468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frequency · shows search intent distribution · clickable to filter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40080" y="4098270"/>
            <a:ext cx="320040" cy="199410"/>
          </a:xfrm>
          <a:prstGeom prst="roundRect">
            <a:avLst>
              <a:gd name="adj" fmla="val 13757"/>
            </a:avLst>
          </a:prstGeom>
          <a:solidFill>
            <a:srgbClr val="00D4AA"/>
          </a:solidFill>
          <a:ln/>
        </p:spPr>
      </p:sp>
      <p:sp>
        <p:nvSpPr>
          <p:cNvPr id="27" name="Shape 25"/>
          <p:cNvSpPr/>
          <p:nvPr/>
        </p:nvSpPr>
        <p:spPr>
          <a:xfrm>
            <a:off x="1097280" y="3817293"/>
            <a:ext cx="320040" cy="480387"/>
          </a:xfrm>
          <a:prstGeom prst="roundRect">
            <a:avLst>
              <a:gd name="adj" fmla="val 8571"/>
            </a:avLst>
          </a:prstGeom>
          <a:solidFill>
            <a:srgbClr val="00D4AA"/>
          </a:solidFill>
          <a:ln/>
        </p:spPr>
      </p:sp>
      <p:sp>
        <p:nvSpPr>
          <p:cNvPr id="28" name="Shape 26"/>
          <p:cNvSpPr/>
          <p:nvPr/>
        </p:nvSpPr>
        <p:spPr>
          <a:xfrm>
            <a:off x="1554480" y="3825054"/>
            <a:ext cx="320040" cy="472626"/>
          </a:xfrm>
          <a:prstGeom prst="roundRect">
            <a:avLst>
              <a:gd name="adj" fmla="val 8571"/>
            </a:avLst>
          </a:prstGeom>
          <a:solidFill>
            <a:srgbClr val="00D4AA"/>
          </a:solidFill>
          <a:ln/>
        </p:spPr>
      </p:sp>
      <p:sp>
        <p:nvSpPr>
          <p:cNvPr id="29" name="Shape 27"/>
          <p:cNvSpPr/>
          <p:nvPr/>
        </p:nvSpPr>
        <p:spPr>
          <a:xfrm>
            <a:off x="2011680" y="3712981"/>
            <a:ext cx="320040" cy="584699"/>
          </a:xfrm>
          <a:prstGeom prst="roundRect">
            <a:avLst>
              <a:gd name="adj" fmla="val 8571"/>
            </a:avLst>
          </a:prstGeom>
          <a:solidFill>
            <a:srgbClr val="00D4AA"/>
          </a:solidFill>
          <a:ln/>
        </p:spPr>
      </p:sp>
      <p:sp>
        <p:nvSpPr>
          <p:cNvPr id="30" name="Shape 28"/>
          <p:cNvSpPr/>
          <p:nvPr/>
        </p:nvSpPr>
        <p:spPr>
          <a:xfrm>
            <a:off x="2468880" y="3810165"/>
            <a:ext cx="320040" cy="487515"/>
          </a:xfrm>
          <a:prstGeom prst="roundRect">
            <a:avLst>
              <a:gd name="adj" fmla="val 8571"/>
            </a:avLst>
          </a:prstGeom>
          <a:solidFill>
            <a:srgbClr val="00D4AA"/>
          </a:solidFill>
          <a:ln/>
        </p:spPr>
      </p:sp>
      <p:sp>
        <p:nvSpPr>
          <p:cNvPr id="31" name="Shape 29"/>
          <p:cNvSpPr/>
          <p:nvPr/>
        </p:nvSpPr>
        <p:spPr>
          <a:xfrm>
            <a:off x="3383280" y="201168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383280" y="2011680"/>
            <a:ext cx="2743200" cy="36576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3" name="Text 31"/>
          <p:cNvSpPr/>
          <p:nvPr/>
        </p:nvSpPr>
        <p:spPr>
          <a:xfrm>
            <a:off x="352044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Knowledge Gaps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3520440" y="2468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Zero-result queries exposed as documentation backlog · search health indicator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566160" y="3715068"/>
            <a:ext cx="320040" cy="582612"/>
          </a:xfrm>
          <a:prstGeom prst="roundRect">
            <a:avLst>
              <a:gd name="adj" fmla="val 8571"/>
            </a:avLst>
          </a:prstGeom>
          <a:solidFill>
            <a:srgbClr val="EF4444"/>
          </a:solidFill>
          <a:ln/>
        </p:spPr>
      </p:sp>
      <p:sp>
        <p:nvSpPr>
          <p:cNvPr id="36" name="Shape 34"/>
          <p:cNvSpPr/>
          <p:nvPr/>
        </p:nvSpPr>
        <p:spPr>
          <a:xfrm>
            <a:off x="4023360" y="4067247"/>
            <a:ext cx="320040" cy="230433"/>
          </a:xfrm>
          <a:prstGeom prst="roundRect">
            <a:avLst>
              <a:gd name="adj" fmla="val 11905"/>
            </a:avLst>
          </a:prstGeom>
          <a:solidFill>
            <a:srgbClr val="EF4444"/>
          </a:solidFill>
          <a:ln/>
        </p:spPr>
      </p:sp>
      <p:sp>
        <p:nvSpPr>
          <p:cNvPr id="37" name="Shape 35"/>
          <p:cNvSpPr/>
          <p:nvPr/>
        </p:nvSpPr>
        <p:spPr>
          <a:xfrm>
            <a:off x="4480560" y="3930921"/>
            <a:ext cx="320040" cy="366759"/>
          </a:xfrm>
          <a:prstGeom prst="roundRect">
            <a:avLst>
              <a:gd name="adj" fmla="val 8571"/>
            </a:avLst>
          </a:prstGeom>
          <a:solidFill>
            <a:srgbClr val="EF4444"/>
          </a:solidFill>
          <a:ln/>
        </p:spPr>
      </p:sp>
      <p:sp>
        <p:nvSpPr>
          <p:cNvPr id="38" name="Shape 36"/>
          <p:cNvSpPr/>
          <p:nvPr/>
        </p:nvSpPr>
        <p:spPr>
          <a:xfrm>
            <a:off x="4937760" y="3741768"/>
            <a:ext cx="320040" cy="555912"/>
          </a:xfrm>
          <a:prstGeom prst="roundRect">
            <a:avLst>
              <a:gd name="adj" fmla="val 8571"/>
            </a:avLst>
          </a:prstGeom>
          <a:solidFill>
            <a:srgbClr val="EF4444"/>
          </a:solidFill>
          <a:ln/>
        </p:spPr>
      </p:sp>
      <p:sp>
        <p:nvSpPr>
          <p:cNvPr id="39" name="Shape 37"/>
          <p:cNvSpPr/>
          <p:nvPr/>
        </p:nvSpPr>
        <p:spPr>
          <a:xfrm>
            <a:off x="5394960" y="3922281"/>
            <a:ext cx="320040" cy="375399"/>
          </a:xfrm>
          <a:prstGeom prst="roundRect">
            <a:avLst>
              <a:gd name="adj" fmla="val 8571"/>
            </a:avLst>
          </a:prstGeom>
          <a:solidFill>
            <a:srgbClr val="EF4444"/>
          </a:solidFill>
          <a:ln/>
        </p:spPr>
      </p:sp>
      <p:sp>
        <p:nvSpPr>
          <p:cNvPr id="40" name="Shape 38"/>
          <p:cNvSpPr/>
          <p:nvPr/>
        </p:nvSpPr>
        <p:spPr>
          <a:xfrm>
            <a:off x="6309360" y="2011680"/>
            <a:ext cx="2743200" cy="256032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09360" y="2011680"/>
            <a:ext cx="2743200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42" name="Text 40"/>
          <p:cNvSpPr/>
          <p:nvPr/>
        </p:nvSpPr>
        <p:spPr>
          <a:xfrm>
            <a:off x="6446520" y="21031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Source Breakdown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446520" y="24688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usage by source with % bars · reveals where team searches most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492240" y="3852989"/>
            <a:ext cx="320040" cy="444691"/>
          </a:xfrm>
          <a:prstGeom prst="roundRect">
            <a:avLst>
              <a:gd name="adj" fmla="val 8571"/>
            </a:avLst>
          </a:prstGeom>
          <a:solidFill>
            <a:srgbClr val="818CF8"/>
          </a:solidFill>
          <a:ln/>
        </p:spPr>
      </p:sp>
      <p:sp>
        <p:nvSpPr>
          <p:cNvPr id="45" name="Shape 43"/>
          <p:cNvSpPr/>
          <p:nvPr/>
        </p:nvSpPr>
        <p:spPr>
          <a:xfrm>
            <a:off x="6949440" y="3662787"/>
            <a:ext cx="320040" cy="634893"/>
          </a:xfrm>
          <a:prstGeom prst="roundRect">
            <a:avLst>
              <a:gd name="adj" fmla="val 8571"/>
            </a:avLst>
          </a:prstGeom>
          <a:solidFill>
            <a:srgbClr val="818CF8"/>
          </a:solidFill>
          <a:ln/>
        </p:spPr>
      </p:sp>
      <p:sp>
        <p:nvSpPr>
          <p:cNvPr id="46" name="Shape 44"/>
          <p:cNvSpPr/>
          <p:nvPr/>
        </p:nvSpPr>
        <p:spPr>
          <a:xfrm>
            <a:off x="7406640" y="3746302"/>
            <a:ext cx="320040" cy="551378"/>
          </a:xfrm>
          <a:prstGeom prst="roundRect">
            <a:avLst>
              <a:gd name="adj" fmla="val 8571"/>
            </a:avLst>
          </a:prstGeom>
          <a:solidFill>
            <a:srgbClr val="818CF8"/>
          </a:solidFill>
          <a:ln/>
        </p:spPr>
      </p:sp>
      <p:sp>
        <p:nvSpPr>
          <p:cNvPr id="47" name="Shape 45"/>
          <p:cNvSpPr/>
          <p:nvPr/>
        </p:nvSpPr>
        <p:spPr>
          <a:xfrm>
            <a:off x="7863840" y="4092886"/>
            <a:ext cx="320040" cy="204794"/>
          </a:xfrm>
          <a:prstGeom prst="roundRect">
            <a:avLst>
              <a:gd name="adj" fmla="val 13395"/>
            </a:avLst>
          </a:prstGeom>
          <a:solidFill>
            <a:srgbClr val="818CF8"/>
          </a:solidFill>
          <a:ln/>
        </p:spPr>
      </p:sp>
      <p:sp>
        <p:nvSpPr>
          <p:cNvPr id="48" name="Shape 46"/>
          <p:cNvSpPr/>
          <p:nvPr/>
        </p:nvSpPr>
        <p:spPr>
          <a:xfrm>
            <a:off x="8321040" y="3973067"/>
            <a:ext cx="320040" cy="324613"/>
          </a:xfrm>
          <a:prstGeom prst="roundRect">
            <a:avLst>
              <a:gd name="adj" fmla="val 8571"/>
            </a:avLst>
          </a:prstGeom>
          <a:solidFill>
            <a:srgbClr val="818CF8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10D98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Improvements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0D1F35"/>
          </a:solidFill>
          <a:ln w="9525">
            <a:solidFill>
              <a:srgbClr val="1A305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961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Load — MongoDB Query Parallelisation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123444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(sequential):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926080" y="1261872"/>
            <a:ext cx="5029200" cy="182880"/>
          </a:xfrm>
          <a:prstGeom prst="roundRect">
            <a:avLst>
              <a:gd name="adj" fmla="val 20000"/>
            </a:avLst>
          </a:prstGeom>
          <a:solidFill>
            <a:srgbClr val="F43F5E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1261872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~4× DB round-trips in series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640080" y="148132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(asyncio.gather):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926080" y="1508760"/>
            <a:ext cx="1371600" cy="182880"/>
          </a:xfrm>
          <a:prstGeom prst="roundRect">
            <a:avLst>
              <a:gd name="adj" fmla="val 20000"/>
            </a:avLst>
          </a:prstGeom>
          <a:solidFill>
            <a:srgbClr val="10D98A"/>
          </a:solidFill>
          <a:ln/>
        </p:spPr>
      </p:sp>
      <p:sp>
        <p:nvSpPr>
          <p:cNvPr id="12" name="Text 10"/>
          <p:cNvSpPr/>
          <p:nvPr/>
        </p:nvSpPr>
        <p:spPr>
          <a:xfrm>
            <a:off x="2926080" y="1508760"/>
            <a:ext cx="13716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~1× wall-clock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434840" y="1536192"/>
            <a:ext cx="27432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queries fire simultaneously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" y="201168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0D1F35"/>
          </a:solidFill>
          <a:ln w="9525">
            <a:solidFill>
              <a:srgbClr val="1A30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148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  5-min TTL Cache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248716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Health, Risk, Gaps, Coverage, Experts endpoints all cached — repeat loads instant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201168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0D1F35"/>
          </a:solidFill>
          <a:ln w="9525">
            <a:solidFill>
              <a:srgbClr val="1A30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21488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Velocity Date Parsing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029200" y="248716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BSON Date and ISO string dates handled — eliminates empty chart on all environments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29184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0D1F35"/>
          </a:solidFill>
          <a:ln w="9525">
            <a:solidFill>
              <a:srgbClr val="1A30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3429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  Experts At Risk Count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37673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computed via MongoDB aggregation pipeline rather than separate API call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46320" y="329184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0D1F35"/>
          </a:solidFill>
          <a:ln w="9525">
            <a:solidFill>
              <a:srgbClr val="1A305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0" y="34290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🏷  SME Type Classification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029200" y="3767328"/>
            <a:ext cx="3749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regex in sme_ranker.py — single source of truth, no divergence between endpoints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7111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00D4A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2E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Production State — v3.1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82296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0D1F35"/>
          </a:solidFill>
          <a:ln w="9525">
            <a:solidFill>
              <a:srgbClr val="1A30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22960"/>
            <a:ext cx="2011680" cy="36576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914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57200" y="12618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2,111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51760" y="82296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0D1F35"/>
          </a:solidFill>
          <a:ln w="9525">
            <a:solidFill>
              <a:srgbClr val="1A30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651760" y="822960"/>
            <a:ext cx="2011680" cy="36576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12" name="Text 10"/>
          <p:cNvSpPr/>
          <p:nvPr/>
        </p:nvSpPr>
        <p:spPr>
          <a:xfrm>
            <a:off x="2651760" y="914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651760" y="12618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588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2651760" y="1691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46320" y="82296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0D1F35"/>
          </a:solidFill>
          <a:ln w="9525">
            <a:solidFill>
              <a:srgbClr val="1A30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46320" y="822960"/>
            <a:ext cx="2011680" cy="36576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7" name="Text 15"/>
          <p:cNvSpPr/>
          <p:nvPr/>
        </p:nvSpPr>
        <p:spPr>
          <a:xfrm>
            <a:off x="4846320" y="914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846320" y="12618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4846320" y="1691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40880" y="822960"/>
            <a:ext cx="2011680" cy="1188720"/>
          </a:xfrm>
          <a:prstGeom prst="roundRect">
            <a:avLst>
              <a:gd name="adj" fmla="val 7692"/>
            </a:avLst>
          </a:prstGeom>
          <a:solidFill>
            <a:srgbClr val="0D1F35"/>
          </a:solidFill>
          <a:ln w="9525">
            <a:solidFill>
              <a:srgbClr val="1A30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040880" y="822960"/>
            <a:ext cx="2011680" cy="36576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2" name="Text 20"/>
          <p:cNvSpPr/>
          <p:nvPr/>
        </p:nvSpPr>
        <p:spPr>
          <a:xfrm>
            <a:off x="7040880" y="914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7040880" y="1261872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040880" y="169164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57200" y="21488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2,789 total documents indexed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4572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BM25 Full-text Search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74720" y="2679192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10D98A"/>
          </a:solidFill>
          <a:ln w="6350">
            <a:solidFill>
              <a:srgbClr val="10D98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67919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30632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Confluence 1.2× Source Boost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474720" y="3136392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10D98A"/>
          </a:solidFill>
          <a:ln w="6350">
            <a:solidFill>
              <a:srgbClr val="10D98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474720" y="313639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57200" y="35204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Ranking + Vendor Classification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474720" y="3593592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00D4AA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359359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Fixed in v3.1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57200" y="39776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Person-Query Intent Detection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474720" y="4050792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00D4AA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474720" y="405079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New in v3.1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457200" y="44348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Intelligence: Risk / Gaps / Velocity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74720" y="4507992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10D98A"/>
          </a:solidFill>
          <a:ln w="6350">
            <a:solidFill>
              <a:srgbClr val="10D9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474720" y="450799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50292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Handover Tracker (MongoDB-persisted)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8046720" y="2679192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10D98A"/>
          </a:solidFill>
          <a:ln w="6350">
            <a:solidFill>
              <a:srgbClr val="10D98A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046720" y="267919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5029200" y="30632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Coverage Score A–F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8046720" y="3136392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10D98A"/>
          </a:solidFill>
          <a:ln w="6350">
            <a:solidFill>
              <a:srgbClr val="10D98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046720" y="313639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D9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Live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5029200" y="35204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Analytics Dashboard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8046720" y="3593592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00D4AA"/>
          </a:solidFill>
          <a:ln w="6350">
            <a:solidFill>
              <a:srgbClr val="00D4AA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046720" y="359359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D4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Enhanced v3.1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5029200" y="39776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8A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Connector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046720" y="4050792"/>
            <a:ext cx="1280160" cy="237744"/>
          </a:xfrm>
          <a:prstGeom prst="roundRect">
            <a:avLst>
              <a:gd name="adj" fmla="val 19231"/>
            </a:avLst>
          </a:prstGeom>
          <a:solidFill>
            <a:srgbClr val="94A3B8"/>
          </a:solidFill>
          <a:ln w="6350">
            <a:solidFill>
              <a:srgbClr val="94A3B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046720" y="4050792"/>
            <a:ext cx="12801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🔲 Q2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EKM Release Notes v3.1</dc:title>
  <dc:subject>PptxGenJS Presentation</dc:subject>
  <dc:creator>PptxGenJS</dc:creator>
  <cp:lastModifiedBy>PptxGenJS</cp:lastModifiedBy>
  <cp:revision>1</cp:revision>
  <dcterms:created xsi:type="dcterms:W3CDTF">2026-03-07T18:20:13Z</dcterms:created>
  <dcterms:modified xsi:type="dcterms:W3CDTF">2026-03-07T18:20:13Z</dcterms:modified>
</cp:coreProperties>
</file>