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4389120" cy="6629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75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EKM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BAE6FD"/>
                </a:solidFill>
              </a:rPr>
              <a:t>Enterprise Knowledge Management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664208"/>
            <a:ext cx="329184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One Search.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Every Source.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Zero Silos.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02920" y="4544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Jira  ·  Confluence  ·  SharePoint  ·  GitHub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502920"/>
            <a:ext cx="4023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502920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5760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20%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937760" y="987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of work time wasted searching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1600200"/>
            <a:ext cx="4023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600200"/>
            <a:ext cx="64008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16733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</a:rPr>
              <a:t>4+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93776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disconnected tools per employee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2697480"/>
            <a:ext cx="4023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269748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27706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60%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93776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knowledge lost when SMEs leave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3794760"/>
            <a:ext cx="402336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3794760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37760" y="38679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2 days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493776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 compile evidence for audit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54880" y="48006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MVP v3.1  ·  March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12928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129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Knowledge is trapped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in silos — and it's costing you.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20574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51560" y="1755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EF4444"/>
                </a:solidFill>
              </a:rPr>
              <a:t>CRITICAL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Lost in Four Tools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688336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Engineers search Jira, Confluence, SharePoint and GitHub separately for every answer. The right document is always in the last place they look.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1572768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572768"/>
            <a:ext cx="20574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00400" y="1755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F97316"/>
                </a:solidFill>
              </a:rPr>
              <a:t>HIGH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606040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SME Dependency Risk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2688336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Critical knowledge lives in one person's head. When they leave — or when a vendor contract ends — it walks out the door with them.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572768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572768"/>
            <a:ext cx="20574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49240" y="1755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F97316"/>
                </a:solidFill>
              </a:rPr>
              <a:t>HIGH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Audit Exposure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2688336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Regulators ask for documentation. Someone spends 2 days manually hunting across 4 tools. Evidence is incomplete. Deadlines are missed.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1572768"/>
            <a:ext cx="2057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572768"/>
            <a:ext cx="20574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498080" y="1755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</a:rPr>
              <a:t>MEDIUM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903720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5F"/>
                </a:solidFill>
              </a:rPr>
              <a:t>Slow Onboarding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903720" y="2688336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New joiners take 3–6 months to become productive. There is no structured learning path. They interrupt senior engineers with questions that are already answered somewhere.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01168"/>
            <a:ext cx="144018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1168"/>
            <a:ext cx="144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BUSINESS IMPACT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cost of fragmented knowledge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E6FD"/>
                </a:solidFill>
              </a:rPr>
              <a:t>Quantified. Per team. Every year.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1965960" cy="3246120"/>
          </a:xfrm>
          <a:prstGeom prst="rect">
            <a:avLst/>
          </a:prstGeom>
          <a:solidFill>
            <a:srgbClr val="1A335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0200"/>
            <a:ext cx="1965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F4444"/>
                </a:solidFill>
              </a:rPr>
              <a:t>1 day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2505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 person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 week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1691640" cy="2286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27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at 20% of time = 52 days/yr lost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68880" y="1600200"/>
            <a:ext cx="1965960" cy="3246120"/>
          </a:xfrm>
          <a:prstGeom prst="rect">
            <a:avLst/>
          </a:prstGeom>
          <a:solidFill>
            <a:srgbClr val="1A335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600200"/>
            <a:ext cx="1965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7556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</a:rPr>
              <a:t>£104K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606040" y="2505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 10-person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team / year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06040" y="3063240"/>
            <a:ext cx="1691640" cy="2286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127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at average £200/day fully loaded cost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1600200"/>
            <a:ext cx="1965960" cy="3246120"/>
          </a:xfrm>
          <a:prstGeom prst="rect">
            <a:avLst/>
          </a:prstGeom>
          <a:solidFill>
            <a:srgbClr val="1A335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600200"/>
            <a:ext cx="1965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556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3–6mo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754880" y="2505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new joiner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ramp 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63240"/>
            <a:ext cx="1691640" cy="2286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127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vs. days with structured learning paths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66560" y="1600200"/>
            <a:ext cx="1965960" cy="3246120"/>
          </a:xfrm>
          <a:prstGeom prst="rect">
            <a:avLst/>
          </a:prstGeom>
          <a:solidFill>
            <a:srgbClr val="1A33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600200"/>
            <a:ext cx="19659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7556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D9488"/>
                </a:solidFill>
              </a:rPr>
              <a:t>2 days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6903720" y="25054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 audit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evidence pack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03720" y="3063240"/>
            <a:ext cx="1691640" cy="22860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312724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manual hunting vs. one-click export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0515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ROOT CAUSE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The knowledge exists.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</a:rPr>
              <a:t>It's just invisible.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Four tools. Four silos. No connection between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9260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🎫  Jira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Isolated data store →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46120" y="1965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29260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📖  Confluence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Isolated data store 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46120" y="27889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29260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📋  SharePoint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Isolated data store →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3611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29260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38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💻  GitHub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Isolated data store →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46120" y="4434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0" y="1664208"/>
            <a:ext cx="374904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1664208"/>
            <a:ext cx="64008" cy="3246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</a:rPr>
              <a:t>When knowledge is siloed…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212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Engineers re-solve problems that were already solved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0" y="2660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Institutional knowledge disappears when people leave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Vendor lock-in grows undetected until it's critical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0" y="35570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New joiners struggle for months — productivity lost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2080" y="4005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Audit evidence takes days to compile manually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0" y="4453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✗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Leadership has no visibility into knowledge health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2070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THE SOLUTION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EKM — the knowledge layer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</a:rPr>
              <a:t>your organisation already needs.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8503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62763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query  ·  Every source  ·  Ranked results  ·  People who know  ·  Intelligence on top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95728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42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Unified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511296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BM25 relevance search across Jira, Confluence, SharePoint and GitHub in a single query. SME ranking surfaces who knows what.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72968" y="2395728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2395728"/>
            <a:ext cx="269748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542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10128" y="3090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Intelligence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3511296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10 intelligence tabs: knowledge velocity, risk alerts, documentation gaps, expert tracking, handover packs, coverage scores.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25896" y="2395728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2395728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542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63056" y="30906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Zero-Friction Adoption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63056" y="3511296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Global / keyboard shortcut, shareable new joiner learning paths, Teams deep links, Force Full sync toggle.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90652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9065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BUSINESS ARCHITECTURE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Who it serves. What it enables. Why it matters.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STAKEHOLDERS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16002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8988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9768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Engineer / Developer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9768" y="228600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Find answers fast without context-switching across 4 tools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39112" y="1389888"/>
            <a:ext cx="16002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39112" y="1389888"/>
            <a:ext cx="16002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48840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Team Lead / Manager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48840" y="228600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Understand knowledge health, risk exposure and team coverage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58184" y="1389888"/>
            <a:ext cx="16002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1389888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7912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67912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New Joiner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67912" y="228600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Structured onboarding path for any system without asking someone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77256" y="1389888"/>
            <a:ext cx="16002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7256" y="1389888"/>
            <a:ext cx="16002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6984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86984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Risk &amp; Compliance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86984" y="228600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Audit evidence on demand, vendor dependency visibility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96328" y="1389888"/>
            <a:ext cx="16002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96328" y="1389888"/>
            <a:ext cx="1600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06056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06056" y="19202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Programme / Delivery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06056" y="228600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Handover tracking, expert-at-risk alerts before it's too late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" y="29260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VALUE STREAMS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218688"/>
            <a:ext cx="199339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3218688"/>
            <a:ext cx="1993392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FIND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9768" y="345643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E"/>
                </a:solidFill>
              </a:rPr>
              <a:t>Knowledge Retrieval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9768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1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Employee has a question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9768" y="39044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2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Opens EKM, types query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9768" y="41513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3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BM25 returns ranked results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29768" y="43982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4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SME identified inline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29768" y="4645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5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Answer found in &lt; 30 sec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441448" y="3218688"/>
            <a:ext cx="199339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441448" y="3218688"/>
            <a:ext cx="1993392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51176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 ONBOARD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551176" y="345643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E"/>
                </a:solidFill>
              </a:rPr>
              <a:t>New Joiner Enablement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51176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1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Manager generates learning path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551176" y="39044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2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Shareable URL sent to joiner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551176" y="41513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3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Joiner reads Confluence first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551176" y="43982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4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GitHub + Jira as reference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551176" y="4645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5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Productive in days, not months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62856" y="3218688"/>
            <a:ext cx="199339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62856" y="3218688"/>
            <a:ext cx="1993392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2584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 GOVERN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72584" y="345643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E"/>
                </a:solidFill>
              </a:rPr>
              <a:t>Knowledge Risk Management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72584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1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Risk tab flags vendor SMEs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672584" y="39044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2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Gaps tab shows undocumented systems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672584" y="41513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3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Coverage score tracked weekly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672584" y="43982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4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Handover initiated proactively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672584" y="4645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5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Audit pack generated on demand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684264" y="3218688"/>
            <a:ext cx="1993392" cy="1719072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684264" y="3218688"/>
            <a:ext cx="1993392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93992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 MEASURE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793992" y="3456432"/>
            <a:ext cx="1783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0C4DE"/>
                </a:solidFill>
              </a:rPr>
              <a:t>Knowledge Intelligence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793992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1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Velocity chart shows trends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793992" y="39044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2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Health report tracks freshness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793992" y="4151376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3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Analytics reveal search patterns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793992" y="439826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4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Zero-result gaps surface needs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793992" y="4645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5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Leadership dashboard always live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198424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1168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TECHNICAL ARCHITECTURE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Stack, data model, sync pattern, and deployment.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2029968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Tech Stack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Backend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89888" y="15361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Python 3.11  ·  FastAPI 0.111  ·  Motor (async MongoDB driver)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8379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Database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89888" y="1837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MongoDB 7.0  ·  Full-text index  ·  Compound unique key upsert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1396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Scheduler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89888" y="21396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APScheduler  ·  Configurable interval  ·  Force Full override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Frontend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89888" y="24414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React 18  ·  Vite  ·  Tailwind CSS  ·  React Router v6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Search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89888" y="27432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BM25 (custom)  ·  Fuzzy regex fallback  ·  Field-weighted index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246120"/>
            <a:ext cx="4160520" cy="1719072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4612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375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 Document Schema (MongoDB)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758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_id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481328" y="36758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ObjectId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86000" y="36758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Auto-generated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57200" y="37901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source_type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481328" y="37901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str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286000" y="37901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jira | confluence | sharepoint | github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9044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external_id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481328" y="39044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str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286000" y="39044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Unique key per source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" y="40187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title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481328" y="40187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str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286000" y="40187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Weight 10× in BM25 index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41330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content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481328" y="41330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str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286000" y="41330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Weight 1× — full extracted text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" y="42473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tags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481328" y="42473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list[str]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286000" y="42473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Weight 5× — topics, labels, keys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57200" y="43616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author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481328" y="43616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str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286000" y="43616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[TECH] / [TECH NE] vendor signal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44759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metadata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481328" y="44759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dict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286000" y="44759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Source-specific (assignee, priority…)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5902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entities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481328" y="45902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dict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286000" y="45902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Extracted tickets, CHG, versions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704588"/>
            <a:ext cx="10058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D9488"/>
                </a:solidFill>
              </a:rPr>
              <a:t>updated_at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481328" y="4704588"/>
            <a:ext cx="77724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</a:rPr>
              <a:t>datetime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286000" y="4704588"/>
            <a:ext cx="201168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Used for freshness + velocity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709160" y="1078992"/>
            <a:ext cx="4114800" cy="141732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1078992"/>
            <a:ext cx="41148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Sync Pattern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846320" y="15361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● Incremental (default)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46320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APScheduler fires every N mins. Connector fetches docs updated since last sync. Upserts only changed docs. Fast — typically &lt; 60 sec.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46320" y="19659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● Force Full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846320" y="2167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UI toggle or POST body flag. Ignores change detection. Re-pulls all docs from source. Upserts all. Use after missed updates or config change.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09160" y="2633472"/>
            <a:ext cx="4114800" cy="123444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09160" y="2633472"/>
            <a:ext cx="411480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 Deployment Topology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846320" y="3081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Frontend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06440" y="30815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Vite dev server / Nginx  ·  port 3000  ·  Static build in prod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846320" y="32826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Backend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806440" y="32826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Uvicorn / FastAPI  ·  port 8000  ·  Conda env or Docker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846320" y="34838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MongoDB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06440" y="34838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Existing cluster  ·  No new infrastructure required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846320" y="3685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Proxy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5806440" y="36850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Zscaler / corporate proxy  ·  HTTP_PROXY env var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709160" y="4005072"/>
            <a:ext cx="4114800" cy="960120"/>
          </a:xfrm>
          <a:prstGeom prst="rect">
            <a:avLst/>
          </a:prstGeom>
          <a:solidFill>
            <a:srgbClr val="1A335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709160" y="4005072"/>
            <a:ext cx="4114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46320" y="4096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Security &amp; Auth Posture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846320" y="4425696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Read-only — EKM never writes back to any source system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846320" y="4535424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Auth: PAT tokens per source, stored in .env (never in DB)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846320" y="4645152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Network: all calls via corporate proxy (Zscaler compatible)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846320" y="4754880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SharePoint: Azure AD app registration — IT action required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846320" y="4864608"/>
            <a:ext cx="3794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✓ 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Data at rest: MongoDB within existing corporate perimeter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0F2A1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⚡  Performance:  Search p95 &lt; 200ms  ·  Sync 5,000 docs &lt; 90 sec  ·  Intelligence endpoints &lt; 2 sec  ·  Zero downtime incremental sync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751076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7510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SYSTEM ARCHITECTURE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Components, connectors and data flow — end to end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2608" y="1078992"/>
            <a:ext cx="187452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0789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DATA SOURCES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31720" y="1078992"/>
            <a:ext cx="18745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0789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CONNECTORS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70832" y="1078992"/>
            <a:ext cx="18745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10789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CORE ENGINE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0" y="1078992"/>
            <a:ext cx="1874520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0789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INTELLIGENCE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2608" y="1508760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🎫 Jira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" y="2313432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📖 Confluence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" y="3118104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" y="3209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📋 SharePoint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2608" y="3922776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" y="40142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💻 GitHub GHE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167128" y="269748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2331720" y="1508760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37744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⚡ jira.py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31720" y="2313432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377440" y="24048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⚡ confluence.py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31720" y="3118104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377440" y="32095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⚡ sharepoint.py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31720" y="3922776"/>
            <a:ext cx="18745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377440" y="40142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⚡ github.py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70832" y="1508760"/>
            <a:ext cx="1874520" cy="329184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70832" y="1508760"/>
            <a:ext cx="1874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1664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🍃 MongoDB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480560" y="19293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BM25 Index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80560" y="2194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Text Search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80560" y="2459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5A8A"/>
                </a:solidFill>
              </a:rPr>
              <a:t>─────────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80560" y="27249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FastAPI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80560" y="29900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/search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80560" y="32552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/sync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80560" y="35204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/intelligence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80560" y="3785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5A8A"/>
                </a:solidFill>
              </a:rPr>
              <a:t>─────────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80560" y="4050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APScheduler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80560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E6FD"/>
                </a:solidFill>
              </a:rPr>
              <a:t>Incremental sync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1508760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150876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15361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📊 Analytics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0" y="1929384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00800" y="1929384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19568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📈 Velocity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0" y="2350008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00800" y="2350008"/>
            <a:ext cx="54864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2377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🔴 Risk &amp; Vendors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00800" y="2770632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00800" y="2770632"/>
            <a:ext cx="54864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2798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🕳️ Gaps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00800" y="3191256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400800" y="3191256"/>
            <a:ext cx="548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32186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⚠️ Experts At Risk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00800" y="3611880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400800" y="3611880"/>
            <a:ext cx="54864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36393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📋 Coverage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00800" y="4032504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400800" y="4032504"/>
            <a:ext cx="5486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92240" y="40599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📦 Handover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00800" y="4453128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400800" y="4453128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0" y="4480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🎓 Learning Path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167128" y="30632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06240" y="3063240"/>
            <a:ext cx="16459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45352" y="3063240"/>
            <a:ext cx="15544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167335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1168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INTELLIGENCE LAYER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Beyond search — EKM understands your knowledge.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E6FD"/>
                </a:solidFill>
              </a:rPr>
              <a:t>10 intelligence tabs built entirely on your existing indexed data. No new data sources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02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28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Analytics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Search trends, zero-result gaps, top queries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39112" y="1600200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39112" y="16002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0552" y="1728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30552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Velocity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30552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12-month activity chart, trend up/down per system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58184" y="1600200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16002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9624" y="1728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49624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Risk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9624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Vendor dependency alerts, concentration risk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77256" y="1600200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77256" y="16002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68696" y="1728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68696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Health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68696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Freshness %, Jira↔Confluence link audit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96328" y="1600200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96328" y="1600200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7768" y="17282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🕳️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87768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Gaps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87768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Active systems with zero documentation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264408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26440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11480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Experts At Risk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11480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SMEs inactive 90d+, vendor knowledge risk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039112" y="3264408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039112" y="326440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30552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2130552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Coverage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130552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0–100 score per system, grade A–F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758184" y="3264408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758184" y="326440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9624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3849624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Handover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849624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Full pack + auto-saved checklist progress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77256" y="3264408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77256" y="326440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68696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5568696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People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568696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Contribution profiles, clickable topics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196328" y="3264408"/>
            <a:ext cx="1600200" cy="150876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196328" y="3264408"/>
            <a:ext cx="1600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87768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7287768" y="38496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Learning Path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287768" y="4178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Shareable new joiner URLs, structured reading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237286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237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KNOWLEDGE VELOCITY &amp; HEALTH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See how knowledge grows — or fades — over time.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754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2618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📈  Knowledge Velocity — Last 12 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882683"/>
            <a:ext cx="292608" cy="506437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49808" y="3629465"/>
            <a:ext cx="292608" cy="759655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88136" y="3756074"/>
            <a:ext cx="292608" cy="633046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426464" y="3334043"/>
            <a:ext cx="292608" cy="1055077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26464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764792" y="3038622"/>
            <a:ext cx="292608" cy="1350498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64792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103120" y="3207434"/>
            <a:ext cx="292608" cy="1181686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441448" y="2700997"/>
            <a:ext cx="292608" cy="1688123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41448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79776" y="2912012"/>
            <a:ext cx="292608" cy="1477108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118104" y="2616591"/>
            <a:ext cx="292608" cy="1772529"/>
          </a:xfrm>
          <a:prstGeom prst="rect">
            <a:avLst/>
          </a:prstGeom>
          <a:solidFill>
            <a:srgbClr val="93C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18104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456432" y="2785403"/>
            <a:ext cx="292608" cy="1603717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794760" y="2489982"/>
            <a:ext cx="292608" cy="189913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133088" y="2194560"/>
            <a:ext cx="292608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33088" y="44348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2920" y="4663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📈 +34% trend vs prior quarter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03520" y="1143000"/>
            <a:ext cx="3520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0" y="12618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❤️  Knowledge Health Report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Fresh (&lt; 30 days)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0" y="17830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68%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0" y="2057400"/>
            <a:ext cx="31546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0" y="2057400"/>
            <a:ext cx="2145182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0" y="2404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&lt; 90 days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046720" y="24048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82%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0" y="2679192"/>
            <a:ext cx="31546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2679192"/>
            <a:ext cx="258683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026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Stale (180d+)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046720" y="302666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14%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0" y="3300984"/>
            <a:ext cx="31546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0" y="3300984"/>
            <a:ext cx="441655" cy="182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3648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Jira↔Confluence audit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046720" y="36484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53%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0" y="3922776"/>
            <a:ext cx="31546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0" y="3922776"/>
            <a:ext cx="1671980" cy="182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0" y="4270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Never searched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046720" y="427024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22%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0" y="4544568"/>
            <a:ext cx="315468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0" y="4544568"/>
            <a:ext cx="69403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1595628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1168"/>
            <a:ext cx="1595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RISK INTELLIGENCE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Know before it becomes a crisis.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AE6FD"/>
                </a:solidFill>
              </a:rPr>
              <a:t>EKM detects vendor dependency, knowledge concentration, and expert attrition — automatically.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685800"/>
          </a:xfrm>
          <a:prstGeom prst="rect">
            <a:avLst/>
          </a:prstGeom>
          <a:solidFill>
            <a:srgbClr val="1A335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64008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🔴 CRITICAL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956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ALL top contributors are [TECH NE] — external vendor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AE6FD"/>
                </a:solidFill>
              </a:rPr>
              <a:t>→ Immediate knowledge transfer required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8503920" cy="685800"/>
          </a:xfrm>
          <a:prstGeom prst="rect">
            <a:avLst/>
          </a:prstGeom>
          <a:solidFill>
            <a:srgbClr val="1A335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77440"/>
            <a:ext cx="64008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🟠 HIGH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761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Majority [TECH NE] — thin internal coverage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24505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AE6FD"/>
                </a:solidFill>
              </a:rPr>
              <a:t>→ Schedule knowledge handover sessions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182112"/>
            <a:ext cx="8503920" cy="685800"/>
          </a:xfrm>
          <a:prstGeom prst="rect">
            <a:avLst/>
          </a:prstGeom>
          <a:solidFill>
            <a:srgbClr val="1A335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82112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552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🟡 MEDIUM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Mixed internal/vendor, sole topic owner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32552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AE6FD"/>
                </a:solidFill>
              </a:rPr>
              <a:t>→ Document and cross-train one internal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986784"/>
            <a:ext cx="8503920" cy="685800"/>
          </a:xfrm>
          <a:prstGeom prst="rect">
            <a:avLst/>
          </a:prstGeom>
          <a:solidFill>
            <a:srgbClr val="1A335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86784"/>
            <a:ext cx="6400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599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🟢 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3708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Majority [TECH] — knowledge retained internally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6360" y="40599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AE6FD"/>
                </a:solidFill>
              </a:rPr>
              <a:t>→ Maintain regular documentation cadence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51790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HANDOVER TRACKER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Turn risk alerts into completed actions.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</a:rPr>
              <a:t>When EKM flags an expert at risk — the Handover Tracker turns that signal into a structured, trackable handover.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08760"/>
            <a:ext cx="53035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3619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Handover Pack — Patel, Rohan [TECH NE]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029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Progress: 8/14 complete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0299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57%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40864"/>
            <a:ext cx="493776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40864"/>
            <a:ext cx="2814523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33472"/>
            <a:ext cx="502920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33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670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📖  Payments Pipeline Architecture.confluence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99232"/>
            <a:ext cx="502920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30358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📖  BIC ETL Processing — Design Doc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364992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401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📖  CGME Dashboard Setup Guide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730752"/>
            <a:ext cx="502920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" y="3767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🎫  PROJ-4821 — Assign to new owner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096512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🎫  PROJ-5103 — Escalation required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462272"/>
            <a:ext cx="5029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462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" y="44988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💻  github/bic-etl-processing — handover note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52160" y="1508760"/>
            <a:ext cx="297180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52160" y="1508760"/>
            <a:ext cx="64008" cy="3474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664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E6FD"/>
                </a:solidFill>
              </a:rPr>
              <a:t>Why this matters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208483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🔵  Vendor SMEs carry knowledge that has no internal equivalent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25603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⚡  Contract ends = knowledge gone, unless documented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30358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📋  Structured checklist ensures nothing is missed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35112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💾  Progress auto-saved to MongoDB — survives page reload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35040" y="39867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🤝  Teams button — message them directly from the pack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35040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📊  % complete visible to managers and programme leads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159562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1595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ADOPTION FEATURES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Built for the people who actually use it.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4300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🎓  New Joiner Shareable URL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Manager creates a learning path once.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Shares a URL. No login required.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7490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22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ekm.internal/join/payments-pipeline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61488"/>
            <a:ext cx="37490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07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✓ 📖  Read First — Confluence docs (5 items)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182112"/>
            <a:ext cx="37490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27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✓ 📋  Process Docs — SharePoint runbooks (3 items)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3749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○ 💻  Code Reference — GitHub READMEs (4 items)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3749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69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</a:rPr>
              <a:t>○ 🎫  Related Tickets — Jira reference (collapsed)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553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Progress bar · Completion banner · Copy link button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143000"/>
            <a:ext cx="416052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14300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Global / Keyboard Search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</a:rPr>
              <a:t>Press  /  from anywhere in the app.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057400"/>
            <a:ext cx="384048" cy="384048"/>
          </a:xfrm>
          <a:prstGeom prst="rect">
            <a:avLst/>
          </a:prstGeom>
          <a:solidFill>
            <a:srgbClr val="2D5A8A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/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800600" y="2542032"/>
            <a:ext cx="3794760" cy="2331720"/>
          </a:xfrm>
          <a:prstGeom prst="rect">
            <a:avLst/>
          </a:prstGeom>
          <a:solidFill>
            <a:srgbClr val="0F1F35"/>
          </a:solidFill>
          <a:ln w="12700">
            <a:solidFill>
              <a:srgbClr val="2D5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633472"/>
            <a:ext cx="3703320" cy="347472"/>
          </a:xfrm>
          <a:prstGeom prst="rect">
            <a:avLst/>
          </a:prstGeom>
          <a:solidFill>
            <a:srgbClr val="1A3352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679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E6FD"/>
                </a:solidFill>
              </a:rPr>
              <a:t>🔍  payments pipeline...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090672"/>
            <a:ext cx="3703320" cy="329184"/>
          </a:xfrm>
          <a:prstGeom prst="rect">
            <a:avLst/>
          </a:prstGeom>
          <a:solidFill>
            <a:srgbClr val="1A335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1363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📖  Payments Processing Architecture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589520" y="3136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Confluence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46320" y="3511296"/>
            <a:ext cx="3703320" cy="329184"/>
          </a:xfrm>
          <a:prstGeom prst="rect">
            <a:avLst/>
          </a:prstGeom>
          <a:solidFill>
            <a:srgbClr val="0F1F35"/>
          </a:solidFill>
          <a:ln w="12700">
            <a:solidFill>
              <a:srgbClr val="1A33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557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🎫  PROJ-4821 — Pipeline timeout fix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89520" y="3557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Jira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46320" y="3931920"/>
            <a:ext cx="3703320" cy="329184"/>
          </a:xfrm>
          <a:prstGeom prst="rect">
            <a:avLst/>
          </a:prstGeom>
          <a:solidFill>
            <a:srgbClr val="0F1F35"/>
          </a:solidFill>
          <a:ln w="12700">
            <a:solidFill>
              <a:srgbClr val="1A33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977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💻  bic-etl-processing/main.py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89520" y="3977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GitHub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4352544"/>
            <a:ext cx="3703320" cy="329184"/>
          </a:xfrm>
          <a:prstGeom prst="rect">
            <a:avLst/>
          </a:prstGeom>
          <a:solidFill>
            <a:srgbClr val="0F1F35"/>
          </a:solidFill>
          <a:ln w="12700">
            <a:solidFill>
              <a:srgbClr val="1A33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3982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📋  Payments Runbook v3.docx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589520" y="43982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SharePoint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00600" y="4754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↑↓ navigate  ·  ↵ open  ·  Esc close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201168"/>
            <a:ext cx="12070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0116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IMPACT &amp; ROI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EKM delivers — measurably.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3444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 day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reclaimed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 person/week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20% of working time returned to productive work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54680" y="123444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234440"/>
            <a:ext cx="26060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£100K+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saved per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10-person team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Fully loaded cost recovery at £200/day average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89320" y="123444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23444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Days→Min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2648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audit evidence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compile time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System name → full evidence pack in one click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01752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17520"/>
            <a:ext cx="26060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54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0584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3–6mo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720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→ weeks new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joiner ramp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Structured learning paths, shareable URLs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54680" y="301752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54680" y="301752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154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84048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Zero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29184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undetected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vendor exits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9184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Real-time risk alerts for SMEs and vendors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89320" y="3017520"/>
            <a:ext cx="2606040" cy="1572768"/>
          </a:xfrm>
          <a:prstGeom prst="rect">
            <a:avLst/>
          </a:prstGeom>
          <a:solidFill>
            <a:srgbClr val="1A3352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89320" y="3017520"/>
            <a:ext cx="260604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154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🔭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675120" y="31546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D28D9"/>
                </a:solidFill>
              </a:rPr>
              <a:t>100%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126480" y="3657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knowledge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visibility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Every system, scored, graded, and tracked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3716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EKM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"/>
            <a:ext cx="81838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"/>
            <a:ext cx="8183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ROADMAP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5303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</a:rPr>
              <a:t>Built in phases. Delivered iteratively.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43000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89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DF4"/>
                </a:solidFill>
              </a:rPr>
              <a:t>MVP — COMPLETE ✅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Unified BM25 search — 4 sources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185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SME ranking + entity extraction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GitHub 4-signal code intelligence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Analytics, Risk, Health, Coverage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5295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Knowledge Velocity + Handover Tracker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Global / search + Shareable URLs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425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Force Full Sync UI toggle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11430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143000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170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1389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Search Quality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Vector / semantic search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2185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Query autocomplete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2633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Highlighted result snippets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Saved searches + alerts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37560" y="35295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Weekly knowledge digest email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Jira webhook → doc check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37560" y="4425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Export to PDF / PowerPoint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11430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143000"/>
            <a:ext cx="274320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1704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13898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</a:rPr>
              <a:t>Enterprise &amp; Security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SSO via Azure AD / Okta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7920" y="21854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SharePoint Azure AD registration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17920" y="2633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Per-user permission filtering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Audit logging (GDPR)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0" y="35295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Role-based access (admin/viewer)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1792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Data retention policy config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0" y="4425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○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ServiceNow connector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206240"/>
            <a:ext cx="5029200" cy="9372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3891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EKM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BAE6FD"/>
                </a:solidFill>
              </a:rPr>
              <a:t>Enterprise Knowledge Management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673352"/>
            <a:ext cx="3931920" cy="27432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87452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knowledge layer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your organisation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already needs.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42702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Jira  ·  Confluence  ·  SharePoint  ·  GitHub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49240" y="502920"/>
            <a:ext cx="3520440" cy="96012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49240" y="50292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50292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43600" y="576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 the Demo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0" y="9144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Live environment running on your Jira, Confluence and GitHub data — available now.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349240" y="1600200"/>
            <a:ext cx="3520440" cy="96012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49240" y="160020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16002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43600" y="1673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Define Scope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20116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Agree which teams, spaces and repositories to prioritise for full rollout.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349240" y="2697480"/>
            <a:ext cx="3520440" cy="96012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49240" y="269748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49240" y="269748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943600" y="2770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SharePoint Access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0" y="3108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IT to register Azure AD app — one-time setup, then full SharePoint indexing.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349240" y="3794760"/>
            <a:ext cx="3520440" cy="960120"/>
          </a:xfrm>
          <a:prstGeom prst="rect">
            <a:avLst/>
          </a:prstGeom>
          <a:solidFill>
            <a:srgbClr val="1A3352"/>
          </a:solidFill>
          <a:ln w="12700">
            <a:solidFill>
              <a:srgbClr val="2D5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349240" y="3794760"/>
            <a:ext cx="50292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49240" y="379476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943600" y="3867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Production Deploy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43600" y="420624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Docker or conda deployment. Runs on existing infrastructure. No new SaaS contracts.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349240" y="48737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Built for Citi  ·  MVP v3.1  ·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— Enterprise Knowledge Management</dc:title>
  <dc:subject>PptxGenJS Presentation</dc:subject>
  <dc:creator>EKM Team</dc:creator>
  <cp:lastModifiedBy>EKM Team</cp:lastModifiedBy>
  <cp:revision>1</cp:revision>
  <dcterms:created xsi:type="dcterms:W3CDTF">2026-03-07T18:21:59Z</dcterms:created>
  <dcterms:modified xsi:type="dcterms:W3CDTF">2026-03-07T18:21:59Z</dcterms:modified>
</cp:coreProperties>
</file>