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0"/>
            <a:ext cx="1216152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EKM — Business Architecture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772400" y="16459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5EEAD4"/>
                </a:solidFill>
              </a:rPr>
              <a:t>Stakeholders · Value Streams · Capabilities · Outcomes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28600" y="713232"/>
            <a:ext cx="11704320" cy="1481328"/>
          </a:xfrm>
          <a:prstGeom prst="rect">
            <a:avLst/>
          </a:prstGeom>
          <a:solidFill>
            <a:srgbClr val="FFF7ED"/>
          </a:solidFill>
          <a:ln w="19050">
            <a:solidFill>
              <a:srgbClr val="FED7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74980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97316"/>
                </a:solidFill>
              </a:rPr>
              <a:t>MOTIVATION LAYER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2103120" cy="1005840"/>
          </a:xfrm>
          <a:prstGeom prst="rect">
            <a:avLst/>
          </a:prstGeom>
          <a:solidFill>
            <a:srgbClr val="FFFFFF"/>
          </a:solidFill>
          <a:ln w="15240">
            <a:solidFill>
              <a:srgbClr val="FED7A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1024128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5F"/>
                </a:solidFill>
              </a:rPr>
              <a:t>🔍 Find Knowledge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225296"/>
            <a:ext cx="1965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475569"/>
                </a:solidFill>
              </a:rPr>
              <a:t>Engineers locate answers</a:t>
            </a:r>
            <a:endParaRPr lang="en-US" sz="750" dirty="0"/>
          </a:p>
          <a:p>
            <a:pPr algn="ctr" indent="0" marL="0">
              <a:buNone/>
            </a:pPr>
            <a:r>
              <a:rPr lang="en-US" sz="750" i="1" dirty="0">
                <a:solidFill>
                  <a:srgbClr val="475569"/>
                </a:solidFill>
              </a:rPr>
              <a:t>without tool-switching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651760" y="960120"/>
            <a:ext cx="2103120" cy="1005840"/>
          </a:xfrm>
          <a:prstGeom prst="rect">
            <a:avLst/>
          </a:prstGeom>
          <a:solidFill>
            <a:srgbClr val="FFFFFF"/>
          </a:solidFill>
          <a:ln w="15240">
            <a:solidFill>
              <a:srgbClr val="FED7A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743200" y="1024128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5F"/>
                </a:solidFill>
              </a:rPr>
              <a:t>🛡️ Govern Risk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743200" y="1225296"/>
            <a:ext cx="1965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475569"/>
                </a:solidFill>
              </a:rPr>
              <a:t>Vendor dependency</a:t>
            </a:r>
            <a:endParaRPr lang="en-US" sz="750" dirty="0"/>
          </a:p>
          <a:p>
            <a:pPr algn="ctr" indent="0" marL="0">
              <a:buNone/>
            </a:pPr>
            <a:r>
              <a:rPr lang="en-US" sz="750" i="1" dirty="0">
                <a:solidFill>
                  <a:srgbClr val="475569"/>
                </a:solidFill>
              </a:rPr>
              <a:t>and audit evidence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937760" y="960120"/>
            <a:ext cx="2103120" cy="1005840"/>
          </a:xfrm>
          <a:prstGeom prst="rect">
            <a:avLst/>
          </a:prstGeom>
          <a:solidFill>
            <a:srgbClr val="FFFFFF"/>
          </a:solidFill>
          <a:ln w="15240">
            <a:solidFill>
              <a:srgbClr val="FED7A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29200" y="1024128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5F"/>
                </a:solidFill>
              </a:rPr>
              <a:t>🎓 Onboard Fast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0" y="1225296"/>
            <a:ext cx="1965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475569"/>
                </a:solidFill>
              </a:rPr>
              <a:t>New joiners productive</a:t>
            </a:r>
            <a:endParaRPr lang="en-US" sz="750" dirty="0"/>
          </a:p>
          <a:p>
            <a:pPr algn="ctr" indent="0" marL="0">
              <a:buNone/>
            </a:pPr>
            <a:r>
              <a:rPr lang="en-US" sz="750" i="1" dirty="0">
                <a:solidFill>
                  <a:srgbClr val="475569"/>
                </a:solidFill>
              </a:rPr>
              <a:t>in days, not months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7223760" y="960120"/>
            <a:ext cx="2103120" cy="1005840"/>
          </a:xfrm>
          <a:prstGeom prst="rect">
            <a:avLst/>
          </a:prstGeom>
          <a:solidFill>
            <a:srgbClr val="FFFFFF"/>
          </a:solidFill>
          <a:ln w="15240">
            <a:solidFill>
              <a:srgbClr val="FED7A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315200" y="1024128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5F"/>
                </a:solidFill>
              </a:rPr>
              <a:t>📈 Measure Health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15200" y="1225296"/>
            <a:ext cx="1965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475569"/>
                </a:solidFill>
              </a:rPr>
              <a:t>Coverage, velocity</a:t>
            </a:r>
            <a:endParaRPr lang="en-US" sz="750" dirty="0"/>
          </a:p>
          <a:p>
            <a:pPr algn="ctr" indent="0" marL="0">
              <a:buNone/>
            </a:pPr>
            <a:r>
              <a:rPr lang="en-US" sz="750" i="1" dirty="0">
                <a:solidFill>
                  <a:srgbClr val="475569"/>
                </a:solidFill>
              </a:rPr>
              <a:t>and freshness signals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9509760" y="960120"/>
            <a:ext cx="2103120" cy="1005840"/>
          </a:xfrm>
          <a:prstGeom prst="rect">
            <a:avLst/>
          </a:prstGeom>
          <a:solidFill>
            <a:srgbClr val="FFFFFF"/>
          </a:solidFill>
          <a:ln w="15240">
            <a:solidFill>
              <a:srgbClr val="FED7A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601200" y="1024128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5F"/>
                </a:solidFill>
              </a:rPr>
              <a:t>📦 Transfer Safely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601200" y="1225296"/>
            <a:ext cx="1965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475569"/>
                </a:solidFill>
              </a:rPr>
              <a:t>Handover packs before</a:t>
            </a:r>
            <a:endParaRPr lang="en-US" sz="750" dirty="0"/>
          </a:p>
          <a:p>
            <a:pPr algn="ctr" indent="0" marL="0">
              <a:buNone/>
            </a:pPr>
            <a:r>
              <a:rPr lang="en-US" sz="750" i="1" dirty="0">
                <a:solidFill>
                  <a:srgbClr val="475569"/>
                </a:solidFill>
              </a:rPr>
              <a:t>SMEs or vendors exit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228600" y="2377440"/>
            <a:ext cx="3566160" cy="3154680"/>
          </a:xfrm>
          <a:prstGeom prst="rect">
            <a:avLst/>
          </a:prstGeom>
          <a:solidFill>
            <a:srgbClr val="EFF6FF"/>
          </a:solidFill>
          <a:ln w="19050">
            <a:solidFill>
              <a:srgbClr val="BFDB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2450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2563EB"/>
                </a:solidFill>
              </a:rPr>
              <a:t>STAKEHOLDERS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320040" y="2724912"/>
            <a:ext cx="33832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84048" y="27614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💻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31520" y="27614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5F"/>
                </a:solidFill>
              </a:rPr>
              <a:t>Engineer / Developer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731520" y="2944368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75569"/>
                </a:solidFill>
              </a:rPr>
              <a:t>Fast answers, no context switching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320040" y="3172968"/>
            <a:ext cx="33832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84048" y="320954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📊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31520" y="320954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5F"/>
                </a:solidFill>
              </a:rPr>
              <a:t>Team Lead / Manager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731520" y="3392424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75569"/>
                </a:solidFill>
              </a:rPr>
              <a:t>Risk visibility, health scores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320040" y="3621024"/>
            <a:ext cx="33832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384048" y="36576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🎓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31520" y="36576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5F"/>
                </a:solidFill>
              </a:rPr>
              <a:t>New Joiner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731520" y="3840480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75569"/>
                </a:solidFill>
              </a:rPr>
              <a:t>Structured learning paths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320040" y="4069080"/>
            <a:ext cx="33832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384048" y="410565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🛡️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31520" y="410565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5F"/>
                </a:solidFill>
              </a:rPr>
              <a:t>Risk &amp; Compliance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731520" y="4288536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75569"/>
                </a:solidFill>
              </a:rPr>
              <a:t>On-demand audit evidence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320040" y="4517136"/>
            <a:ext cx="33832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384048" y="45537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📦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731520" y="455371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5F"/>
                </a:solidFill>
              </a:rPr>
              <a:t>Programme / Delivery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731520" y="4736592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75569"/>
                </a:solidFill>
              </a:rPr>
              <a:t>Handover tracking &amp; alerts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320040" y="4965192"/>
            <a:ext cx="33832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384048" y="50017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🏦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731520" y="500176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5F"/>
                </a:solidFill>
              </a:rPr>
              <a:t>Executive / CTO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731520" y="5184648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75569"/>
                </a:solidFill>
              </a:rPr>
              <a:t>Knowledge ROI &amp; risk posture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3931920" y="2377440"/>
            <a:ext cx="4160520" cy="3154680"/>
          </a:xfrm>
          <a:prstGeom prst="rect">
            <a:avLst/>
          </a:prstGeom>
          <a:solidFill>
            <a:srgbClr val="F0FDF4"/>
          </a:solidFill>
          <a:ln w="19050">
            <a:solidFill>
              <a:srgbClr val="BBF7D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023360" y="24505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0B981"/>
                </a:solidFill>
              </a:rPr>
              <a:t>VALUE STREAMS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4023360" y="2724912"/>
            <a:ext cx="3977640" cy="621792"/>
          </a:xfrm>
          <a:prstGeom prst="rect">
            <a:avLst/>
          </a:prstGeom>
          <a:solidFill>
            <a:srgbClr val="FFFFFF"/>
          </a:solidFill>
          <a:ln w="15240">
            <a:solidFill>
              <a:srgbClr val="0D948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4023360" y="2724912"/>
            <a:ext cx="3977640" cy="228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133088" y="2752344"/>
            <a:ext cx="3749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🔍 FIND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4133088" y="2999232"/>
            <a:ext cx="374904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1. Type query in EKM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4133088" y="3086100"/>
            <a:ext cx="374904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2. BM25 returns ranked results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4133088" y="3172968"/>
            <a:ext cx="374904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3. SME identified inline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4133088" y="3259836"/>
            <a:ext cx="374904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4. Answer found &lt; 30s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4023360" y="3438144"/>
            <a:ext cx="3977640" cy="621792"/>
          </a:xfrm>
          <a:prstGeom prst="rect">
            <a:avLst/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4023360" y="3438144"/>
            <a:ext cx="3977640" cy="228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133088" y="3465576"/>
            <a:ext cx="3749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🎓 ONBOARD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4133088" y="3712464"/>
            <a:ext cx="374904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1. Manager generates path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4133088" y="3799332"/>
            <a:ext cx="374904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2. Shareable URL sent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4133088" y="3886200"/>
            <a:ext cx="374904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3. Reads Confluence first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4133088" y="3973068"/>
            <a:ext cx="374904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4. Productive in days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4023360" y="4151376"/>
            <a:ext cx="3977640" cy="621792"/>
          </a:xfrm>
          <a:prstGeom prst="rect">
            <a:avLst/>
          </a:prstGeom>
          <a:solidFill>
            <a:srgbClr val="FFFFFF"/>
          </a:solidFill>
          <a:ln w="15240">
            <a:solidFill>
              <a:srgbClr val="EF444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4023360" y="4151376"/>
            <a:ext cx="3977640" cy="2286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133088" y="4178808"/>
            <a:ext cx="3749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🛡️ GOVERN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4133088" y="4425696"/>
            <a:ext cx="374904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1. Risk tab flags vendors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4133088" y="4512564"/>
            <a:ext cx="374904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2. Gaps surface missing docs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4133088" y="4599432"/>
            <a:ext cx="374904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3. Handover initiated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4133088" y="4686300"/>
            <a:ext cx="374904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4. Audit pack on demand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4023360" y="4864608"/>
            <a:ext cx="3977640" cy="621792"/>
          </a:xfrm>
          <a:prstGeom prst="rect">
            <a:avLst/>
          </a:prstGeom>
          <a:solidFill>
            <a:srgbClr val="FFFFFF"/>
          </a:solidFill>
          <a:ln w="15240">
            <a:solidFill>
              <a:srgbClr val="6D28D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73" name="Shape 71"/>
          <p:cNvSpPr/>
          <p:nvPr/>
        </p:nvSpPr>
        <p:spPr>
          <a:xfrm>
            <a:off x="4023360" y="4864608"/>
            <a:ext cx="3977640" cy="22860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133088" y="4892040"/>
            <a:ext cx="3749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📈 MEASURE</a:t>
            </a:r>
            <a:endParaRPr lang="en-US" sz="950" dirty="0"/>
          </a:p>
        </p:txBody>
      </p:sp>
      <p:sp>
        <p:nvSpPr>
          <p:cNvPr id="75" name="Text 73"/>
          <p:cNvSpPr/>
          <p:nvPr/>
        </p:nvSpPr>
        <p:spPr>
          <a:xfrm>
            <a:off x="4133088" y="5138928"/>
            <a:ext cx="374904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1. Velocity chart trends</a:t>
            </a:r>
            <a:endParaRPr lang="en-US" sz="750" dirty="0"/>
          </a:p>
        </p:txBody>
      </p:sp>
      <p:sp>
        <p:nvSpPr>
          <p:cNvPr id="76" name="Text 74"/>
          <p:cNvSpPr/>
          <p:nvPr/>
        </p:nvSpPr>
        <p:spPr>
          <a:xfrm>
            <a:off x="4133088" y="5225796"/>
            <a:ext cx="374904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2. Health report freshness</a:t>
            </a:r>
            <a:endParaRPr lang="en-US" sz="750" dirty="0"/>
          </a:p>
        </p:txBody>
      </p:sp>
      <p:sp>
        <p:nvSpPr>
          <p:cNvPr id="77" name="Text 75"/>
          <p:cNvSpPr/>
          <p:nvPr/>
        </p:nvSpPr>
        <p:spPr>
          <a:xfrm>
            <a:off x="4133088" y="5312664"/>
            <a:ext cx="374904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3. Coverage graded A–F</a:t>
            </a:r>
            <a:endParaRPr lang="en-US" sz="750" dirty="0"/>
          </a:p>
        </p:txBody>
      </p:sp>
      <p:sp>
        <p:nvSpPr>
          <p:cNvPr id="78" name="Text 76"/>
          <p:cNvSpPr/>
          <p:nvPr/>
        </p:nvSpPr>
        <p:spPr>
          <a:xfrm>
            <a:off x="4133088" y="5399532"/>
            <a:ext cx="374904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4. Leadership always live</a:t>
            </a:r>
            <a:endParaRPr lang="en-US" sz="750" dirty="0"/>
          </a:p>
        </p:txBody>
      </p:sp>
      <p:sp>
        <p:nvSpPr>
          <p:cNvPr id="79" name="Shape 77"/>
          <p:cNvSpPr/>
          <p:nvPr/>
        </p:nvSpPr>
        <p:spPr>
          <a:xfrm>
            <a:off x="8229600" y="2377440"/>
            <a:ext cx="3749040" cy="3154680"/>
          </a:xfrm>
          <a:prstGeom prst="rect">
            <a:avLst/>
          </a:prstGeom>
          <a:solidFill>
            <a:srgbClr val="FDF4FF"/>
          </a:solidFill>
          <a:ln w="19050">
            <a:solidFill>
              <a:srgbClr val="E9D5FF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8321040" y="2450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6D28D9"/>
                </a:solidFill>
              </a:rPr>
              <a:t>CAPABILITIES</a:t>
            </a:r>
            <a:endParaRPr lang="en-US" sz="750" dirty="0"/>
          </a:p>
        </p:txBody>
      </p:sp>
      <p:sp>
        <p:nvSpPr>
          <p:cNvPr id="81" name="Shape 79"/>
          <p:cNvSpPr/>
          <p:nvPr/>
        </p:nvSpPr>
        <p:spPr>
          <a:xfrm>
            <a:off x="8321040" y="2724912"/>
            <a:ext cx="35661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9D5F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82" name="Shape 80"/>
          <p:cNvSpPr/>
          <p:nvPr/>
        </p:nvSpPr>
        <p:spPr>
          <a:xfrm>
            <a:off x="8321040" y="2724912"/>
            <a:ext cx="54864" cy="50292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8430768" y="2779776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3A5F"/>
                </a:solidFill>
              </a:rPr>
              <a:t>Unified Search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8430768" y="2980944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75569"/>
                </a:solidFill>
              </a:rPr>
              <a:t>BM25 across 4 sources · SME ranking · Fuzzy fallback</a:t>
            </a:r>
            <a:endParaRPr lang="en-US" sz="750" dirty="0"/>
          </a:p>
        </p:txBody>
      </p:sp>
      <p:sp>
        <p:nvSpPr>
          <p:cNvPr id="85" name="Shape 83"/>
          <p:cNvSpPr/>
          <p:nvPr/>
        </p:nvSpPr>
        <p:spPr>
          <a:xfrm>
            <a:off x="8321040" y="3291840"/>
            <a:ext cx="35661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9D5F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86" name="Shape 84"/>
          <p:cNvSpPr/>
          <p:nvPr/>
        </p:nvSpPr>
        <p:spPr>
          <a:xfrm>
            <a:off x="8321040" y="3291840"/>
            <a:ext cx="54864" cy="50292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8430768" y="3346704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3A5F"/>
                </a:solidFill>
              </a:rPr>
              <a:t>Knowledge Intelligence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8430768" y="3547872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75569"/>
                </a:solidFill>
              </a:rPr>
              <a:t>Velocity trends · Risk scoring · Gap detection</a:t>
            </a:r>
            <a:endParaRPr lang="en-US" sz="750" dirty="0"/>
          </a:p>
        </p:txBody>
      </p:sp>
      <p:sp>
        <p:nvSpPr>
          <p:cNvPr id="89" name="Shape 87"/>
          <p:cNvSpPr/>
          <p:nvPr/>
        </p:nvSpPr>
        <p:spPr>
          <a:xfrm>
            <a:off x="8321040" y="3858768"/>
            <a:ext cx="35661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9D5F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90" name="Shape 88"/>
          <p:cNvSpPr/>
          <p:nvPr/>
        </p:nvSpPr>
        <p:spPr>
          <a:xfrm>
            <a:off x="8321040" y="3858768"/>
            <a:ext cx="54864" cy="50292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8430768" y="3913632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3A5F"/>
                </a:solidFill>
              </a:rPr>
              <a:t>Risk Management</a:t>
            </a:r>
            <a:endParaRPr lang="en-US" sz="900" dirty="0"/>
          </a:p>
        </p:txBody>
      </p:sp>
      <p:sp>
        <p:nvSpPr>
          <p:cNvPr id="92" name="Text 90"/>
          <p:cNvSpPr/>
          <p:nvPr/>
        </p:nvSpPr>
        <p:spPr>
          <a:xfrm>
            <a:off x="8430768" y="4114800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75569"/>
                </a:solidFill>
              </a:rPr>
              <a:t>Vendor classification · Expert-at-risk alerts · Coverage grades</a:t>
            </a:r>
            <a:endParaRPr lang="en-US" sz="750" dirty="0"/>
          </a:p>
        </p:txBody>
      </p:sp>
      <p:sp>
        <p:nvSpPr>
          <p:cNvPr id="93" name="Shape 91"/>
          <p:cNvSpPr/>
          <p:nvPr/>
        </p:nvSpPr>
        <p:spPr>
          <a:xfrm>
            <a:off x="8321040" y="4425696"/>
            <a:ext cx="35661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9D5F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94" name="Shape 92"/>
          <p:cNvSpPr/>
          <p:nvPr/>
        </p:nvSpPr>
        <p:spPr>
          <a:xfrm>
            <a:off x="8321040" y="4425696"/>
            <a:ext cx="54864" cy="50292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8430768" y="4480560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3A5F"/>
                </a:solidFill>
              </a:rPr>
              <a:t>Enablement</a:t>
            </a:r>
            <a:endParaRPr lang="en-US" sz="900" dirty="0"/>
          </a:p>
        </p:txBody>
      </p:sp>
      <p:sp>
        <p:nvSpPr>
          <p:cNvPr id="96" name="Text 94"/>
          <p:cNvSpPr/>
          <p:nvPr/>
        </p:nvSpPr>
        <p:spPr>
          <a:xfrm>
            <a:off x="8430768" y="4681728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75569"/>
                </a:solidFill>
              </a:rPr>
              <a:t>Learning paths · Shareable URLs · Global / search</a:t>
            </a:r>
            <a:endParaRPr lang="en-US" sz="750" dirty="0"/>
          </a:p>
        </p:txBody>
      </p:sp>
      <p:sp>
        <p:nvSpPr>
          <p:cNvPr id="97" name="Shape 95"/>
          <p:cNvSpPr/>
          <p:nvPr/>
        </p:nvSpPr>
        <p:spPr>
          <a:xfrm>
            <a:off x="8321040" y="4992624"/>
            <a:ext cx="35661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9D5F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98" name="Shape 96"/>
          <p:cNvSpPr/>
          <p:nvPr/>
        </p:nvSpPr>
        <p:spPr>
          <a:xfrm>
            <a:off x="8321040" y="4992624"/>
            <a:ext cx="54864" cy="50292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8430768" y="5047488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3A5F"/>
                </a:solidFill>
              </a:rPr>
              <a:t>Operations</a:t>
            </a:r>
            <a:endParaRPr lang="en-US" sz="900" dirty="0"/>
          </a:p>
        </p:txBody>
      </p:sp>
      <p:sp>
        <p:nvSpPr>
          <p:cNvPr id="100" name="Text 98"/>
          <p:cNvSpPr/>
          <p:nvPr/>
        </p:nvSpPr>
        <p:spPr>
          <a:xfrm>
            <a:off x="8430768" y="5248656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75569"/>
                </a:solidFill>
              </a:rPr>
              <a:t>Incremental sync · Force Full override · Health monitoring</a:t>
            </a:r>
            <a:endParaRPr lang="en-US" sz="750" dirty="0"/>
          </a:p>
        </p:txBody>
      </p:sp>
      <p:sp>
        <p:nvSpPr>
          <p:cNvPr id="101" name="Shape 99"/>
          <p:cNvSpPr/>
          <p:nvPr/>
        </p:nvSpPr>
        <p:spPr>
          <a:xfrm>
            <a:off x="228600" y="5687568"/>
            <a:ext cx="11704320" cy="914400"/>
          </a:xfrm>
          <a:prstGeom prst="rect">
            <a:avLst/>
          </a:prstGeom>
          <a:solidFill>
            <a:srgbClr val="F0FDFA"/>
          </a:solidFill>
          <a:ln w="19050">
            <a:solidFill>
              <a:srgbClr val="99F6E4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320040" y="57424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D9488"/>
                </a:solidFill>
              </a:rPr>
              <a:t>MEASURABLE OUTCOMES</a:t>
            </a:r>
            <a:endParaRPr lang="en-US" sz="750" dirty="0"/>
          </a:p>
        </p:txBody>
      </p:sp>
      <p:sp>
        <p:nvSpPr>
          <p:cNvPr id="103" name="Text 101"/>
          <p:cNvSpPr/>
          <p:nvPr/>
        </p:nvSpPr>
        <p:spPr>
          <a:xfrm>
            <a:off x="365760" y="59618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</a:rPr>
              <a:t>1 day/wk</a:t>
            </a:r>
            <a:endParaRPr lang="en-US" sz="1600" dirty="0"/>
          </a:p>
        </p:txBody>
      </p:sp>
      <p:sp>
        <p:nvSpPr>
          <p:cNvPr id="104" name="Text 102"/>
          <p:cNvSpPr/>
          <p:nvPr/>
        </p:nvSpPr>
        <p:spPr>
          <a:xfrm>
            <a:off x="365760" y="629107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75569"/>
                </a:solidFill>
              </a:rPr>
              <a:t>reclaimed per person</a:t>
            </a:r>
            <a:endParaRPr lang="en-US" sz="800" dirty="0"/>
          </a:p>
        </p:txBody>
      </p:sp>
      <p:sp>
        <p:nvSpPr>
          <p:cNvPr id="105" name="Text 103"/>
          <p:cNvSpPr/>
          <p:nvPr/>
        </p:nvSpPr>
        <p:spPr>
          <a:xfrm>
            <a:off x="2286000" y="59618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</a:rPr>
              <a:t>£100K+</a:t>
            </a:r>
            <a:endParaRPr lang="en-US" sz="1600" dirty="0"/>
          </a:p>
        </p:txBody>
      </p:sp>
      <p:sp>
        <p:nvSpPr>
          <p:cNvPr id="106" name="Text 104"/>
          <p:cNvSpPr/>
          <p:nvPr/>
        </p:nvSpPr>
        <p:spPr>
          <a:xfrm>
            <a:off x="2286000" y="629107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75569"/>
                </a:solidFill>
              </a:rPr>
              <a:t>saved per 10-person team/yr</a:t>
            </a:r>
            <a:endParaRPr lang="en-US" sz="800" dirty="0"/>
          </a:p>
        </p:txBody>
      </p:sp>
      <p:sp>
        <p:nvSpPr>
          <p:cNvPr id="107" name="Text 105"/>
          <p:cNvSpPr/>
          <p:nvPr/>
        </p:nvSpPr>
        <p:spPr>
          <a:xfrm>
            <a:off x="4206240" y="59618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</a:rPr>
              <a:t>Days→Min</a:t>
            </a:r>
            <a:endParaRPr lang="en-US" sz="1600" dirty="0"/>
          </a:p>
        </p:txBody>
      </p:sp>
      <p:sp>
        <p:nvSpPr>
          <p:cNvPr id="108" name="Text 106"/>
          <p:cNvSpPr/>
          <p:nvPr/>
        </p:nvSpPr>
        <p:spPr>
          <a:xfrm>
            <a:off x="4206240" y="629107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75569"/>
                </a:solidFill>
              </a:rPr>
              <a:t>audit evidence compile</a:t>
            </a:r>
            <a:endParaRPr lang="en-US" sz="800" dirty="0"/>
          </a:p>
        </p:txBody>
      </p:sp>
      <p:sp>
        <p:nvSpPr>
          <p:cNvPr id="109" name="Text 107"/>
          <p:cNvSpPr/>
          <p:nvPr/>
        </p:nvSpPr>
        <p:spPr>
          <a:xfrm>
            <a:off x="6126480" y="59618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</a:rPr>
              <a:t>3–6mo→wk</a:t>
            </a:r>
            <a:endParaRPr lang="en-US" sz="1600" dirty="0"/>
          </a:p>
        </p:txBody>
      </p:sp>
      <p:sp>
        <p:nvSpPr>
          <p:cNvPr id="110" name="Text 108"/>
          <p:cNvSpPr/>
          <p:nvPr/>
        </p:nvSpPr>
        <p:spPr>
          <a:xfrm>
            <a:off x="6126480" y="629107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75569"/>
                </a:solidFill>
              </a:rPr>
              <a:t>new joiner ramp time</a:t>
            </a:r>
            <a:endParaRPr lang="en-US" sz="800" dirty="0"/>
          </a:p>
        </p:txBody>
      </p:sp>
      <p:sp>
        <p:nvSpPr>
          <p:cNvPr id="111" name="Text 109"/>
          <p:cNvSpPr/>
          <p:nvPr/>
        </p:nvSpPr>
        <p:spPr>
          <a:xfrm>
            <a:off x="8046720" y="59618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</a:rPr>
              <a:t>Zero</a:t>
            </a:r>
            <a:endParaRPr lang="en-US" sz="1600" dirty="0"/>
          </a:p>
        </p:txBody>
      </p:sp>
      <p:sp>
        <p:nvSpPr>
          <p:cNvPr id="112" name="Text 110"/>
          <p:cNvSpPr/>
          <p:nvPr/>
        </p:nvSpPr>
        <p:spPr>
          <a:xfrm>
            <a:off x="8046720" y="629107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75569"/>
                </a:solidFill>
              </a:rPr>
              <a:t>undetected vendor exits</a:t>
            </a:r>
            <a:endParaRPr lang="en-US" sz="800" dirty="0"/>
          </a:p>
        </p:txBody>
      </p:sp>
      <p:sp>
        <p:nvSpPr>
          <p:cNvPr id="113" name="Text 111"/>
          <p:cNvSpPr/>
          <p:nvPr/>
        </p:nvSpPr>
        <p:spPr>
          <a:xfrm>
            <a:off x="9966960" y="59618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</a:rPr>
              <a:t>100%</a:t>
            </a:r>
            <a:endParaRPr lang="en-US" sz="1600" dirty="0"/>
          </a:p>
        </p:txBody>
      </p:sp>
      <p:sp>
        <p:nvSpPr>
          <p:cNvPr id="114" name="Text 112"/>
          <p:cNvSpPr/>
          <p:nvPr/>
        </p:nvSpPr>
        <p:spPr>
          <a:xfrm>
            <a:off x="9966960" y="629107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75569"/>
                </a:solidFill>
              </a:rPr>
              <a:t>knowledge visibility</a:t>
            </a:r>
            <a:endParaRPr lang="en-US" sz="800" dirty="0"/>
          </a:p>
        </p:txBody>
      </p:sp>
      <p:sp>
        <p:nvSpPr>
          <p:cNvPr id="115" name="Text 113"/>
          <p:cNvSpPr/>
          <p:nvPr/>
        </p:nvSpPr>
        <p:spPr>
          <a:xfrm>
            <a:off x="228600" y="6720840"/>
            <a:ext cx="1170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94A3B8"/>
                </a:solidFill>
              </a:rPr>
              <a:t>Editable shapes — click any element to move, resize or recolour in PowerPoint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2026-03-07T13:34:26Z</dcterms:created>
  <dcterms:modified xsi:type="dcterms:W3CDTF">2026-03-07T13:34:26Z</dcterms:modified>
</cp:coreProperties>
</file>