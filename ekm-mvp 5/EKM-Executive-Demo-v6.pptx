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514350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74320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" y="274320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9616" y="274320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21408" y="274320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274320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676656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676656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99616" y="676656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21408" y="676656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676656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078992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" y="1078992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99616" y="1078992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21408" y="1078992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1078992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1481328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81328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99616" y="1481328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21408" y="1481328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1481328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1883664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7824" y="1883664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99616" y="1883664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21408" y="1883664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0" y="1883664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286000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7824" y="2286000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99616" y="2286000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21408" y="2286000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2286000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2688336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7824" y="2688336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499616" y="2688336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1408" y="2688336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0" y="2688336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6032" y="3090672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77824" y="3090672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99616" y="3090672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21408" y="3090672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0" y="3090672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032" y="3493008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7824" y="3493008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99616" y="3493008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121408" y="3493008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0" y="3493008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6032" y="3895344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77824" y="3895344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499616" y="3895344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121408" y="3895344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43200" y="3895344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6032" y="4297680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" y="4297680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499616" y="4297680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121408" y="4297680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43200" y="4297680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56032" y="4700016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77824" y="4700016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499616" y="4700016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121408" y="4700016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743200" y="4700016"/>
            <a:ext cx="41148" cy="41148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310128" y="0"/>
            <a:ext cx="502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56032" y="475488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FFFF"/>
                </a:solidFill>
              </a:rPr>
              <a:t>EKM</a:t>
            </a:r>
            <a:endParaRPr lang="en-US" sz="8000" dirty="0"/>
          </a:p>
        </p:txBody>
      </p:sp>
      <p:sp>
        <p:nvSpPr>
          <p:cNvPr id="65" name="Shape 63"/>
          <p:cNvSpPr/>
          <p:nvPr/>
        </p:nvSpPr>
        <p:spPr>
          <a:xfrm>
            <a:off x="256032" y="1828800"/>
            <a:ext cx="2377440" cy="34747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56032" y="19202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Enterprise</a:t>
            </a:r>
            <a:endParaRPr lang="en-US" sz="1450" dirty="0"/>
          </a:p>
        </p:txBody>
      </p:sp>
      <p:sp>
        <p:nvSpPr>
          <p:cNvPr id="67" name="Text 65"/>
          <p:cNvSpPr/>
          <p:nvPr/>
        </p:nvSpPr>
        <p:spPr>
          <a:xfrm>
            <a:off x="256032" y="226771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Knowledge</a:t>
            </a:r>
            <a:endParaRPr lang="en-US" sz="1450" dirty="0"/>
          </a:p>
        </p:txBody>
      </p:sp>
      <p:sp>
        <p:nvSpPr>
          <p:cNvPr id="68" name="Text 66"/>
          <p:cNvSpPr/>
          <p:nvPr/>
        </p:nvSpPr>
        <p:spPr>
          <a:xfrm>
            <a:off x="256032" y="261518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Management</a:t>
            </a:r>
            <a:endParaRPr lang="en-US" sz="1450" dirty="0"/>
          </a:p>
        </p:txBody>
      </p:sp>
      <p:sp>
        <p:nvSpPr>
          <p:cNvPr id="69" name="Shape 67"/>
          <p:cNvSpPr/>
          <p:nvPr/>
        </p:nvSpPr>
        <p:spPr>
          <a:xfrm>
            <a:off x="256032" y="2944368"/>
            <a:ext cx="137160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56032" y="29443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</a:rPr>
              <a:t>HACKATHON  ·  POC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256032" y="47731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E3 Team  ·  Citi  ·  March 2026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3703320" y="50292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874"/>
                </a:solidFill>
              </a:rPr>
              <a:t>One search.</a:t>
            </a:r>
            <a:endParaRPr lang="en-US" sz="3800" dirty="0"/>
          </a:p>
        </p:txBody>
      </p:sp>
      <p:sp>
        <p:nvSpPr>
          <p:cNvPr id="73" name="Text 71"/>
          <p:cNvSpPr/>
          <p:nvPr/>
        </p:nvSpPr>
        <p:spPr>
          <a:xfrm>
            <a:off x="3703320" y="111556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874"/>
                </a:solidFill>
              </a:rPr>
              <a:t>All your knowledge.</a:t>
            </a:r>
            <a:endParaRPr lang="en-US" sz="3800" dirty="0"/>
          </a:p>
        </p:txBody>
      </p:sp>
      <p:sp>
        <p:nvSpPr>
          <p:cNvPr id="74" name="Text 72"/>
          <p:cNvSpPr/>
          <p:nvPr/>
        </p:nvSpPr>
        <p:spPr>
          <a:xfrm>
            <a:off x="3703320" y="17373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891B2"/>
                </a:solidFill>
              </a:rPr>
              <a:t>Zero cold start.</a:t>
            </a:r>
            <a:endParaRPr lang="en-US" sz="3800" dirty="0"/>
          </a:p>
        </p:txBody>
      </p:sp>
      <p:sp>
        <p:nvSpPr>
          <p:cNvPr id="75" name="Text 73"/>
          <p:cNvSpPr/>
          <p:nvPr/>
        </p:nvSpPr>
        <p:spPr>
          <a:xfrm>
            <a:off x="3703320" y="2487168"/>
            <a:ext cx="5257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Unified search · intelligence analytics · community layer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across Jira, Confluence, GitHub and SharePoint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3703320" y="3072384"/>
            <a:ext cx="525780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03320" y="3163824"/>
            <a:ext cx="122529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3703320" y="3163824"/>
            <a:ext cx="1225296" cy="38405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703320" y="3218688"/>
            <a:ext cx="1225296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52CC"/>
                </a:solidFill>
              </a:rPr>
              <a:t>5,092</a:t>
            </a:r>
            <a:endParaRPr lang="en-US" sz="3000" dirty="0"/>
          </a:p>
        </p:txBody>
      </p:sp>
      <p:sp>
        <p:nvSpPr>
          <p:cNvPr id="80" name="Text 78"/>
          <p:cNvSpPr/>
          <p:nvPr/>
        </p:nvSpPr>
        <p:spPr>
          <a:xfrm>
            <a:off x="3703320" y="3759098"/>
            <a:ext cx="1225296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Docs Indexed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5020056" y="3163824"/>
            <a:ext cx="122529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5020056" y="3163824"/>
            <a:ext cx="1225296" cy="38405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020056" y="3218688"/>
            <a:ext cx="1225296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</a:rPr>
              <a:t>4</a:t>
            </a:r>
            <a:endParaRPr lang="en-US" sz="3000" dirty="0"/>
          </a:p>
        </p:txBody>
      </p:sp>
      <p:sp>
        <p:nvSpPr>
          <p:cNvPr id="84" name="Text 82"/>
          <p:cNvSpPr/>
          <p:nvPr/>
        </p:nvSpPr>
        <p:spPr>
          <a:xfrm>
            <a:off x="5020056" y="3759098"/>
            <a:ext cx="1225296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Sources Live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6336792" y="3163824"/>
            <a:ext cx="122529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6336792" y="3163824"/>
            <a:ext cx="1225296" cy="3840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336792" y="3218688"/>
            <a:ext cx="1225296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</a:rPr>
              <a:t>10</a:t>
            </a:r>
            <a:endParaRPr lang="en-US" sz="3000" dirty="0"/>
          </a:p>
        </p:txBody>
      </p:sp>
      <p:sp>
        <p:nvSpPr>
          <p:cNvPr id="88" name="Text 86"/>
          <p:cNvSpPr/>
          <p:nvPr/>
        </p:nvSpPr>
        <p:spPr>
          <a:xfrm>
            <a:off x="6336792" y="3759098"/>
            <a:ext cx="1225296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Intel Modules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7653528" y="3163824"/>
            <a:ext cx="122529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7653528" y="3163824"/>
            <a:ext cx="1225296" cy="38405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653528" y="3218688"/>
            <a:ext cx="1225296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</a:rPr>
              <a:t>Day 1</a:t>
            </a:r>
            <a:endParaRPr lang="en-US" sz="3000" dirty="0"/>
          </a:p>
        </p:txBody>
      </p:sp>
      <p:sp>
        <p:nvSpPr>
          <p:cNvPr id="92" name="Text 90"/>
          <p:cNvSpPr/>
          <p:nvPr/>
        </p:nvSpPr>
        <p:spPr>
          <a:xfrm>
            <a:off x="7653528" y="3759098"/>
            <a:ext cx="1225296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Ready to Use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3703320" y="4261104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Jira  ·  Confluence  ·  GitHub  ·  SharePoint  ·  MongoDB  ·  FastAPI  ·  React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65760" y="4992624"/>
            <a:ext cx="80467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EKM  ·  Enterprise Knowledge Management  ·  E3  ·  Citi   |   CONFIDENTIAL  ·  INTERNAL USE ONLY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8595360" y="4992624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20117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4572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874"/>
                </a:solidFill>
              </a:rPr>
              <a:t>The Challenge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84048" y="3657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Four separate problems. One systemic knowledge gap.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92624"/>
            <a:ext cx="80467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EKM  ·  Enterprise Knowledge Management  ·  E3  ·  Citi   |   CONFIDENTIAL  ·  INTERNAL USE ONLY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595360" y="4992624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200400" y="7498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</a:rPr>
              <a:t>P  ·  I  ·  C  ·  U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35424" y="822960"/>
            <a:ext cx="34747" cy="4023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798064"/>
            <a:ext cx="8595360" cy="34747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822960"/>
            <a:ext cx="4224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822960"/>
            <a:ext cx="4224528" cy="38405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" y="1024128"/>
            <a:ext cx="512064" cy="512064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550" y="1139342"/>
            <a:ext cx="281635" cy="281635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1078992" y="1152144"/>
            <a:ext cx="726034" cy="1920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78992" y="1152144"/>
            <a:ext cx="72603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</a:rPr>
              <a:t>PROBLEM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3108960" y="93268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C2626"/>
                </a:solidFill>
              </a:rPr>
              <a:t>~20%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2651760" y="13898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of the week spent searching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75488" y="1444752"/>
            <a:ext cx="3822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874"/>
                </a:solidFill>
              </a:rPr>
              <a:t>4 tools. 1 question.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75488" y="1755648"/>
            <a:ext cx="3822192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5488" y="1810512"/>
            <a:ext cx="3822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Engineers context-switch across Jira, Confluence, GitHub and SharePoint for every single answer.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590288" y="822960"/>
            <a:ext cx="4224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90288" y="822960"/>
            <a:ext cx="4224528" cy="38405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18304" y="1024128"/>
            <a:ext cx="512064" cy="512064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518" y="1139342"/>
            <a:ext cx="281635" cy="281635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5394960" y="1152144"/>
            <a:ext cx="651053" cy="1920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394960" y="1152144"/>
            <a:ext cx="65105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</a:rPr>
              <a:t>IMPACT</a:t>
            </a:r>
            <a:endParaRPr lang="en-US" sz="700" dirty="0"/>
          </a:p>
        </p:txBody>
      </p:sp>
      <p:sp>
        <p:nvSpPr>
          <p:cNvPr id="29" name="Text 25"/>
          <p:cNvSpPr/>
          <p:nvPr/>
        </p:nvSpPr>
        <p:spPr>
          <a:xfrm>
            <a:off x="7424928" y="93268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0</a:t>
            </a:r>
            <a:endParaRPr lang="en-US" sz="2600" dirty="0"/>
          </a:p>
        </p:txBody>
      </p:sp>
      <p:sp>
        <p:nvSpPr>
          <p:cNvPr id="30" name="Text 26"/>
          <p:cNvSpPr/>
          <p:nvPr/>
        </p:nvSpPr>
        <p:spPr>
          <a:xfrm>
            <a:off x="6967728" y="13898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documented handover trails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4791456" y="1444752"/>
            <a:ext cx="3822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874"/>
                </a:solidFill>
              </a:rPr>
              <a:t>Knowledge walks out.</a:t>
            </a:r>
            <a:endParaRPr lang="en-US" sz="1600" dirty="0"/>
          </a:p>
        </p:txBody>
      </p:sp>
      <p:sp>
        <p:nvSpPr>
          <p:cNvPr id="32" name="Shape 28"/>
          <p:cNvSpPr/>
          <p:nvPr/>
        </p:nvSpPr>
        <p:spPr>
          <a:xfrm>
            <a:off x="4791456" y="1755648"/>
            <a:ext cx="3822192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791456" y="1810512"/>
            <a:ext cx="3822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SME departures silently erase years of context. No handover pack. No audit trail.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274320" y="2834640"/>
            <a:ext cx="4224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274320" y="2834640"/>
            <a:ext cx="4224528" cy="38405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02336" y="3035808"/>
            <a:ext cx="512064" cy="512064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50" y="3151022"/>
            <a:ext cx="281635" cy="281635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1078992" y="3163824"/>
            <a:ext cx="640080" cy="1920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1078992" y="3163824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</a:rPr>
              <a:t>CAUSE</a:t>
            </a:r>
            <a:endParaRPr lang="en-US" sz="700" dirty="0"/>
          </a:p>
        </p:txBody>
      </p:sp>
      <p:sp>
        <p:nvSpPr>
          <p:cNvPr id="40" name="Text 35"/>
          <p:cNvSpPr/>
          <p:nvPr/>
        </p:nvSpPr>
        <p:spPr>
          <a:xfrm>
            <a:off x="3108960" y="29443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891B2"/>
                </a:solidFill>
              </a:rPr>
              <a:t>4×</a:t>
            </a:r>
            <a:endParaRPr lang="en-US" sz="2600" dirty="0"/>
          </a:p>
        </p:txBody>
      </p:sp>
      <p:sp>
        <p:nvSpPr>
          <p:cNvPr id="41" name="Text 36"/>
          <p:cNvSpPr/>
          <p:nvPr/>
        </p:nvSpPr>
        <p:spPr>
          <a:xfrm>
            <a:off x="2651760" y="34015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duplicate search effort daily</a:t>
            </a:r>
            <a:endParaRPr lang="en-US" sz="750" dirty="0"/>
          </a:p>
        </p:txBody>
      </p:sp>
      <p:sp>
        <p:nvSpPr>
          <p:cNvPr id="42" name="Text 37"/>
          <p:cNvSpPr/>
          <p:nvPr/>
        </p:nvSpPr>
        <p:spPr>
          <a:xfrm>
            <a:off x="475488" y="3456432"/>
            <a:ext cx="3822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874"/>
                </a:solidFill>
              </a:rPr>
              <a:t>No single source of truth.</a:t>
            </a:r>
            <a:endParaRPr lang="en-US" sz="1600" dirty="0"/>
          </a:p>
        </p:txBody>
      </p:sp>
      <p:sp>
        <p:nvSpPr>
          <p:cNvPr id="43" name="Shape 38"/>
          <p:cNvSpPr/>
          <p:nvPr/>
        </p:nvSpPr>
        <p:spPr>
          <a:xfrm>
            <a:off x="475488" y="3767328"/>
            <a:ext cx="3822192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475488" y="3822192"/>
            <a:ext cx="3822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Siloed tools return inconsistent, stale results with no unified relevance ranking.</a:t>
            </a:r>
            <a:endParaRPr lang="en-US" sz="1050" dirty="0"/>
          </a:p>
        </p:txBody>
      </p:sp>
      <p:sp>
        <p:nvSpPr>
          <p:cNvPr id="45" name="Shape 40"/>
          <p:cNvSpPr/>
          <p:nvPr/>
        </p:nvSpPr>
        <p:spPr>
          <a:xfrm>
            <a:off x="4590288" y="2834640"/>
            <a:ext cx="4224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46" name="Shape 41"/>
          <p:cNvSpPr/>
          <p:nvPr/>
        </p:nvSpPr>
        <p:spPr>
          <a:xfrm>
            <a:off x="4590288" y="2834640"/>
            <a:ext cx="4224528" cy="38405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4718304" y="3035808"/>
            <a:ext cx="512064" cy="512064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3518" y="3151022"/>
            <a:ext cx="281635" cy="281635"/>
          </a:xfrm>
          <a:prstGeom prst="rect">
            <a:avLst/>
          </a:prstGeom>
        </p:spPr>
      </p:pic>
      <p:sp>
        <p:nvSpPr>
          <p:cNvPr id="49" name="Shape 43"/>
          <p:cNvSpPr/>
          <p:nvPr/>
        </p:nvSpPr>
        <p:spPr>
          <a:xfrm>
            <a:off x="5394960" y="3163824"/>
            <a:ext cx="726034" cy="192024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5394960" y="3163824"/>
            <a:ext cx="72603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</a:rPr>
              <a:t>URGENCY</a:t>
            </a:r>
            <a:endParaRPr lang="en-US" sz="700" dirty="0"/>
          </a:p>
        </p:txBody>
      </p:sp>
      <p:sp>
        <p:nvSpPr>
          <p:cNvPr id="51" name="Text 45"/>
          <p:cNvSpPr/>
          <p:nvPr/>
        </p:nvSpPr>
        <p:spPr>
          <a:xfrm>
            <a:off x="7424928" y="29443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03874"/>
                </a:solidFill>
              </a:rPr>
              <a:t>Weeks</a:t>
            </a:r>
            <a:endParaRPr lang="en-US" sz="2600" dirty="0"/>
          </a:p>
        </p:txBody>
      </p:sp>
      <p:sp>
        <p:nvSpPr>
          <p:cNvPr id="52" name="Text 46"/>
          <p:cNvSpPr/>
          <p:nvPr/>
        </p:nvSpPr>
        <p:spPr>
          <a:xfrm>
            <a:off x="6967728" y="34015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to onboard a new engineer</a:t>
            </a:r>
            <a:endParaRPr lang="en-US" sz="750" dirty="0"/>
          </a:p>
        </p:txBody>
      </p:sp>
      <p:sp>
        <p:nvSpPr>
          <p:cNvPr id="53" name="Text 47"/>
          <p:cNvSpPr/>
          <p:nvPr/>
        </p:nvSpPr>
        <p:spPr>
          <a:xfrm>
            <a:off x="4791456" y="3456432"/>
            <a:ext cx="3822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874"/>
                </a:solidFill>
              </a:rPr>
              <a:t>Right now, at Citi.</a:t>
            </a:r>
            <a:endParaRPr lang="en-US" sz="1600" dirty="0"/>
          </a:p>
        </p:txBody>
      </p:sp>
      <p:sp>
        <p:nvSpPr>
          <p:cNvPr id="54" name="Shape 48"/>
          <p:cNvSpPr/>
          <p:nvPr/>
        </p:nvSpPr>
        <p:spPr>
          <a:xfrm>
            <a:off x="4791456" y="3767328"/>
            <a:ext cx="3822192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4791456" y="3822192"/>
            <a:ext cx="3822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Manual audits, repeated questions, and lost institutional knowledge compound daily.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20117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4572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874"/>
                </a:solidFill>
              </a:rPr>
              <a:t>What We Built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84048" y="3657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One engine. Four sources. Instant answers.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92624"/>
            <a:ext cx="80467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EKM  ·  Enterprise Knowledge Management  ·  E3  ·  Citi   |   CONFIDENTIAL  ·  INTERNAL USE ONLY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595360" y="4992624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3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" y="950976"/>
            <a:ext cx="1828800" cy="658368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124712"/>
            <a:ext cx="301752" cy="3017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86384" y="11155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Jira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2084832" y="1261872"/>
            <a:ext cx="347472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77440" y="1207008"/>
            <a:ext cx="27432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340864" y="1207008"/>
            <a:ext cx="91440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340864" y="1307592"/>
            <a:ext cx="91440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6032" y="1828800"/>
            <a:ext cx="182880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2002536"/>
            <a:ext cx="301752" cy="30175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86384" y="19933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Confluence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2084832" y="2139696"/>
            <a:ext cx="347472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377440" y="2084832"/>
            <a:ext cx="27432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340864" y="2084832"/>
            <a:ext cx="91440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340864" y="2185416"/>
            <a:ext cx="91440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56032" y="2706624"/>
            <a:ext cx="1828800" cy="658368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880360"/>
            <a:ext cx="301752" cy="30175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86384" y="28712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GitHub</a:t>
            </a:r>
            <a:endParaRPr lang="en-US" sz="1350" dirty="0"/>
          </a:p>
        </p:txBody>
      </p:sp>
      <p:sp>
        <p:nvSpPr>
          <p:cNvPr id="26" name="Shape 21"/>
          <p:cNvSpPr/>
          <p:nvPr/>
        </p:nvSpPr>
        <p:spPr>
          <a:xfrm>
            <a:off x="2084832" y="3017520"/>
            <a:ext cx="347472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2377440" y="2962656"/>
            <a:ext cx="27432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2340864" y="2962656"/>
            <a:ext cx="91440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2340864" y="3063240"/>
            <a:ext cx="91440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256032" y="3584448"/>
            <a:ext cx="182880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3758184"/>
            <a:ext cx="301752" cy="30175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86384" y="37490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SharePoint</a:t>
            </a:r>
            <a:endParaRPr lang="en-US" sz="1350" dirty="0"/>
          </a:p>
        </p:txBody>
      </p:sp>
      <p:sp>
        <p:nvSpPr>
          <p:cNvPr id="33" name="Shape 27"/>
          <p:cNvSpPr/>
          <p:nvPr/>
        </p:nvSpPr>
        <p:spPr>
          <a:xfrm>
            <a:off x="2084832" y="3895344"/>
            <a:ext cx="347472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2377440" y="3840480"/>
            <a:ext cx="27432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2340864" y="3840480"/>
            <a:ext cx="91440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2340864" y="3941064"/>
            <a:ext cx="91440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2423160" y="950976"/>
            <a:ext cx="34747" cy="3456432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2578608" y="804672"/>
            <a:ext cx="4133088" cy="3822192"/>
          </a:xfrm>
          <a:prstGeom prst="rect">
            <a:avLst/>
          </a:prstGeom>
          <a:solidFill>
            <a:srgbClr val="FFFFFF"/>
          </a:solidFill>
          <a:ln w="31750">
            <a:solidFill>
              <a:srgbClr val="0052C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2578608" y="804672"/>
            <a:ext cx="4133088" cy="384048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2578608" y="804672"/>
            <a:ext cx="4133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300" kern="0" dirty="0">
                <a:solidFill>
                  <a:srgbClr val="FFFFFF"/>
                </a:solidFill>
              </a:rPr>
              <a:t>EKM  ENGINE</a:t>
            </a:r>
            <a:endParaRPr lang="en-US" sz="1250" dirty="0"/>
          </a:p>
        </p:txBody>
      </p:sp>
      <p:sp>
        <p:nvSpPr>
          <p:cNvPr id="41" name="Shape 35"/>
          <p:cNvSpPr/>
          <p:nvPr/>
        </p:nvSpPr>
        <p:spPr>
          <a:xfrm>
            <a:off x="2761488" y="1353312"/>
            <a:ext cx="438912" cy="438912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0243" y="1452067"/>
            <a:ext cx="241402" cy="241402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3337560" y="133502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874"/>
                </a:solidFill>
              </a:rPr>
              <a:t>BM25 Unified Search</a:t>
            </a:r>
            <a:endParaRPr lang="en-US" sz="1250" dirty="0"/>
          </a:p>
        </p:txBody>
      </p:sp>
      <p:sp>
        <p:nvSpPr>
          <p:cNvPr id="44" name="Text 37"/>
          <p:cNvSpPr/>
          <p:nvPr/>
        </p:nvSpPr>
        <p:spPr>
          <a:xfrm>
            <a:off x="3337560" y="1609344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Full-text across all 4 sources simultaneously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2788920" y="2020824"/>
            <a:ext cx="3730752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2761488" y="2130552"/>
            <a:ext cx="438912" cy="438912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0243" y="2229307"/>
            <a:ext cx="241402" cy="241402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3337560" y="211226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874"/>
                </a:solidFill>
              </a:rPr>
              <a:t>Intelligence Layer</a:t>
            </a:r>
            <a:endParaRPr lang="en-US" sz="1250" dirty="0"/>
          </a:p>
        </p:txBody>
      </p:sp>
      <p:sp>
        <p:nvSpPr>
          <p:cNvPr id="49" name="Text 41"/>
          <p:cNvSpPr/>
          <p:nvPr/>
        </p:nvSpPr>
        <p:spPr>
          <a:xfrm>
            <a:off x="3337560" y="2386584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10 analytical modules — gaps, risk, velocity</a:t>
            </a:r>
            <a:endParaRPr lang="en-US" sz="1000" dirty="0"/>
          </a:p>
        </p:txBody>
      </p:sp>
      <p:sp>
        <p:nvSpPr>
          <p:cNvPr id="50" name="Shape 42"/>
          <p:cNvSpPr/>
          <p:nvPr/>
        </p:nvSpPr>
        <p:spPr>
          <a:xfrm>
            <a:off x="2788920" y="2798064"/>
            <a:ext cx="3730752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2761488" y="2907792"/>
            <a:ext cx="438912" cy="438912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0243" y="3006547"/>
            <a:ext cx="241402" cy="241402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3337560" y="288950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874"/>
                </a:solidFill>
              </a:rPr>
              <a:t>Community Layer</a:t>
            </a:r>
            <a:endParaRPr lang="en-US" sz="1250" dirty="0"/>
          </a:p>
        </p:txBody>
      </p:sp>
      <p:sp>
        <p:nvSpPr>
          <p:cNvPr id="54" name="Text 45"/>
          <p:cNvSpPr/>
          <p:nvPr/>
        </p:nvSpPr>
        <p:spPr>
          <a:xfrm>
            <a:off x="3337560" y="3163824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Flags, smart annotations, leaderboard</a:t>
            </a:r>
            <a:endParaRPr lang="en-US" sz="1000" dirty="0"/>
          </a:p>
        </p:txBody>
      </p:sp>
      <p:sp>
        <p:nvSpPr>
          <p:cNvPr id="55" name="Shape 46"/>
          <p:cNvSpPr/>
          <p:nvPr/>
        </p:nvSpPr>
        <p:spPr>
          <a:xfrm>
            <a:off x="2788920" y="3575304"/>
            <a:ext cx="3730752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Shape 47"/>
          <p:cNvSpPr/>
          <p:nvPr/>
        </p:nvSpPr>
        <p:spPr>
          <a:xfrm>
            <a:off x="2761488" y="3685032"/>
            <a:ext cx="438912" cy="438912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60243" y="3783787"/>
            <a:ext cx="241402" cy="241402"/>
          </a:xfrm>
          <a:prstGeom prst="rect">
            <a:avLst/>
          </a:prstGeom>
        </p:spPr>
      </p:pic>
      <p:sp>
        <p:nvSpPr>
          <p:cNvPr id="58" name="Text 48"/>
          <p:cNvSpPr/>
          <p:nvPr/>
        </p:nvSpPr>
        <p:spPr>
          <a:xfrm>
            <a:off x="3337560" y="366674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874"/>
                </a:solidFill>
              </a:rPr>
              <a:t>Onboarding Paths</a:t>
            </a:r>
            <a:endParaRPr lang="en-US" sz="1250" dirty="0"/>
          </a:p>
        </p:txBody>
      </p:sp>
      <p:sp>
        <p:nvSpPr>
          <p:cNvPr id="59" name="Text 49"/>
          <p:cNvSpPr/>
          <p:nvPr/>
        </p:nvSpPr>
        <p:spPr>
          <a:xfrm>
            <a:off x="3337560" y="3941064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Auto-generated learning journeys per topic</a:t>
            </a:r>
            <a:endParaRPr lang="en-US" sz="1000" dirty="0"/>
          </a:p>
        </p:txBody>
      </p:sp>
      <p:sp>
        <p:nvSpPr>
          <p:cNvPr id="60" name="Shape 50"/>
          <p:cNvSpPr/>
          <p:nvPr/>
        </p:nvSpPr>
        <p:spPr>
          <a:xfrm>
            <a:off x="3218688" y="4407408"/>
            <a:ext cx="2395728" cy="20116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1"/>
          <p:cNvSpPr/>
          <p:nvPr/>
        </p:nvSpPr>
        <p:spPr>
          <a:xfrm>
            <a:off x="3218688" y="440740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3874"/>
                </a:solidFill>
              </a:rPr>
              <a:t>MongoDB  ·  FastAPI  ·  React  ·  Python</a:t>
            </a:r>
            <a:endParaRPr lang="en-US" sz="800" dirty="0"/>
          </a:p>
        </p:txBody>
      </p:sp>
      <p:sp>
        <p:nvSpPr>
          <p:cNvPr id="62" name="Shape 52"/>
          <p:cNvSpPr/>
          <p:nvPr/>
        </p:nvSpPr>
        <p:spPr>
          <a:xfrm>
            <a:off x="6675120" y="950976"/>
            <a:ext cx="34747" cy="3456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6711696" y="1252728"/>
            <a:ext cx="237744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4" name="Shape 54"/>
          <p:cNvSpPr/>
          <p:nvPr/>
        </p:nvSpPr>
        <p:spPr>
          <a:xfrm>
            <a:off x="6949440" y="1005840"/>
            <a:ext cx="1920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65" name="Shape 55"/>
          <p:cNvSpPr/>
          <p:nvPr/>
        </p:nvSpPr>
        <p:spPr>
          <a:xfrm>
            <a:off x="6949440" y="1005840"/>
            <a:ext cx="1920240" cy="38405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66" name="Text 56"/>
          <p:cNvSpPr/>
          <p:nvPr/>
        </p:nvSpPr>
        <p:spPr>
          <a:xfrm>
            <a:off x="7022592" y="104241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CC"/>
                </a:solidFill>
              </a:rPr>
              <a:t>Search UI</a:t>
            </a:r>
            <a:endParaRPr lang="en-US" sz="1200" dirty="0"/>
          </a:p>
        </p:txBody>
      </p:sp>
      <p:sp>
        <p:nvSpPr>
          <p:cNvPr id="67" name="Text 57"/>
          <p:cNvSpPr/>
          <p:nvPr/>
        </p:nvSpPr>
        <p:spPr>
          <a:xfrm>
            <a:off x="7022592" y="129844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React · BM25</a:t>
            </a:r>
            <a:endParaRPr lang="en-US" sz="900" dirty="0"/>
          </a:p>
        </p:txBody>
      </p:sp>
      <p:sp>
        <p:nvSpPr>
          <p:cNvPr id="68" name="Shape 58"/>
          <p:cNvSpPr/>
          <p:nvPr/>
        </p:nvSpPr>
        <p:spPr>
          <a:xfrm>
            <a:off x="6711696" y="2130552"/>
            <a:ext cx="237744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9" name="Shape 59"/>
          <p:cNvSpPr/>
          <p:nvPr/>
        </p:nvSpPr>
        <p:spPr>
          <a:xfrm>
            <a:off x="6949440" y="1883664"/>
            <a:ext cx="1920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70" name="Shape 60"/>
          <p:cNvSpPr/>
          <p:nvPr/>
        </p:nvSpPr>
        <p:spPr>
          <a:xfrm>
            <a:off x="6949440" y="1883664"/>
            <a:ext cx="1920240" cy="3840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1" name="Text 61"/>
          <p:cNvSpPr/>
          <p:nvPr/>
        </p:nvSpPr>
        <p:spPr>
          <a:xfrm>
            <a:off x="7022592" y="192024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Intelligence</a:t>
            </a:r>
            <a:endParaRPr lang="en-US" sz="1200" dirty="0"/>
          </a:p>
        </p:txBody>
      </p:sp>
      <p:sp>
        <p:nvSpPr>
          <p:cNvPr id="72" name="Text 62"/>
          <p:cNvSpPr/>
          <p:nvPr/>
        </p:nvSpPr>
        <p:spPr>
          <a:xfrm>
            <a:off x="7022592" y="2176272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10 dashboards</a:t>
            </a:r>
            <a:endParaRPr lang="en-US" sz="900" dirty="0"/>
          </a:p>
        </p:txBody>
      </p:sp>
      <p:sp>
        <p:nvSpPr>
          <p:cNvPr id="73" name="Shape 63"/>
          <p:cNvSpPr/>
          <p:nvPr/>
        </p:nvSpPr>
        <p:spPr>
          <a:xfrm>
            <a:off x="6711696" y="3008376"/>
            <a:ext cx="237744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4" name="Shape 64"/>
          <p:cNvSpPr/>
          <p:nvPr/>
        </p:nvSpPr>
        <p:spPr>
          <a:xfrm>
            <a:off x="6949440" y="2761488"/>
            <a:ext cx="1920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75" name="Shape 65"/>
          <p:cNvSpPr/>
          <p:nvPr/>
        </p:nvSpPr>
        <p:spPr>
          <a:xfrm>
            <a:off x="6949440" y="2761488"/>
            <a:ext cx="1920240" cy="38405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6" name="Text 66"/>
          <p:cNvSpPr/>
          <p:nvPr/>
        </p:nvSpPr>
        <p:spPr>
          <a:xfrm>
            <a:off x="7022592" y="279806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Community</a:t>
            </a:r>
            <a:endParaRPr lang="en-US" sz="1200" dirty="0"/>
          </a:p>
        </p:txBody>
      </p:sp>
      <p:sp>
        <p:nvSpPr>
          <p:cNvPr id="77" name="Text 67"/>
          <p:cNvSpPr/>
          <p:nvPr/>
        </p:nvSpPr>
        <p:spPr>
          <a:xfrm>
            <a:off x="7022592" y="3054096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Flags &amp; Notes</a:t>
            </a:r>
            <a:endParaRPr lang="en-US" sz="900" dirty="0"/>
          </a:p>
        </p:txBody>
      </p:sp>
      <p:sp>
        <p:nvSpPr>
          <p:cNvPr id="78" name="Shape 68"/>
          <p:cNvSpPr/>
          <p:nvPr/>
        </p:nvSpPr>
        <p:spPr>
          <a:xfrm>
            <a:off x="6711696" y="3886200"/>
            <a:ext cx="237744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9" name="Shape 69"/>
          <p:cNvSpPr/>
          <p:nvPr/>
        </p:nvSpPr>
        <p:spPr>
          <a:xfrm>
            <a:off x="6949440" y="3639312"/>
            <a:ext cx="1920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80" name="Shape 70"/>
          <p:cNvSpPr/>
          <p:nvPr/>
        </p:nvSpPr>
        <p:spPr>
          <a:xfrm>
            <a:off x="6949440" y="3639312"/>
            <a:ext cx="1920240" cy="38405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1" name="Text 71"/>
          <p:cNvSpPr/>
          <p:nvPr/>
        </p:nvSpPr>
        <p:spPr>
          <a:xfrm>
            <a:off x="7022592" y="367588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Share Links</a:t>
            </a:r>
            <a:endParaRPr lang="en-US" sz="1200" dirty="0"/>
          </a:p>
        </p:txBody>
      </p:sp>
      <p:sp>
        <p:nvSpPr>
          <p:cNvPr id="82" name="Text 72"/>
          <p:cNvSpPr/>
          <p:nvPr/>
        </p:nvSpPr>
        <p:spPr>
          <a:xfrm>
            <a:off x="7022592" y="393192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/join/:topic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20117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4572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874"/>
                </a:solidFill>
              </a:rPr>
              <a:t>What's Live Today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84048" y="3657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9 features. Running on your infrastructure. Real data.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92624"/>
            <a:ext cx="80467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EKM  ·  Enterprise Knowledge Management  ·  E3  ·  Citi   |   CONFIDENTIAL  ·  INTERNAL USE ONLY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595360" y="4992624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" y="859536"/>
            <a:ext cx="276148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859536"/>
            <a:ext cx="2761488" cy="38405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" y="950976"/>
            <a:ext cx="475488" cy="475488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321" y="1057961"/>
            <a:ext cx="261518" cy="26151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24128" y="950976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874"/>
                </a:solidFill>
              </a:rPr>
              <a:t>Unified Search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024128" y="1261872"/>
            <a:ext cx="182880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4048" y="1335024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BM25 full-text across Jira, Confluence, GitHub &amp; SharePoint simultaneously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163824" y="859536"/>
            <a:ext cx="276148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163824" y="859536"/>
            <a:ext cx="2761488" cy="3840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10128" y="950976"/>
            <a:ext cx="475488" cy="475488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7113" y="1057961"/>
            <a:ext cx="261518" cy="26151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931920" y="950976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874"/>
                </a:solidFill>
              </a:rPr>
              <a:t>Intelligence Hub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3931920" y="1261872"/>
            <a:ext cx="182880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291840" y="1335024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10-tab analytics: knowledge gaps, risk, experts, coverage, velocity &amp; more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071616" y="859536"/>
            <a:ext cx="276148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071616" y="859536"/>
            <a:ext cx="2761488" cy="38405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217920" y="950976"/>
            <a:ext cx="475488" cy="475488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905" y="1057961"/>
            <a:ext cx="261518" cy="26151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839712" y="950976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874"/>
                </a:solidFill>
              </a:rPr>
              <a:t>Community Flags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839712" y="1261872"/>
            <a:ext cx="182880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199632" y="1335024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Mark docs outdated, incorrect, useful or needing SME review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256032" y="2194560"/>
            <a:ext cx="276148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256032" y="2194560"/>
            <a:ext cx="2761488" cy="38405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402336" y="2286000"/>
            <a:ext cx="475488" cy="475488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1" y="2392985"/>
            <a:ext cx="261518" cy="26151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024128" y="228600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874"/>
                </a:solidFill>
              </a:rPr>
              <a:t>Onboarding Paths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1024128" y="2596896"/>
            <a:ext cx="182880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384048" y="2670048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Auto-generated learning journeys — share with any new joiner instantly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3163824" y="2194560"/>
            <a:ext cx="276148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3163824" y="2194560"/>
            <a:ext cx="2761488" cy="38405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3310128" y="2286000"/>
            <a:ext cx="475488" cy="475488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7113" y="2392985"/>
            <a:ext cx="261518" cy="26151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3931920" y="228600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874"/>
                </a:solidFill>
              </a:rPr>
              <a:t>Risk &amp; Vendor Intel</a:t>
            </a:r>
            <a:endParaRPr lang="en-US" sz="1300" dirty="0"/>
          </a:p>
        </p:txBody>
      </p:sp>
      <p:sp>
        <p:nvSpPr>
          <p:cNvPr id="42" name="Shape 35"/>
          <p:cNvSpPr/>
          <p:nvPr/>
        </p:nvSpPr>
        <p:spPr>
          <a:xfrm>
            <a:off x="3931920" y="2596896"/>
            <a:ext cx="182880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3291840" y="2670048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TECH NE vendor classification with knowledge concentration risk alerts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6071616" y="2194560"/>
            <a:ext cx="276148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6071616" y="2194560"/>
            <a:ext cx="2761488" cy="3840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6217920" y="2286000"/>
            <a:ext cx="475488" cy="475488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905" y="2392985"/>
            <a:ext cx="261518" cy="261518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6839712" y="228600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874"/>
                </a:solidFill>
              </a:rPr>
              <a:t>Smart Annotations</a:t>
            </a:r>
            <a:endParaRPr lang="en-US" sz="1300" dirty="0"/>
          </a:p>
        </p:txBody>
      </p:sp>
      <p:sp>
        <p:nvSpPr>
          <p:cNvPr id="49" name="Shape 41"/>
          <p:cNvSpPr/>
          <p:nvPr/>
        </p:nvSpPr>
        <p:spPr>
          <a:xfrm>
            <a:off x="6839712" y="2596896"/>
            <a:ext cx="182880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2"/>
          <p:cNvSpPr/>
          <p:nvPr/>
        </p:nvSpPr>
        <p:spPr>
          <a:xfrm>
            <a:off x="6199632" y="2670048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Contextual notes, corrections &amp; suggestions with community upvotes</a:t>
            </a:r>
            <a:endParaRPr lang="en-US" sz="1000" dirty="0"/>
          </a:p>
        </p:txBody>
      </p:sp>
      <p:sp>
        <p:nvSpPr>
          <p:cNvPr id="51" name="Shape 43"/>
          <p:cNvSpPr/>
          <p:nvPr/>
        </p:nvSpPr>
        <p:spPr>
          <a:xfrm>
            <a:off x="256032" y="3529584"/>
            <a:ext cx="276148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52" name="Shape 44"/>
          <p:cNvSpPr/>
          <p:nvPr/>
        </p:nvSpPr>
        <p:spPr>
          <a:xfrm>
            <a:off x="256032" y="3529584"/>
            <a:ext cx="2761488" cy="38405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>
            <a:off x="402336" y="3621024"/>
            <a:ext cx="475488" cy="475488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321" y="3728009"/>
            <a:ext cx="261518" cy="261518"/>
          </a:xfrm>
          <a:prstGeom prst="rect">
            <a:avLst/>
          </a:prstGeom>
        </p:spPr>
      </p:pic>
      <p:sp>
        <p:nvSpPr>
          <p:cNvPr id="55" name="Text 46"/>
          <p:cNvSpPr/>
          <p:nvPr/>
        </p:nvSpPr>
        <p:spPr>
          <a:xfrm>
            <a:off x="1024128" y="3621024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874"/>
                </a:solidFill>
              </a:rPr>
              <a:t>Coverage Scores</a:t>
            </a:r>
            <a:endParaRPr lang="en-US" sz="1300" dirty="0"/>
          </a:p>
        </p:txBody>
      </p:sp>
      <p:sp>
        <p:nvSpPr>
          <p:cNvPr id="56" name="Shape 47"/>
          <p:cNvSpPr/>
          <p:nvPr/>
        </p:nvSpPr>
        <p:spPr>
          <a:xfrm>
            <a:off x="1024128" y="3931920"/>
            <a:ext cx="182880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48"/>
          <p:cNvSpPr/>
          <p:nvPr/>
        </p:nvSpPr>
        <p:spPr>
          <a:xfrm>
            <a:off x="384048" y="4005072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Per-topic documentation grade A–F across all four sources</a:t>
            </a:r>
            <a:endParaRPr lang="en-US" sz="1000" dirty="0"/>
          </a:p>
        </p:txBody>
      </p:sp>
      <p:sp>
        <p:nvSpPr>
          <p:cNvPr id="58" name="Shape 49"/>
          <p:cNvSpPr/>
          <p:nvPr/>
        </p:nvSpPr>
        <p:spPr>
          <a:xfrm>
            <a:off x="3163824" y="3529584"/>
            <a:ext cx="276148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59" name="Shape 50"/>
          <p:cNvSpPr/>
          <p:nvPr/>
        </p:nvSpPr>
        <p:spPr>
          <a:xfrm>
            <a:off x="3163824" y="3529584"/>
            <a:ext cx="2761488" cy="38405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0" name="Shape 51"/>
          <p:cNvSpPr/>
          <p:nvPr/>
        </p:nvSpPr>
        <p:spPr>
          <a:xfrm>
            <a:off x="3310128" y="3621024"/>
            <a:ext cx="475488" cy="475488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7113" y="3728009"/>
            <a:ext cx="261518" cy="261518"/>
          </a:xfrm>
          <a:prstGeom prst="rect">
            <a:avLst/>
          </a:prstGeom>
        </p:spPr>
      </p:pic>
      <p:sp>
        <p:nvSpPr>
          <p:cNvPr id="62" name="Text 52"/>
          <p:cNvSpPr/>
          <p:nvPr/>
        </p:nvSpPr>
        <p:spPr>
          <a:xfrm>
            <a:off x="3931920" y="3621024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874"/>
                </a:solidFill>
              </a:rPr>
              <a:t>Leaderboard &amp; Digest</a:t>
            </a:r>
            <a:endParaRPr lang="en-US" sz="1300" dirty="0"/>
          </a:p>
        </p:txBody>
      </p:sp>
      <p:sp>
        <p:nvSpPr>
          <p:cNvPr id="63" name="Shape 53"/>
          <p:cNvSpPr/>
          <p:nvPr/>
        </p:nvSpPr>
        <p:spPr>
          <a:xfrm>
            <a:off x="3931920" y="3931920"/>
            <a:ext cx="182880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54"/>
          <p:cNvSpPr/>
          <p:nvPr/>
        </p:nvSpPr>
        <p:spPr>
          <a:xfrm>
            <a:off x="3291840" y="4005072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Gamified contributions with weekly knowledge digest and rankings</a:t>
            </a:r>
            <a:endParaRPr lang="en-US" sz="1000" dirty="0"/>
          </a:p>
        </p:txBody>
      </p:sp>
      <p:sp>
        <p:nvSpPr>
          <p:cNvPr id="65" name="Shape 55"/>
          <p:cNvSpPr/>
          <p:nvPr/>
        </p:nvSpPr>
        <p:spPr>
          <a:xfrm>
            <a:off x="6071616" y="3529584"/>
            <a:ext cx="276148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66" name="Shape 56"/>
          <p:cNvSpPr/>
          <p:nvPr/>
        </p:nvSpPr>
        <p:spPr>
          <a:xfrm>
            <a:off x="6071616" y="3529584"/>
            <a:ext cx="2761488" cy="38405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67" name="Shape 57"/>
          <p:cNvSpPr/>
          <p:nvPr/>
        </p:nvSpPr>
        <p:spPr>
          <a:xfrm>
            <a:off x="6217920" y="3621024"/>
            <a:ext cx="475488" cy="475488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905" y="3728009"/>
            <a:ext cx="261518" cy="261518"/>
          </a:xfrm>
          <a:prstGeom prst="rect">
            <a:avLst/>
          </a:prstGeom>
        </p:spPr>
      </p:pic>
      <p:sp>
        <p:nvSpPr>
          <p:cNvPr id="69" name="Text 58"/>
          <p:cNvSpPr/>
          <p:nvPr/>
        </p:nvSpPr>
        <p:spPr>
          <a:xfrm>
            <a:off x="6839712" y="3621024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874"/>
                </a:solidFill>
              </a:rPr>
              <a:t>Deep Links</a:t>
            </a:r>
            <a:endParaRPr lang="en-US" sz="1300" dirty="0"/>
          </a:p>
        </p:txBody>
      </p:sp>
      <p:sp>
        <p:nvSpPr>
          <p:cNvPr id="70" name="Shape 59"/>
          <p:cNvSpPr/>
          <p:nvPr/>
        </p:nvSpPr>
        <p:spPr>
          <a:xfrm>
            <a:off x="6839712" y="3931920"/>
            <a:ext cx="182880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0"/>
          <p:cNvSpPr/>
          <p:nvPr/>
        </p:nvSpPr>
        <p:spPr>
          <a:xfrm>
            <a:off x="6199632" y="4005072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Shareable /join/:topic URLs route directly to curated onboarding paths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20117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4572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874"/>
                </a:solidFill>
              </a:rPr>
              <a:t>Intelligence Layer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84048" y="3657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From 5,092 raw documents to 10 actionable analytical views.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92624"/>
            <a:ext cx="80467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EKM  ·  Enterprise Knowledge Management  ·  E3  ·  Citi   |   CONFIDENTIAL  ·  INTERNAL USE ONLY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595360" y="4992624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5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" y="804672"/>
            <a:ext cx="2944368" cy="4041648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804672"/>
            <a:ext cx="2944368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950976"/>
            <a:ext cx="566928" cy="56692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47472" y="1572768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Beyond Search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804672" y="2011680"/>
            <a:ext cx="1847088" cy="320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139696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3232" y="210312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Identify undocumented systems</a:t>
            </a:r>
            <a:endParaRPr lang="en-US" sz="10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2468880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3232" y="2432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See who owns critical topics</a:t>
            </a:r>
            <a:endParaRPr lang="en-US" sz="10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2798064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3232" y="276148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Track knowledge freshness</a:t>
            </a:r>
            <a:endParaRPr lang="en-US" sz="10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3127248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3232" y="309067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Detect vendor concentration risk</a:t>
            </a:r>
            <a:endParaRPr lang="en-US" sz="10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" y="3456432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13232" y="341985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Visualise topic activity velocity</a:t>
            </a:r>
            <a:endParaRPr lang="en-US" sz="105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624" y="3785616"/>
            <a:ext cx="201168" cy="20116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13232" y="374904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Generate SME handover packs</a:t>
            </a:r>
            <a:endParaRPr lang="en-US" sz="1050" dirty="0"/>
          </a:p>
        </p:txBody>
      </p:sp>
      <p:sp>
        <p:nvSpPr>
          <p:cNvPr id="26" name="Shape 17"/>
          <p:cNvSpPr/>
          <p:nvPr/>
        </p:nvSpPr>
        <p:spPr>
          <a:xfrm>
            <a:off x="3419856" y="822960"/>
            <a:ext cx="261518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27" name="Shape 18"/>
          <p:cNvSpPr/>
          <p:nvPr/>
        </p:nvSpPr>
        <p:spPr>
          <a:xfrm>
            <a:off x="3419856" y="822960"/>
            <a:ext cx="38405" cy="64008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8" name="Shape 19"/>
          <p:cNvSpPr/>
          <p:nvPr/>
        </p:nvSpPr>
        <p:spPr>
          <a:xfrm>
            <a:off x="3502152" y="932688"/>
            <a:ext cx="420624" cy="420624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6792" y="1027328"/>
            <a:ext cx="231343" cy="231343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078224" y="88696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874"/>
                </a:solidFill>
              </a:rPr>
              <a:t>Knowledge Gaps</a:t>
            </a:r>
            <a:endParaRPr lang="en-US" sz="1150" dirty="0"/>
          </a:p>
        </p:txBody>
      </p:sp>
      <p:sp>
        <p:nvSpPr>
          <p:cNvPr id="31" name="Text 21"/>
          <p:cNvSpPr/>
          <p:nvPr/>
        </p:nvSpPr>
        <p:spPr>
          <a:xfrm>
            <a:off x="4078224" y="1188720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Undocumented topics</a:t>
            </a:r>
            <a:endParaRPr lang="en-US" sz="900" dirty="0"/>
          </a:p>
        </p:txBody>
      </p:sp>
      <p:sp>
        <p:nvSpPr>
          <p:cNvPr id="32" name="Shape 22"/>
          <p:cNvSpPr/>
          <p:nvPr/>
        </p:nvSpPr>
        <p:spPr>
          <a:xfrm>
            <a:off x="6181344" y="822960"/>
            <a:ext cx="261518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6181344" y="822960"/>
            <a:ext cx="38405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Shape 24"/>
          <p:cNvSpPr/>
          <p:nvPr/>
        </p:nvSpPr>
        <p:spPr>
          <a:xfrm>
            <a:off x="6263640" y="932688"/>
            <a:ext cx="420624" cy="420624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8280" y="1027328"/>
            <a:ext cx="231343" cy="231343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839712" y="88696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874"/>
                </a:solidFill>
              </a:rPr>
              <a:t>Risk &amp; Vendors</a:t>
            </a:r>
            <a:endParaRPr lang="en-US" sz="1150" dirty="0"/>
          </a:p>
        </p:txBody>
      </p:sp>
      <p:sp>
        <p:nvSpPr>
          <p:cNvPr id="37" name="Text 26"/>
          <p:cNvSpPr/>
          <p:nvPr/>
        </p:nvSpPr>
        <p:spPr>
          <a:xfrm>
            <a:off x="6839712" y="1188720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TECH NE analysis</a:t>
            </a:r>
            <a:endParaRPr lang="en-US" sz="900" dirty="0"/>
          </a:p>
        </p:txBody>
      </p:sp>
      <p:sp>
        <p:nvSpPr>
          <p:cNvPr id="38" name="Shape 27"/>
          <p:cNvSpPr/>
          <p:nvPr/>
        </p:nvSpPr>
        <p:spPr>
          <a:xfrm>
            <a:off x="3419856" y="1591056"/>
            <a:ext cx="261518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3419856" y="1591056"/>
            <a:ext cx="38405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0" name="Shape 29"/>
          <p:cNvSpPr/>
          <p:nvPr/>
        </p:nvSpPr>
        <p:spPr>
          <a:xfrm>
            <a:off x="3502152" y="1700784"/>
            <a:ext cx="420624" cy="420624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96792" y="1795424"/>
            <a:ext cx="231343" cy="231343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4078224" y="1655064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874"/>
                </a:solidFill>
              </a:rPr>
              <a:t>Experts at Risk</a:t>
            </a:r>
            <a:endParaRPr lang="en-US" sz="1150" dirty="0"/>
          </a:p>
        </p:txBody>
      </p:sp>
      <p:sp>
        <p:nvSpPr>
          <p:cNvPr id="43" name="Text 31"/>
          <p:cNvSpPr/>
          <p:nvPr/>
        </p:nvSpPr>
        <p:spPr>
          <a:xfrm>
            <a:off x="4078224" y="1956816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SME departure alerts</a:t>
            </a:r>
            <a:endParaRPr lang="en-US" sz="900" dirty="0"/>
          </a:p>
        </p:txBody>
      </p:sp>
      <p:sp>
        <p:nvSpPr>
          <p:cNvPr id="44" name="Shape 32"/>
          <p:cNvSpPr/>
          <p:nvPr/>
        </p:nvSpPr>
        <p:spPr>
          <a:xfrm>
            <a:off x="6181344" y="1591056"/>
            <a:ext cx="261518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45" name="Shape 33"/>
          <p:cNvSpPr/>
          <p:nvPr/>
        </p:nvSpPr>
        <p:spPr>
          <a:xfrm>
            <a:off x="6181344" y="1591056"/>
            <a:ext cx="38405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Shape 34"/>
          <p:cNvSpPr/>
          <p:nvPr/>
        </p:nvSpPr>
        <p:spPr>
          <a:xfrm>
            <a:off x="6263640" y="1700784"/>
            <a:ext cx="420624" cy="420624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8280" y="1795424"/>
            <a:ext cx="231343" cy="231343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6839712" y="1655064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874"/>
                </a:solidFill>
              </a:rPr>
              <a:t>Coverage Score</a:t>
            </a:r>
            <a:endParaRPr lang="en-US" sz="1150" dirty="0"/>
          </a:p>
        </p:txBody>
      </p:sp>
      <p:sp>
        <p:nvSpPr>
          <p:cNvPr id="49" name="Text 36"/>
          <p:cNvSpPr/>
          <p:nvPr/>
        </p:nvSpPr>
        <p:spPr>
          <a:xfrm>
            <a:off x="6839712" y="1956816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A–F doc grade</a:t>
            </a:r>
            <a:endParaRPr lang="en-US" sz="900" dirty="0"/>
          </a:p>
        </p:txBody>
      </p:sp>
      <p:sp>
        <p:nvSpPr>
          <p:cNvPr id="50" name="Shape 37"/>
          <p:cNvSpPr/>
          <p:nvPr/>
        </p:nvSpPr>
        <p:spPr>
          <a:xfrm>
            <a:off x="3419856" y="2359152"/>
            <a:ext cx="261518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51" name="Shape 38"/>
          <p:cNvSpPr/>
          <p:nvPr/>
        </p:nvSpPr>
        <p:spPr>
          <a:xfrm>
            <a:off x="3419856" y="2359152"/>
            <a:ext cx="38405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Shape 39"/>
          <p:cNvSpPr/>
          <p:nvPr/>
        </p:nvSpPr>
        <p:spPr>
          <a:xfrm>
            <a:off x="3502152" y="2468880"/>
            <a:ext cx="420624" cy="420624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96792" y="2563520"/>
            <a:ext cx="231343" cy="231343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4078224" y="242316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874"/>
                </a:solidFill>
              </a:rPr>
              <a:t>Velocity</a:t>
            </a:r>
            <a:endParaRPr lang="en-US" sz="1150" dirty="0"/>
          </a:p>
        </p:txBody>
      </p:sp>
      <p:sp>
        <p:nvSpPr>
          <p:cNvPr id="55" name="Text 41"/>
          <p:cNvSpPr/>
          <p:nvPr/>
        </p:nvSpPr>
        <p:spPr>
          <a:xfrm>
            <a:off x="4078224" y="272491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Activity trend</a:t>
            </a:r>
            <a:endParaRPr lang="en-US" sz="900" dirty="0"/>
          </a:p>
        </p:txBody>
      </p:sp>
      <p:sp>
        <p:nvSpPr>
          <p:cNvPr id="56" name="Shape 42"/>
          <p:cNvSpPr/>
          <p:nvPr/>
        </p:nvSpPr>
        <p:spPr>
          <a:xfrm>
            <a:off x="6181344" y="2359152"/>
            <a:ext cx="261518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57" name="Shape 43"/>
          <p:cNvSpPr/>
          <p:nvPr/>
        </p:nvSpPr>
        <p:spPr>
          <a:xfrm>
            <a:off x="6181344" y="2359152"/>
            <a:ext cx="38405" cy="6400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58" name="Shape 44"/>
          <p:cNvSpPr/>
          <p:nvPr/>
        </p:nvSpPr>
        <p:spPr>
          <a:xfrm>
            <a:off x="6263640" y="2468880"/>
            <a:ext cx="420624" cy="420624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58280" y="2563520"/>
            <a:ext cx="231343" cy="231343"/>
          </a:xfrm>
          <a:prstGeom prst="rect">
            <a:avLst/>
          </a:prstGeom>
        </p:spPr>
      </p:pic>
      <p:sp>
        <p:nvSpPr>
          <p:cNvPr id="60" name="Text 45"/>
          <p:cNvSpPr/>
          <p:nvPr/>
        </p:nvSpPr>
        <p:spPr>
          <a:xfrm>
            <a:off x="6839712" y="242316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874"/>
                </a:solidFill>
              </a:rPr>
              <a:t>Health Report</a:t>
            </a:r>
            <a:endParaRPr lang="en-US" sz="1150" dirty="0"/>
          </a:p>
        </p:txBody>
      </p:sp>
      <p:sp>
        <p:nvSpPr>
          <p:cNvPr id="61" name="Text 46"/>
          <p:cNvSpPr/>
          <p:nvPr/>
        </p:nvSpPr>
        <p:spPr>
          <a:xfrm>
            <a:off x="6839712" y="272491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Freshness audit</a:t>
            </a:r>
            <a:endParaRPr lang="en-US" sz="900" dirty="0"/>
          </a:p>
        </p:txBody>
      </p:sp>
      <p:sp>
        <p:nvSpPr>
          <p:cNvPr id="62" name="Shape 47"/>
          <p:cNvSpPr/>
          <p:nvPr/>
        </p:nvSpPr>
        <p:spPr>
          <a:xfrm>
            <a:off x="3419856" y="3127248"/>
            <a:ext cx="261518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63" name="Shape 48"/>
          <p:cNvSpPr/>
          <p:nvPr/>
        </p:nvSpPr>
        <p:spPr>
          <a:xfrm>
            <a:off x="3419856" y="3127248"/>
            <a:ext cx="38405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4" name="Shape 49"/>
          <p:cNvSpPr/>
          <p:nvPr/>
        </p:nvSpPr>
        <p:spPr>
          <a:xfrm>
            <a:off x="3502152" y="3236976"/>
            <a:ext cx="420624" cy="420624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96792" y="3331616"/>
            <a:ext cx="231343" cy="231343"/>
          </a:xfrm>
          <a:prstGeom prst="rect">
            <a:avLst/>
          </a:prstGeom>
        </p:spPr>
      </p:pic>
      <p:sp>
        <p:nvSpPr>
          <p:cNvPr id="66" name="Text 50"/>
          <p:cNvSpPr/>
          <p:nvPr/>
        </p:nvSpPr>
        <p:spPr>
          <a:xfrm>
            <a:off x="4078224" y="319125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874"/>
                </a:solidFill>
              </a:rPr>
              <a:t>Onboarding Path</a:t>
            </a:r>
            <a:endParaRPr lang="en-US" sz="1150" dirty="0"/>
          </a:p>
        </p:txBody>
      </p:sp>
      <p:sp>
        <p:nvSpPr>
          <p:cNvPr id="67" name="Text 51"/>
          <p:cNvSpPr/>
          <p:nvPr/>
        </p:nvSpPr>
        <p:spPr>
          <a:xfrm>
            <a:off x="4078224" y="3493008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New joiner journeys</a:t>
            </a:r>
            <a:endParaRPr lang="en-US" sz="900" dirty="0"/>
          </a:p>
        </p:txBody>
      </p:sp>
      <p:sp>
        <p:nvSpPr>
          <p:cNvPr id="68" name="Shape 52"/>
          <p:cNvSpPr/>
          <p:nvPr/>
        </p:nvSpPr>
        <p:spPr>
          <a:xfrm>
            <a:off x="6181344" y="3127248"/>
            <a:ext cx="261518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69" name="Shape 53"/>
          <p:cNvSpPr/>
          <p:nvPr/>
        </p:nvSpPr>
        <p:spPr>
          <a:xfrm>
            <a:off x="6181344" y="3127248"/>
            <a:ext cx="38405" cy="64008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70" name="Shape 54"/>
          <p:cNvSpPr/>
          <p:nvPr/>
        </p:nvSpPr>
        <p:spPr>
          <a:xfrm>
            <a:off x="6263640" y="3236976"/>
            <a:ext cx="420624" cy="420624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58280" y="3331616"/>
            <a:ext cx="231343" cy="231343"/>
          </a:xfrm>
          <a:prstGeom prst="rect">
            <a:avLst/>
          </a:prstGeom>
        </p:spPr>
      </p:pic>
      <p:sp>
        <p:nvSpPr>
          <p:cNvPr id="72" name="Text 55"/>
          <p:cNvSpPr/>
          <p:nvPr/>
        </p:nvSpPr>
        <p:spPr>
          <a:xfrm>
            <a:off x="6839712" y="319125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874"/>
                </a:solidFill>
              </a:rPr>
              <a:t>Knowledge Graph</a:t>
            </a:r>
            <a:endParaRPr lang="en-US" sz="1150" dirty="0"/>
          </a:p>
        </p:txBody>
      </p:sp>
      <p:sp>
        <p:nvSpPr>
          <p:cNvPr id="73" name="Text 56"/>
          <p:cNvSpPr/>
          <p:nvPr/>
        </p:nvSpPr>
        <p:spPr>
          <a:xfrm>
            <a:off x="6839712" y="3493008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Topic connections</a:t>
            </a:r>
            <a:endParaRPr lang="en-US" sz="900" dirty="0"/>
          </a:p>
        </p:txBody>
      </p:sp>
      <p:sp>
        <p:nvSpPr>
          <p:cNvPr id="74" name="Shape 57"/>
          <p:cNvSpPr/>
          <p:nvPr/>
        </p:nvSpPr>
        <p:spPr>
          <a:xfrm>
            <a:off x="3419856" y="3895344"/>
            <a:ext cx="261518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75" name="Shape 58"/>
          <p:cNvSpPr/>
          <p:nvPr/>
        </p:nvSpPr>
        <p:spPr>
          <a:xfrm>
            <a:off x="3419856" y="3895344"/>
            <a:ext cx="38405" cy="6400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6" name="Shape 59"/>
          <p:cNvSpPr/>
          <p:nvPr/>
        </p:nvSpPr>
        <p:spPr>
          <a:xfrm>
            <a:off x="3502152" y="4005072"/>
            <a:ext cx="420624" cy="420624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96792" y="4099712"/>
            <a:ext cx="231343" cy="231343"/>
          </a:xfrm>
          <a:prstGeom prst="rect">
            <a:avLst/>
          </a:prstGeom>
        </p:spPr>
      </p:pic>
      <p:sp>
        <p:nvSpPr>
          <p:cNvPr id="78" name="Text 60"/>
          <p:cNvSpPr/>
          <p:nvPr/>
        </p:nvSpPr>
        <p:spPr>
          <a:xfrm>
            <a:off x="4078224" y="395935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874"/>
                </a:solidFill>
              </a:rPr>
              <a:t>Handover Pack</a:t>
            </a:r>
            <a:endParaRPr lang="en-US" sz="1150" dirty="0"/>
          </a:p>
        </p:txBody>
      </p:sp>
      <p:sp>
        <p:nvSpPr>
          <p:cNvPr id="79" name="Text 61"/>
          <p:cNvSpPr/>
          <p:nvPr/>
        </p:nvSpPr>
        <p:spPr>
          <a:xfrm>
            <a:off x="4078224" y="4261104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SME exit docs</a:t>
            </a:r>
            <a:endParaRPr lang="en-US" sz="900" dirty="0"/>
          </a:p>
        </p:txBody>
      </p:sp>
      <p:sp>
        <p:nvSpPr>
          <p:cNvPr id="80" name="Shape 62"/>
          <p:cNvSpPr/>
          <p:nvPr/>
        </p:nvSpPr>
        <p:spPr>
          <a:xfrm>
            <a:off x="6181344" y="3895344"/>
            <a:ext cx="261518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81" name="Shape 63"/>
          <p:cNvSpPr/>
          <p:nvPr/>
        </p:nvSpPr>
        <p:spPr>
          <a:xfrm>
            <a:off x="6181344" y="3895344"/>
            <a:ext cx="38405" cy="6400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82" name="Shape 64"/>
          <p:cNvSpPr/>
          <p:nvPr/>
        </p:nvSpPr>
        <p:spPr>
          <a:xfrm>
            <a:off x="6263640" y="4005072"/>
            <a:ext cx="420624" cy="420624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58280" y="4099712"/>
            <a:ext cx="231343" cy="231343"/>
          </a:xfrm>
          <a:prstGeom prst="rect">
            <a:avLst/>
          </a:prstGeom>
        </p:spPr>
      </p:pic>
      <p:sp>
        <p:nvSpPr>
          <p:cNvPr id="84" name="Text 65"/>
          <p:cNvSpPr/>
          <p:nvPr/>
        </p:nvSpPr>
        <p:spPr>
          <a:xfrm>
            <a:off x="6839712" y="395935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874"/>
                </a:solidFill>
              </a:rPr>
              <a:t>People Search</a:t>
            </a:r>
            <a:endParaRPr lang="en-US" sz="1150" dirty="0"/>
          </a:p>
        </p:txBody>
      </p:sp>
      <p:sp>
        <p:nvSpPr>
          <p:cNvPr id="85" name="Text 66"/>
          <p:cNvSpPr/>
          <p:nvPr/>
        </p:nvSpPr>
        <p:spPr>
          <a:xfrm>
            <a:off x="6839712" y="4261104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Expert finder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20117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4572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874"/>
                </a:solidFill>
              </a:rPr>
              <a:t>Community Layer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84048" y="3657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Every engineer makes the platform smarter for the next.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92624"/>
            <a:ext cx="80467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EKM  ·  Enterprise Knowledge Management  ·  E3  ·  Citi   |   CONFIDENTIAL  ·  INTERNAL USE ONLY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595360" y="4992624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6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" y="822960"/>
            <a:ext cx="2761488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822960"/>
            <a:ext cx="2761488" cy="1261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43584" y="859536"/>
            <a:ext cx="804672" cy="804672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1024128"/>
            <a:ext cx="402336" cy="40233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65760" y="173736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Community Flags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65760" y="204825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4 signal types captured on every document</a:t>
            </a:r>
            <a:endParaRPr lang="en-US" sz="8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50592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68096" y="2414016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874"/>
                </a:solidFill>
              </a:rPr>
              <a:t>Outdated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68096" y="2596896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Content no longer reflects reality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98064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68096" y="276148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874"/>
                </a:solidFill>
              </a:rPr>
              <a:t>Incorrect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768096" y="2944368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Factual error identified by a reviewer</a:t>
            </a:r>
            <a:endParaRPr lang="en-US" sz="9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45536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8096" y="310896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874"/>
                </a:solidFill>
              </a:rPr>
              <a:t>Mark Useful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768096" y="3291840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High-value document — surface to others</a:t>
            </a:r>
            <a:endParaRPr lang="en-US" sz="9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493008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68096" y="3456432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874"/>
                </a:solidFill>
              </a:rPr>
              <a:t>Needs Review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768096" y="3639312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Escalate to SME for attention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3127248" y="822960"/>
            <a:ext cx="2761488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3127248" y="822960"/>
            <a:ext cx="2761488" cy="1261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114800" y="859536"/>
            <a:ext cx="804672" cy="804672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5968" y="1024128"/>
            <a:ext cx="402336" cy="40233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236976" y="173736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Smart Annotations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3236976" y="204825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3 types of community-added knowledge</a:t>
            </a:r>
            <a:endParaRPr lang="en-US" sz="85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8416" y="2450592"/>
            <a:ext cx="219456" cy="21945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3639312" y="2414016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874"/>
                </a:solidFill>
              </a:rPr>
              <a:t>Notes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3639312" y="2596896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Add contextual insight directly on a doc</a:t>
            </a:r>
            <a:endParaRPr lang="en-US" sz="90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8416" y="2798064"/>
            <a:ext cx="219456" cy="219456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3639312" y="276148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874"/>
                </a:solidFill>
              </a:rPr>
              <a:t>Suggestions</a:t>
            </a:r>
            <a:endParaRPr lang="en-US" sz="1100" dirty="0"/>
          </a:p>
        </p:txBody>
      </p:sp>
      <p:sp>
        <p:nvSpPr>
          <p:cNvPr id="38" name="Text 28"/>
          <p:cNvSpPr/>
          <p:nvPr/>
        </p:nvSpPr>
        <p:spPr>
          <a:xfrm>
            <a:off x="3639312" y="2944368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Propose improvements or missing content</a:t>
            </a:r>
            <a:endParaRPr lang="en-US" sz="900" dirty="0"/>
          </a:p>
        </p:txBody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28416" y="3145536"/>
            <a:ext cx="219456" cy="219456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3639312" y="310896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874"/>
                </a:solidFill>
              </a:rPr>
              <a:t>Corrections</a:t>
            </a:r>
            <a:endParaRPr lang="en-US" sz="1100" dirty="0"/>
          </a:p>
        </p:txBody>
      </p:sp>
      <p:sp>
        <p:nvSpPr>
          <p:cNvPr id="41" name="Text 30"/>
          <p:cNvSpPr/>
          <p:nvPr/>
        </p:nvSpPr>
        <p:spPr>
          <a:xfrm>
            <a:off x="3639312" y="3291840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Fix factual errors with upvote validation</a:t>
            </a:r>
            <a:endParaRPr lang="en-US" sz="900" dirty="0"/>
          </a:p>
        </p:txBody>
      </p:sp>
      <p:sp>
        <p:nvSpPr>
          <p:cNvPr id="42" name="Shape 31"/>
          <p:cNvSpPr/>
          <p:nvPr/>
        </p:nvSpPr>
        <p:spPr>
          <a:xfrm>
            <a:off x="5998464" y="822960"/>
            <a:ext cx="2761488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43" name="Shape 32"/>
          <p:cNvSpPr/>
          <p:nvPr/>
        </p:nvSpPr>
        <p:spPr>
          <a:xfrm>
            <a:off x="5998464" y="822960"/>
            <a:ext cx="2761488" cy="12618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Shape 33"/>
          <p:cNvSpPr/>
          <p:nvPr/>
        </p:nvSpPr>
        <p:spPr>
          <a:xfrm>
            <a:off x="6986016" y="859536"/>
            <a:ext cx="804672" cy="804672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87184" y="1024128"/>
            <a:ext cx="402336" cy="402336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6108192" y="173736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Digest &amp; Leaderboard</a:t>
            </a:r>
            <a:endParaRPr lang="en-US" sz="1500" dirty="0"/>
          </a:p>
        </p:txBody>
      </p:sp>
      <p:sp>
        <p:nvSpPr>
          <p:cNvPr id="47" name="Text 35"/>
          <p:cNvSpPr/>
          <p:nvPr/>
        </p:nvSpPr>
        <p:spPr>
          <a:xfrm>
            <a:off x="6108192" y="204825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Weekly intelligence surfaces the best contributions</a:t>
            </a:r>
            <a:endParaRPr lang="en-US" sz="850" dirty="0"/>
          </a:p>
        </p:txBody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9632" y="2450592"/>
            <a:ext cx="219456" cy="219456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6510528" y="2414016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874"/>
                </a:solidFill>
              </a:rPr>
              <a:t>Leaderboard</a:t>
            </a:r>
            <a:endParaRPr lang="en-US" sz="1100" dirty="0"/>
          </a:p>
        </p:txBody>
      </p:sp>
      <p:sp>
        <p:nvSpPr>
          <p:cNvPr id="50" name="Text 37"/>
          <p:cNvSpPr/>
          <p:nvPr/>
        </p:nvSpPr>
        <p:spPr>
          <a:xfrm>
            <a:off x="6510528" y="2596896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Top contributors ranked by quality &amp; volume</a:t>
            </a:r>
            <a:endParaRPr lang="en-US" sz="900" dirty="0"/>
          </a:p>
        </p:txBody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9632" y="2798064"/>
            <a:ext cx="219456" cy="219456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6510528" y="276148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874"/>
                </a:solidFill>
              </a:rPr>
              <a:t>Most Flagged</a:t>
            </a:r>
            <a:endParaRPr lang="en-US" sz="1100" dirty="0"/>
          </a:p>
        </p:txBody>
      </p:sp>
      <p:sp>
        <p:nvSpPr>
          <p:cNvPr id="53" name="Text 39"/>
          <p:cNvSpPr/>
          <p:nvPr/>
        </p:nvSpPr>
        <p:spPr>
          <a:xfrm>
            <a:off x="6510528" y="2944368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Docs needing urgent attention surfaced</a:t>
            </a:r>
            <a:endParaRPr lang="en-US" sz="900" dirty="0"/>
          </a:p>
        </p:txBody>
      </p:sp>
      <p:pic>
        <p:nvPicPr>
          <p:cNvPr id="5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99632" y="3145536"/>
            <a:ext cx="219456" cy="219456"/>
          </a:xfrm>
          <a:prstGeom prst="rect">
            <a:avLst/>
          </a:prstGeom>
        </p:spPr>
      </p:pic>
      <p:sp>
        <p:nvSpPr>
          <p:cNvPr id="55" name="Text 40"/>
          <p:cNvSpPr/>
          <p:nvPr/>
        </p:nvSpPr>
        <p:spPr>
          <a:xfrm>
            <a:off x="6510528" y="310896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874"/>
                </a:solidFill>
              </a:rPr>
              <a:t>Most Useful</a:t>
            </a:r>
            <a:endParaRPr lang="en-US" sz="1100" dirty="0"/>
          </a:p>
        </p:txBody>
      </p:sp>
      <p:sp>
        <p:nvSpPr>
          <p:cNvPr id="56" name="Text 41"/>
          <p:cNvSpPr/>
          <p:nvPr/>
        </p:nvSpPr>
        <p:spPr>
          <a:xfrm>
            <a:off x="6510528" y="3291840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Highest-rated docs promoted to new joiners</a:t>
            </a:r>
            <a:endParaRPr lang="en-US" sz="900" dirty="0"/>
          </a:p>
        </p:txBody>
      </p:sp>
      <p:pic>
        <p:nvPicPr>
          <p:cNvPr id="5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99632" y="3493008"/>
            <a:ext cx="219456" cy="219456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6510528" y="3456432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874"/>
                </a:solidFill>
              </a:rPr>
              <a:t>Weekly Digest</a:t>
            </a:r>
            <a:endParaRPr lang="en-US" sz="1100" dirty="0"/>
          </a:p>
        </p:txBody>
      </p:sp>
      <p:sp>
        <p:nvSpPr>
          <p:cNvPr id="59" name="Text 43"/>
          <p:cNvSpPr/>
          <p:nvPr/>
        </p:nvSpPr>
        <p:spPr>
          <a:xfrm>
            <a:off x="6510528" y="3639312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Activity summary — trends and highlights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" y="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</a:rPr>
              <a:t>LEAN CANVAS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38528" y="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Enterprise Knowledge Management  —  EKM  ·  E3  ·  Citi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126480" y="36576"/>
            <a:ext cx="1280160" cy="219456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0" y="3657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VERSION: 1.0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479792" y="36576"/>
            <a:ext cx="1572768" cy="219456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79792" y="3657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MARCH 2026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828800" y="292608"/>
            <a:ext cx="9144" cy="41559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92608"/>
            <a:ext cx="9144" cy="41559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292608"/>
            <a:ext cx="9144" cy="41559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292608"/>
            <a:ext cx="9144" cy="41559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370582"/>
            <a:ext cx="18288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0" y="2370582"/>
            <a:ext cx="18288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2370582"/>
            <a:ext cx="18288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0" y="2370582"/>
            <a:ext cx="18288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448556"/>
            <a:ext cx="91440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4448556"/>
            <a:ext cx="9144" cy="6949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92608"/>
            <a:ext cx="1828800" cy="2077974"/>
          </a:xfrm>
          <a:prstGeom prst="rect">
            <a:avLst/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" y="35661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0052CC"/>
                </a:solidFill>
              </a:rPr>
              <a:t>PROBLEM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1440" y="548640"/>
            <a:ext cx="1645920" cy="1371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" y="58521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P: Engineers run 4 separate searches per question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28016" y="84124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I: Knowledge exits silently with every SME departure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28016" y="109728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C: No unified source of truth across tools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28016" y="135331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U: Manual onboarding, manual audits — every time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828800" y="292608"/>
            <a:ext cx="1828800" cy="2077974"/>
          </a:xfrm>
          <a:prstGeom prst="rect">
            <a:avLst/>
          </a:prstGeom>
          <a:solidFill>
            <a:srgbClr val="F0FDF8"/>
          </a:solidFill>
          <a:ln w="12700">
            <a:solidFill>
              <a:srgbClr val="F0F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20240" y="35661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0891B2"/>
                </a:solidFill>
              </a:rPr>
              <a:t>SOLUTION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920240" y="548640"/>
            <a:ext cx="1645920" cy="1371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56816" y="58521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BM25 unified search — 1 query, 4 sources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956816" y="84124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10-tab intelligence hub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956816" y="109728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Community flags &amp; smart annotations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956816" y="135331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Deep-link /join/:topic onboarding URLs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0" y="292608"/>
            <a:ext cx="1828800" cy="4155948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49040" y="35661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</a:rPr>
              <a:t>UNIQUE VALUE PROPOSITION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767328" y="539496"/>
            <a:ext cx="1609344" cy="1280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49040" y="603504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One search.
All your knowledge.
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3749040" y="12618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891B2"/>
                </a:solidFill>
              </a:rPr>
              <a:t>Zero cold start.</a:t>
            </a:r>
            <a:endParaRPr lang="en-US" sz="1550" dirty="0"/>
          </a:p>
        </p:txBody>
      </p:sp>
      <p:sp>
        <p:nvSpPr>
          <p:cNvPr id="38" name="Shape 36"/>
          <p:cNvSpPr/>
          <p:nvPr/>
        </p:nvSpPr>
        <p:spPr>
          <a:xfrm>
            <a:off x="3913632" y="1664208"/>
            <a:ext cx="1316736" cy="12802"/>
          </a:xfrm>
          <a:prstGeom prst="rect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0" y="175564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5,092 docs · Day-1 ready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No cold start problem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749040" y="2626614"/>
            <a:ext cx="1645920" cy="1280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49040" y="243459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</a:rPr>
              <a:t>HIGH LEVEL CONCEPT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749040" y="269976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</a:rPr>
              <a:t>"Google for your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</a:rPr>
              <a:t>org's engineering knowledge"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749040" y="339471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Jira · Confluence · GitHub · SharePoint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1 clean interface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486400" y="292608"/>
            <a:ext cx="1828800" cy="2077974"/>
          </a:xfrm>
          <a:prstGeom prst="rect">
            <a:avLst/>
          </a:prstGeom>
          <a:solidFill>
            <a:srgbClr val="FFFBF0"/>
          </a:solidFill>
          <a:ln w="12700">
            <a:solidFill>
              <a:srgbClr val="FFFB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77840" y="35661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D97706"/>
                </a:solidFill>
              </a:rPr>
              <a:t>UNFAIR ADVANTAGE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577840" y="548640"/>
            <a:ext cx="1645920" cy="137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14416" y="58521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5,092 docs already indexed — Day 1 ready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614416" y="84124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Live NTLM SharePoint connector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614416" y="109728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Citi TECH NE vendor classifier built-in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614416" y="135331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Built by E3 — deep insider knowledge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315200" y="292608"/>
            <a:ext cx="1828800" cy="2077974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06640" y="35661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059669"/>
                </a:solidFill>
              </a:rPr>
              <a:t>CUSTOMER SEGMENTS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406640" y="548640"/>
            <a:ext cx="1645920" cy="1371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43216" y="58521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Engineering teams (primary users)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443216" y="84124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New joiners &amp; graduates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443216" y="109728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Project managers &amp; leads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443216" y="135331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Compliance &amp; audit teams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0" y="2370582"/>
            <a:ext cx="1828800" cy="2077974"/>
          </a:xfrm>
          <a:prstGeom prst="rect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1440" y="243459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D97706"/>
                </a:solidFill>
              </a:rPr>
              <a:t>EXISTING ALTERNATIVES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91440" y="2626614"/>
            <a:ext cx="1645920" cy="137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28016" y="266319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Native Jira / Confluence search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128016" y="291922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Manual wiki maintenance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128016" y="317525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Apache Answer (no Citi data)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128016" y="343128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SharePoint search (SP only)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1828800" y="2370582"/>
            <a:ext cx="1828800" cy="2077974"/>
          </a:xfrm>
          <a:prstGeom prst="rect">
            <a:avLst/>
          </a:prstGeom>
          <a:solidFill>
            <a:srgbClr val="F8F9FF"/>
          </a:solidFill>
          <a:ln w="12700">
            <a:solidFill>
              <a:srgbClr val="F8F9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920240" y="243459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0052CC"/>
                </a:solidFill>
              </a:rPr>
              <a:t>KEY METRICS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920240" y="2626614"/>
            <a:ext cx="1645920" cy="1371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956816" y="266319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Searches per week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1956816" y="291922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Zero-result query rate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1956816" y="317525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Community contributions/week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1956816" y="343128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Time-to-first-answer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486400" y="2370582"/>
            <a:ext cx="1828800" cy="2077974"/>
          </a:xfrm>
          <a:prstGeom prst="rect">
            <a:avLst/>
          </a:prstGeom>
          <a:solidFill>
            <a:srgbClr val="F8FFF4"/>
          </a:solidFill>
          <a:ln w="12700">
            <a:solidFill>
              <a:srgbClr val="F8FFF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577840" y="243459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059669"/>
                </a:solidFill>
              </a:rPr>
              <a:t>CHANNELS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5577840" y="2626614"/>
            <a:ext cx="1645920" cy="1371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614416" y="266319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localhost:3000 (internal deploy)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614416" y="291922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/join/:topic shareable deep links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614416" y="317525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Microsoft Teams integration path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614416" y="343128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Direct onboarding share URLs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7315200" y="2370582"/>
            <a:ext cx="1828800" cy="2077974"/>
          </a:xfrm>
          <a:prstGeom prst="rect">
            <a:avLst/>
          </a:prstGeom>
          <a:solidFill>
            <a:srgbClr val="FFF5F5"/>
          </a:solidFill>
          <a:ln w="12700">
            <a:solidFill>
              <a:srgbClr val="FFF5F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406640" y="243459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DC2626"/>
                </a:solidFill>
              </a:rPr>
              <a:t>EARLY ADOPTERS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7406640" y="2626614"/>
            <a:ext cx="1645920" cy="137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443216" y="266319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E3 engineering team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7443216" y="291922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New joiners — immediate value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7443216" y="317525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SMEs facing offboarding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7443216" y="343128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Knowledge owners &amp; leads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0" y="4448556"/>
            <a:ext cx="4572000" cy="694944"/>
          </a:xfrm>
          <a:prstGeom prst="rect">
            <a:avLst/>
          </a:prstGeom>
          <a:solidFill>
            <a:srgbClr val="F8F0FF"/>
          </a:solidFill>
          <a:ln w="12700">
            <a:solidFill>
              <a:srgbClr val="F8F0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9728" y="4521708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COST STRUCTURE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109728" y="4704588"/>
            <a:ext cx="4352544" cy="1097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09728" y="4759452"/>
            <a:ext cx="4352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MongoDB (existing infra)  ·  Python · FastAPI · React (open source)  ·  Engineer time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4581144" y="4448556"/>
            <a:ext cx="4562856" cy="694944"/>
          </a:xfrm>
          <a:prstGeom prst="rect">
            <a:avLst/>
          </a:prstGeom>
          <a:solidFill>
            <a:srgbClr val="F0FFF4"/>
          </a:solidFill>
          <a:ln w="12700">
            <a:solidFill>
              <a:srgbClr val="F0FFF4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681728" y="4521708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REVENUE STREAMS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4681728" y="4704588"/>
            <a:ext cx="4352544" cy="10973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681728" y="4759452"/>
            <a:ext cx="4352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Internal productivity uplift  ·  POC pathway to enterprise platform rollout across Citi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20117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4572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874"/>
                </a:solidFill>
              </a:rPr>
              <a:t>AI Integration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84048" y="3657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From search to synthesis — the next frontier for EKM.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92624"/>
            <a:ext cx="80467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EKM  ·  Enterprise Knowledge Management  ·  E3  ·  Citi   |   CONFIDENTIAL  ·  INTERNAL USE ONLY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595360" y="4992624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8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" y="804672"/>
            <a:ext cx="4224528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804672"/>
            <a:ext cx="4224528" cy="3840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804672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WITHOUT AI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402336" cy="402336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726" y="1462126"/>
            <a:ext cx="221285" cy="22128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87552" y="1371600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874"/>
                </a:solidFill>
              </a:rPr>
              <a:t>You search. You read.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987552" y="1609344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Engineer manually scans 10+ results per query to piece together an answer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84048" y="1956816"/>
            <a:ext cx="396849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2066544"/>
            <a:ext cx="402336" cy="402336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726" y="2157070"/>
            <a:ext cx="221285" cy="22128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87552" y="2066544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874"/>
                </a:solidFill>
              </a:rPr>
              <a:t>Context lost between docs.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987552" y="2304288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Jira ticket links to Confluence. Confluence links to GitHub. You follow each separately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84048" y="2651760"/>
            <a:ext cx="396849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57200" y="2761488"/>
            <a:ext cx="402336" cy="402336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26" y="2852014"/>
            <a:ext cx="221285" cy="22128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87552" y="2761488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874"/>
                </a:solidFill>
              </a:rPr>
              <a:t>Same question, every onboard.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987552" y="2999232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New joiners ask the same questions. Knowledge stays in peoples heads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384048" y="3346704"/>
            <a:ext cx="396849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57200" y="3456432"/>
            <a:ext cx="402336" cy="402336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726" y="3546958"/>
            <a:ext cx="221285" cy="22128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87552" y="345643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874"/>
                </a:solidFill>
              </a:rPr>
              <a:t>SME as the search engine.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987552" y="3694176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Senior engineers become bottlenecks because there is no synthesised answer layer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4480560" y="2779776"/>
            <a:ext cx="347472" cy="34747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754880" y="2706624"/>
            <a:ext cx="34747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4663440" y="2706624"/>
            <a:ext cx="137160" cy="34747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663440" y="2871216"/>
            <a:ext cx="137160" cy="34747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4407408" y="285292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</a:rPr>
              <a:t>AI</a:t>
            </a:r>
            <a:endParaRPr lang="en-US" sz="800" dirty="0"/>
          </a:p>
        </p:txBody>
      </p:sp>
      <p:sp>
        <p:nvSpPr>
          <p:cNvPr id="36" name="Shape 30"/>
          <p:cNvSpPr/>
          <p:nvPr/>
        </p:nvSpPr>
        <p:spPr>
          <a:xfrm>
            <a:off x="4919472" y="804672"/>
            <a:ext cx="3968496" cy="4041648"/>
          </a:xfrm>
          <a:prstGeom prst="rect">
            <a:avLst/>
          </a:prstGeom>
          <a:solidFill>
            <a:srgbClr val="FFFFFF"/>
          </a:solidFill>
          <a:ln w="22860">
            <a:solidFill>
              <a:srgbClr val="0052C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4919472" y="804672"/>
            <a:ext cx="3968496" cy="384048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4919472" y="804672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WITH AI  ·  EKM + CLAUDE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5138928" y="138988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0368" y="1463040"/>
            <a:ext cx="219456" cy="219456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650992" y="1371600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874"/>
                </a:solidFill>
              </a:rPr>
              <a:t>Ask. Get a synthesised answer.</a:t>
            </a:r>
            <a:endParaRPr lang="en-US" sz="1150" dirty="0"/>
          </a:p>
        </p:txBody>
      </p:sp>
      <p:sp>
        <p:nvSpPr>
          <p:cNvPr id="42" name="Text 35"/>
          <p:cNvSpPr/>
          <p:nvPr/>
        </p:nvSpPr>
        <p:spPr>
          <a:xfrm>
            <a:off x="5650992" y="1609344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RAG pipeline reads your 5,092 docs and returns a direct answer with citations</a:t>
            </a:r>
            <a:endParaRPr lang="en-US" sz="950" dirty="0"/>
          </a:p>
        </p:txBody>
      </p:sp>
      <p:sp>
        <p:nvSpPr>
          <p:cNvPr id="43" name="Shape 36"/>
          <p:cNvSpPr/>
          <p:nvPr/>
        </p:nvSpPr>
        <p:spPr>
          <a:xfrm>
            <a:off x="5047488" y="1956816"/>
            <a:ext cx="371246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5138928" y="2084832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0368" y="2157984"/>
            <a:ext cx="219456" cy="219456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5650992" y="206654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874"/>
                </a:solidFill>
              </a:rPr>
              <a:t>Context stitched automatically.</a:t>
            </a:r>
            <a:endParaRPr lang="en-US" sz="1150" dirty="0"/>
          </a:p>
        </p:txBody>
      </p:sp>
      <p:sp>
        <p:nvSpPr>
          <p:cNvPr id="47" name="Text 39"/>
          <p:cNvSpPr/>
          <p:nvPr/>
        </p:nvSpPr>
        <p:spPr>
          <a:xfrm>
            <a:off x="5650992" y="2304288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Claude connects Jira tickets, Confluence pages and GitHub PRs into a unified response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5047488" y="2651760"/>
            <a:ext cx="371246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5138928" y="2779776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0368" y="2852928"/>
            <a:ext cx="219456" cy="219456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5650992" y="2761488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874"/>
                </a:solidFill>
              </a:rPr>
              <a:t>Zero-repeat onboarding.</a:t>
            </a:r>
            <a:endParaRPr lang="en-US" sz="1150" dirty="0"/>
          </a:p>
        </p:txBody>
      </p:sp>
      <p:sp>
        <p:nvSpPr>
          <p:cNvPr id="52" name="Text 43"/>
          <p:cNvSpPr/>
          <p:nvPr/>
        </p:nvSpPr>
        <p:spPr>
          <a:xfrm>
            <a:off x="5650992" y="2999232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New joiner asks once. The AI answer is reusable and lives in EKM forever</a:t>
            </a:r>
            <a:endParaRPr lang="en-US" sz="950" dirty="0"/>
          </a:p>
        </p:txBody>
      </p:sp>
      <p:sp>
        <p:nvSpPr>
          <p:cNvPr id="53" name="Shape 44"/>
          <p:cNvSpPr/>
          <p:nvPr/>
        </p:nvSpPr>
        <p:spPr>
          <a:xfrm>
            <a:off x="5047488" y="3346704"/>
            <a:ext cx="371246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5138928" y="347472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0368" y="3547872"/>
            <a:ext cx="219456" cy="219456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5650992" y="3456432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874"/>
                </a:solidFill>
              </a:rPr>
              <a:t>SMEs freed from bottlenecks.</a:t>
            </a:r>
            <a:endParaRPr lang="en-US" sz="1150" dirty="0"/>
          </a:p>
        </p:txBody>
      </p:sp>
      <p:sp>
        <p:nvSpPr>
          <p:cNvPr id="57" name="Text 47"/>
          <p:cNvSpPr/>
          <p:nvPr/>
        </p:nvSpPr>
        <p:spPr>
          <a:xfrm>
            <a:off x="5650992" y="3694176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Routine questions answered instantly. SME time reserved for real decisions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20117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4572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874"/>
                </a:solidFill>
              </a:rPr>
              <a:t>AI Architecture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84048" y="3657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How Claude API integrates with the EKM engine via Retrieval-Augmented Generation.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92624"/>
            <a:ext cx="80467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EKM  ·  Enterprise Knowledge Management  ·  E3  ·  Citi   |   CONFIDENTIAL  ·  INTERNAL USE ONLY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595360" y="4992624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9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01168" y="987552"/>
            <a:ext cx="1572768" cy="1261872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" y="1060704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060704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060704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16736" y="1060704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" y="1389888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1389888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1389888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16736" y="1389888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" y="1719072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1719072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1719072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16736" y="1719072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" y="1115568"/>
            <a:ext cx="621792" cy="621792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225296"/>
            <a:ext cx="310896" cy="31089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256032" y="17739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User Query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256032" y="20116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>
                    <a:alpha val="80000"/>
                  </a:srgbClr>
                </a:solidFill>
              </a:rPr>
              <a:t>Natural language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FFFFFF">
                    <a:alpha val="80000"/>
                  </a:srgbClr>
                </a:solidFill>
              </a:rPr>
              <a:t>question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1792224" y="1604772"/>
            <a:ext cx="292608" cy="274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029968" y="1559052"/>
            <a:ext cx="27432" cy="1097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975104" y="1559052"/>
            <a:ext cx="91440" cy="274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975104" y="1650492"/>
            <a:ext cx="91440" cy="274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920240" y="987552"/>
            <a:ext cx="1572768" cy="1261872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2048256" y="1060704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377440" y="1060704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706624" y="1060704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035808" y="1060704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048256" y="1389888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377440" y="1389888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706624" y="1389888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035808" y="1389888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048256" y="1719072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377440" y="1719072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706624" y="1719072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035808" y="1719072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395728" y="1115568"/>
            <a:ext cx="621792" cy="621792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225296"/>
            <a:ext cx="310896" cy="310896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1975104" y="17739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BM25 Retrieval</a:t>
            </a:r>
            <a:endParaRPr lang="en-US" sz="1050" dirty="0"/>
          </a:p>
        </p:txBody>
      </p:sp>
      <p:sp>
        <p:nvSpPr>
          <p:cNvPr id="46" name="Text 42"/>
          <p:cNvSpPr/>
          <p:nvPr/>
        </p:nvSpPr>
        <p:spPr>
          <a:xfrm>
            <a:off x="1975104" y="20116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>
                    <a:alpha val="80000"/>
                  </a:srgbClr>
                </a:solidFill>
              </a:rPr>
              <a:t>Top-K docs from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FFFFFF">
                    <a:alpha val="80000"/>
                  </a:srgbClr>
                </a:solidFill>
              </a:rPr>
              <a:t>5,092 indexed</a:t>
            </a:r>
            <a:endParaRPr lang="en-US" sz="800" dirty="0"/>
          </a:p>
        </p:txBody>
      </p:sp>
      <p:sp>
        <p:nvSpPr>
          <p:cNvPr id="47" name="Shape 43"/>
          <p:cNvSpPr/>
          <p:nvPr/>
        </p:nvSpPr>
        <p:spPr>
          <a:xfrm>
            <a:off x="3511296" y="1604772"/>
            <a:ext cx="292608" cy="274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3749040" y="1559052"/>
            <a:ext cx="27432" cy="1097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3694176" y="1559052"/>
            <a:ext cx="91440" cy="274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3694176" y="1650492"/>
            <a:ext cx="91440" cy="274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3639312" y="987552"/>
            <a:ext cx="1572768" cy="12618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52" name="Shape 48"/>
          <p:cNvSpPr/>
          <p:nvPr/>
        </p:nvSpPr>
        <p:spPr>
          <a:xfrm>
            <a:off x="3767328" y="1060704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4096512" y="1060704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4425696" y="1060704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4754880" y="1060704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3767328" y="1389888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4096512" y="1389888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4425696" y="1389888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4754880" y="1389888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3767328" y="1719072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4096512" y="1719072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4425696" y="1719072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4754880" y="1719072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4114800" y="1115568"/>
            <a:ext cx="621792" cy="621792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1225296"/>
            <a:ext cx="310896" cy="310896"/>
          </a:xfrm>
          <a:prstGeom prst="rect">
            <a:avLst/>
          </a:prstGeom>
        </p:spPr>
      </p:pic>
      <p:sp>
        <p:nvSpPr>
          <p:cNvPr id="66" name="Text 61"/>
          <p:cNvSpPr/>
          <p:nvPr/>
        </p:nvSpPr>
        <p:spPr>
          <a:xfrm>
            <a:off x="3694176" y="17739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Context Window</a:t>
            </a:r>
            <a:endParaRPr lang="en-US" sz="1050" dirty="0"/>
          </a:p>
        </p:txBody>
      </p:sp>
      <p:sp>
        <p:nvSpPr>
          <p:cNvPr id="67" name="Text 62"/>
          <p:cNvSpPr/>
          <p:nvPr/>
        </p:nvSpPr>
        <p:spPr>
          <a:xfrm>
            <a:off x="3694176" y="20116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>
                    <a:alpha val="80000"/>
                  </a:srgbClr>
                </a:solidFill>
              </a:rPr>
              <a:t>Ranked chunks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FFFFFF">
                    <a:alpha val="80000"/>
                  </a:srgbClr>
                </a:solidFill>
              </a:rPr>
              <a:t>+ metadata</a:t>
            </a:r>
            <a:endParaRPr lang="en-US" sz="800" dirty="0"/>
          </a:p>
        </p:txBody>
      </p:sp>
      <p:sp>
        <p:nvSpPr>
          <p:cNvPr id="68" name="Shape 63"/>
          <p:cNvSpPr/>
          <p:nvPr/>
        </p:nvSpPr>
        <p:spPr>
          <a:xfrm>
            <a:off x="5230368" y="1604772"/>
            <a:ext cx="292608" cy="274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5468112" y="1559052"/>
            <a:ext cx="27432" cy="1097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5413248" y="1559052"/>
            <a:ext cx="91440" cy="274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5413248" y="1650492"/>
            <a:ext cx="91440" cy="274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5358384" y="987552"/>
            <a:ext cx="1572768" cy="1261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73" name="Shape 68"/>
          <p:cNvSpPr/>
          <p:nvPr/>
        </p:nvSpPr>
        <p:spPr>
          <a:xfrm>
            <a:off x="5486400" y="1060704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74" name="Shape 69"/>
          <p:cNvSpPr/>
          <p:nvPr/>
        </p:nvSpPr>
        <p:spPr>
          <a:xfrm>
            <a:off x="5815584" y="1060704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75" name="Shape 70"/>
          <p:cNvSpPr/>
          <p:nvPr/>
        </p:nvSpPr>
        <p:spPr>
          <a:xfrm>
            <a:off x="6144768" y="1060704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76" name="Shape 71"/>
          <p:cNvSpPr/>
          <p:nvPr/>
        </p:nvSpPr>
        <p:spPr>
          <a:xfrm>
            <a:off x="6473952" y="1060704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5486400" y="1389888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78" name="Shape 73"/>
          <p:cNvSpPr/>
          <p:nvPr/>
        </p:nvSpPr>
        <p:spPr>
          <a:xfrm>
            <a:off x="5815584" y="1389888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79" name="Shape 74"/>
          <p:cNvSpPr/>
          <p:nvPr/>
        </p:nvSpPr>
        <p:spPr>
          <a:xfrm>
            <a:off x="6144768" y="1389888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80" name="Shape 75"/>
          <p:cNvSpPr/>
          <p:nvPr/>
        </p:nvSpPr>
        <p:spPr>
          <a:xfrm>
            <a:off x="6473952" y="1389888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81" name="Shape 76"/>
          <p:cNvSpPr/>
          <p:nvPr/>
        </p:nvSpPr>
        <p:spPr>
          <a:xfrm>
            <a:off x="5486400" y="1719072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82" name="Shape 77"/>
          <p:cNvSpPr/>
          <p:nvPr/>
        </p:nvSpPr>
        <p:spPr>
          <a:xfrm>
            <a:off x="5815584" y="1719072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6144768" y="1719072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84" name="Shape 79"/>
          <p:cNvSpPr/>
          <p:nvPr/>
        </p:nvSpPr>
        <p:spPr>
          <a:xfrm>
            <a:off x="6473952" y="1719072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85" name="Shape 80"/>
          <p:cNvSpPr/>
          <p:nvPr/>
        </p:nvSpPr>
        <p:spPr>
          <a:xfrm>
            <a:off x="5833872" y="1115568"/>
            <a:ext cx="621792" cy="621792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4" y="1225296"/>
            <a:ext cx="310896" cy="310896"/>
          </a:xfrm>
          <a:prstGeom prst="rect">
            <a:avLst/>
          </a:prstGeom>
        </p:spPr>
      </p:pic>
      <p:sp>
        <p:nvSpPr>
          <p:cNvPr id="87" name="Text 81"/>
          <p:cNvSpPr/>
          <p:nvPr/>
        </p:nvSpPr>
        <p:spPr>
          <a:xfrm>
            <a:off x="5413248" y="17739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Claude API</a:t>
            </a:r>
            <a:endParaRPr lang="en-US" sz="1050" dirty="0"/>
          </a:p>
        </p:txBody>
      </p:sp>
      <p:sp>
        <p:nvSpPr>
          <p:cNvPr id="88" name="Text 82"/>
          <p:cNvSpPr/>
          <p:nvPr/>
        </p:nvSpPr>
        <p:spPr>
          <a:xfrm>
            <a:off x="5413248" y="20116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>
                    <a:alpha val="80000"/>
                  </a:srgbClr>
                </a:solidFill>
              </a:rPr>
              <a:t>claude-sonnet-4-6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FFFFFF">
                    <a:alpha val="80000"/>
                  </a:srgbClr>
                </a:solidFill>
              </a:rPr>
              <a:t>Anthropic</a:t>
            </a:r>
            <a:endParaRPr lang="en-US" sz="800" dirty="0"/>
          </a:p>
        </p:txBody>
      </p:sp>
      <p:sp>
        <p:nvSpPr>
          <p:cNvPr id="89" name="Shape 83"/>
          <p:cNvSpPr/>
          <p:nvPr/>
        </p:nvSpPr>
        <p:spPr>
          <a:xfrm>
            <a:off x="6949440" y="1604772"/>
            <a:ext cx="292608" cy="274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0" name="Shape 84"/>
          <p:cNvSpPr/>
          <p:nvPr/>
        </p:nvSpPr>
        <p:spPr>
          <a:xfrm>
            <a:off x="7187184" y="1559052"/>
            <a:ext cx="27432" cy="1097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1" name="Shape 85"/>
          <p:cNvSpPr/>
          <p:nvPr/>
        </p:nvSpPr>
        <p:spPr>
          <a:xfrm>
            <a:off x="7132320" y="1559052"/>
            <a:ext cx="91440" cy="274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2" name="Shape 86"/>
          <p:cNvSpPr/>
          <p:nvPr/>
        </p:nvSpPr>
        <p:spPr>
          <a:xfrm>
            <a:off x="7132320" y="1650492"/>
            <a:ext cx="91440" cy="274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3" name="Shape 87"/>
          <p:cNvSpPr/>
          <p:nvPr/>
        </p:nvSpPr>
        <p:spPr>
          <a:xfrm>
            <a:off x="7077456" y="987552"/>
            <a:ext cx="1572768" cy="12618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94" name="Shape 88"/>
          <p:cNvSpPr/>
          <p:nvPr/>
        </p:nvSpPr>
        <p:spPr>
          <a:xfrm>
            <a:off x="7205472" y="1060704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95" name="Shape 89"/>
          <p:cNvSpPr/>
          <p:nvPr/>
        </p:nvSpPr>
        <p:spPr>
          <a:xfrm>
            <a:off x="7534656" y="1060704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96" name="Shape 90"/>
          <p:cNvSpPr/>
          <p:nvPr/>
        </p:nvSpPr>
        <p:spPr>
          <a:xfrm>
            <a:off x="7863840" y="1060704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97" name="Shape 91"/>
          <p:cNvSpPr/>
          <p:nvPr/>
        </p:nvSpPr>
        <p:spPr>
          <a:xfrm>
            <a:off x="8193024" y="1060704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98" name="Shape 92"/>
          <p:cNvSpPr/>
          <p:nvPr/>
        </p:nvSpPr>
        <p:spPr>
          <a:xfrm>
            <a:off x="7205472" y="1389888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99" name="Shape 93"/>
          <p:cNvSpPr/>
          <p:nvPr/>
        </p:nvSpPr>
        <p:spPr>
          <a:xfrm>
            <a:off x="7534656" y="1389888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00" name="Shape 94"/>
          <p:cNvSpPr/>
          <p:nvPr/>
        </p:nvSpPr>
        <p:spPr>
          <a:xfrm>
            <a:off x="7863840" y="1389888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01" name="Shape 95"/>
          <p:cNvSpPr/>
          <p:nvPr/>
        </p:nvSpPr>
        <p:spPr>
          <a:xfrm>
            <a:off x="8193024" y="1389888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02" name="Shape 96"/>
          <p:cNvSpPr/>
          <p:nvPr/>
        </p:nvSpPr>
        <p:spPr>
          <a:xfrm>
            <a:off x="7205472" y="1719072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03" name="Shape 97"/>
          <p:cNvSpPr/>
          <p:nvPr/>
        </p:nvSpPr>
        <p:spPr>
          <a:xfrm>
            <a:off x="7534656" y="1719072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04" name="Shape 98"/>
          <p:cNvSpPr/>
          <p:nvPr/>
        </p:nvSpPr>
        <p:spPr>
          <a:xfrm>
            <a:off x="7863840" y="1719072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05" name="Shape 99"/>
          <p:cNvSpPr/>
          <p:nvPr/>
        </p:nvSpPr>
        <p:spPr>
          <a:xfrm>
            <a:off x="8193024" y="1719072"/>
            <a:ext cx="27432" cy="27432"/>
          </a:xfrm>
          <a:prstGeom prst="ellipse">
            <a:avLst/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06" name="Shape 100"/>
          <p:cNvSpPr/>
          <p:nvPr/>
        </p:nvSpPr>
        <p:spPr>
          <a:xfrm>
            <a:off x="7552944" y="1115568"/>
            <a:ext cx="621792" cy="621792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536" y="1225296"/>
            <a:ext cx="310896" cy="310896"/>
          </a:xfrm>
          <a:prstGeom prst="rect">
            <a:avLst/>
          </a:prstGeom>
        </p:spPr>
      </p:pic>
      <p:sp>
        <p:nvSpPr>
          <p:cNvPr id="108" name="Text 101"/>
          <p:cNvSpPr/>
          <p:nvPr/>
        </p:nvSpPr>
        <p:spPr>
          <a:xfrm>
            <a:off x="7132320" y="17739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Cited Answer</a:t>
            </a:r>
            <a:endParaRPr lang="en-US" sz="1050" dirty="0"/>
          </a:p>
        </p:txBody>
      </p:sp>
      <p:sp>
        <p:nvSpPr>
          <p:cNvPr id="109" name="Text 102"/>
          <p:cNvSpPr/>
          <p:nvPr/>
        </p:nvSpPr>
        <p:spPr>
          <a:xfrm>
            <a:off x="7132320" y="20116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>
                    <a:alpha val="80000"/>
                  </a:srgbClr>
                </a:solidFill>
              </a:rPr>
              <a:t>Response + source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FFFFFF">
                    <a:alpha val="80000"/>
                  </a:srgbClr>
                </a:solidFill>
              </a:rPr>
              <a:t>references</a:t>
            </a:r>
            <a:endParaRPr lang="en-US" sz="800" dirty="0"/>
          </a:p>
        </p:txBody>
      </p:sp>
      <p:sp>
        <p:nvSpPr>
          <p:cNvPr id="110" name="Shape 103"/>
          <p:cNvSpPr/>
          <p:nvPr/>
        </p:nvSpPr>
        <p:spPr>
          <a:xfrm>
            <a:off x="877824" y="2377440"/>
            <a:ext cx="219456" cy="219456"/>
          </a:xfrm>
          <a:prstGeom prst="ellipse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11" name="Text 104"/>
          <p:cNvSpPr/>
          <p:nvPr/>
        </p:nvSpPr>
        <p:spPr>
          <a:xfrm>
            <a:off x="877824" y="23774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12" name="Shape 105"/>
          <p:cNvSpPr/>
          <p:nvPr/>
        </p:nvSpPr>
        <p:spPr>
          <a:xfrm>
            <a:off x="2596896" y="2377440"/>
            <a:ext cx="219456" cy="219456"/>
          </a:xfrm>
          <a:prstGeom prst="ellipse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13" name="Text 106"/>
          <p:cNvSpPr/>
          <p:nvPr/>
        </p:nvSpPr>
        <p:spPr>
          <a:xfrm>
            <a:off x="2596896" y="23774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14" name="Shape 107"/>
          <p:cNvSpPr/>
          <p:nvPr/>
        </p:nvSpPr>
        <p:spPr>
          <a:xfrm>
            <a:off x="4315968" y="2377440"/>
            <a:ext cx="219456" cy="219456"/>
          </a:xfrm>
          <a:prstGeom prst="ellipse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15" name="Text 108"/>
          <p:cNvSpPr/>
          <p:nvPr/>
        </p:nvSpPr>
        <p:spPr>
          <a:xfrm>
            <a:off x="4315968" y="23774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16" name="Shape 109"/>
          <p:cNvSpPr/>
          <p:nvPr/>
        </p:nvSpPr>
        <p:spPr>
          <a:xfrm>
            <a:off x="6035040" y="2377440"/>
            <a:ext cx="219456" cy="219456"/>
          </a:xfrm>
          <a:prstGeom prst="ellipse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17" name="Text 110"/>
          <p:cNvSpPr/>
          <p:nvPr/>
        </p:nvSpPr>
        <p:spPr>
          <a:xfrm>
            <a:off x="6035040" y="23774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118" name="Shape 111"/>
          <p:cNvSpPr/>
          <p:nvPr/>
        </p:nvSpPr>
        <p:spPr>
          <a:xfrm>
            <a:off x="7754112" y="2377440"/>
            <a:ext cx="219456" cy="219456"/>
          </a:xfrm>
          <a:prstGeom prst="ellipse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19" name="Text 112"/>
          <p:cNvSpPr/>
          <p:nvPr/>
        </p:nvSpPr>
        <p:spPr>
          <a:xfrm>
            <a:off x="7754112" y="23774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120" name="Shape 113"/>
          <p:cNvSpPr/>
          <p:nvPr/>
        </p:nvSpPr>
        <p:spPr>
          <a:xfrm>
            <a:off x="201168" y="2834640"/>
            <a:ext cx="208483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21" name="Shape 114"/>
          <p:cNvSpPr/>
          <p:nvPr/>
        </p:nvSpPr>
        <p:spPr>
          <a:xfrm>
            <a:off x="201168" y="2834640"/>
            <a:ext cx="2084832" cy="38405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22" name="Shape 115"/>
          <p:cNvSpPr/>
          <p:nvPr/>
        </p:nvSpPr>
        <p:spPr>
          <a:xfrm>
            <a:off x="310896" y="2980944"/>
            <a:ext cx="402336" cy="402336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422" y="3071470"/>
            <a:ext cx="221285" cy="221285"/>
          </a:xfrm>
          <a:prstGeom prst="rect">
            <a:avLst/>
          </a:prstGeom>
        </p:spPr>
      </p:pic>
      <p:sp>
        <p:nvSpPr>
          <p:cNvPr id="124" name="Text 116"/>
          <p:cNvSpPr/>
          <p:nvPr/>
        </p:nvSpPr>
        <p:spPr>
          <a:xfrm>
            <a:off x="841248" y="292608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874"/>
                </a:solidFill>
              </a:rPr>
              <a:t>Hybrid Retrieval</a:t>
            </a:r>
            <a:endParaRPr lang="en-US" sz="1100" dirty="0"/>
          </a:p>
        </p:txBody>
      </p:sp>
      <p:sp>
        <p:nvSpPr>
          <p:cNvPr id="125" name="Shape 117"/>
          <p:cNvSpPr/>
          <p:nvPr/>
        </p:nvSpPr>
        <p:spPr>
          <a:xfrm>
            <a:off x="841248" y="3200400"/>
            <a:ext cx="1316736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6" name="Text 118"/>
          <p:cNvSpPr/>
          <p:nvPr/>
        </p:nvSpPr>
        <p:spPr>
          <a:xfrm>
            <a:off x="310896" y="3273552"/>
            <a:ext cx="18653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BM25 lexical search returns top-20 candidate chunks. Metadata filters by source, recency and community score</a:t>
            </a:r>
            <a:endParaRPr lang="en-US" sz="950" dirty="0"/>
          </a:p>
        </p:txBody>
      </p:sp>
      <p:sp>
        <p:nvSpPr>
          <p:cNvPr id="127" name="Shape 119"/>
          <p:cNvSpPr/>
          <p:nvPr/>
        </p:nvSpPr>
        <p:spPr>
          <a:xfrm>
            <a:off x="2423160" y="2834640"/>
            <a:ext cx="208483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28" name="Shape 120"/>
          <p:cNvSpPr/>
          <p:nvPr/>
        </p:nvSpPr>
        <p:spPr>
          <a:xfrm>
            <a:off x="2423160" y="2834640"/>
            <a:ext cx="2084832" cy="38405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9" name="Shape 121"/>
          <p:cNvSpPr/>
          <p:nvPr/>
        </p:nvSpPr>
        <p:spPr>
          <a:xfrm>
            <a:off x="2532888" y="2980944"/>
            <a:ext cx="402336" cy="402336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3414" y="3071470"/>
            <a:ext cx="221285" cy="221285"/>
          </a:xfrm>
          <a:prstGeom prst="rect">
            <a:avLst/>
          </a:prstGeom>
        </p:spPr>
      </p:pic>
      <p:sp>
        <p:nvSpPr>
          <p:cNvPr id="131" name="Text 122"/>
          <p:cNvSpPr/>
          <p:nvPr/>
        </p:nvSpPr>
        <p:spPr>
          <a:xfrm>
            <a:off x="3063240" y="292608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874"/>
                </a:solidFill>
              </a:rPr>
              <a:t>Context Assembly</a:t>
            </a:r>
            <a:endParaRPr lang="en-US" sz="1100" dirty="0"/>
          </a:p>
        </p:txBody>
      </p:sp>
      <p:sp>
        <p:nvSpPr>
          <p:cNvPr id="132" name="Shape 123"/>
          <p:cNvSpPr/>
          <p:nvPr/>
        </p:nvSpPr>
        <p:spPr>
          <a:xfrm>
            <a:off x="3063240" y="3200400"/>
            <a:ext cx="1316736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3" name="Text 124"/>
          <p:cNvSpPr/>
          <p:nvPr/>
        </p:nvSpPr>
        <p:spPr>
          <a:xfrm>
            <a:off x="2532888" y="3273552"/>
            <a:ext cx="18653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Ranked chunks concatenated with doc metadata, community flags and expert annotations into structured prompt</a:t>
            </a:r>
            <a:endParaRPr lang="en-US" sz="950" dirty="0"/>
          </a:p>
        </p:txBody>
      </p:sp>
      <p:sp>
        <p:nvSpPr>
          <p:cNvPr id="134" name="Shape 125"/>
          <p:cNvSpPr/>
          <p:nvPr/>
        </p:nvSpPr>
        <p:spPr>
          <a:xfrm>
            <a:off x="4645152" y="2834640"/>
            <a:ext cx="208483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35" name="Shape 126"/>
          <p:cNvSpPr/>
          <p:nvPr/>
        </p:nvSpPr>
        <p:spPr>
          <a:xfrm>
            <a:off x="4645152" y="2834640"/>
            <a:ext cx="2084832" cy="3840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6" name="Shape 127"/>
          <p:cNvSpPr/>
          <p:nvPr/>
        </p:nvSpPr>
        <p:spPr>
          <a:xfrm>
            <a:off x="4754880" y="2980944"/>
            <a:ext cx="402336" cy="402336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5406" y="3071470"/>
            <a:ext cx="221285" cy="221285"/>
          </a:xfrm>
          <a:prstGeom prst="rect">
            <a:avLst/>
          </a:prstGeom>
        </p:spPr>
      </p:pic>
      <p:sp>
        <p:nvSpPr>
          <p:cNvPr id="138" name="Text 128"/>
          <p:cNvSpPr/>
          <p:nvPr/>
        </p:nvSpPr>
        <p:spPr>
          <a:xfrm>
            <a:off x="5285232" y="292608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874"/>
                </a:solidFill>
              </a:rPr>
              <a:t>Claude Generation</a:t>
            </a:r>
            <a:endParaRPr lang="en-US" sz="1100" dirty="0"/>
          </a:p>
        </p:txBody>
      </p:sp>
      <p:sp>
        <p:nvSpPr>
          <p:cNvPr id="139" name="Shape 129"/>
          <p:cNvSpPr/>
          <p:nvPr/>
        </p:nvSpPr>
        <p:spPr>
          <a:xfrm>
            <a:off x="5285232" y="3200400"/>
            <a:ext cx="1316736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0" name="Text 130"/>
          <p:cNvSpPr/>
          <p:nvPr/>
        </p:nvSpPr>
        <p:spPr>
          <a:xfrm>
            <a:off x="4754880" y="3273552"/>
            <a:ext cx="18653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claude-sonnet-4-6 generates a direct answer grounded strictly in retrieved context — no hallucination risk</a:t>
            </a:r>
            <a:endParaRPr lang="en-US" sz="950" dirty="0"/>
          </a:p>
        </p:txBody>
      </p:sp>
      <p:sp>
        <p:nvSpPr>
          <p:cNvPr id="141" name="Shape 131"/>
          <p:cNvSpPr/>
          <p:nvPr/>
        </p:nvSpPr>
        <p:spPr>
          <a:xfrm>
            <a:off x="6867144" y="2834640"/>
            <a:ext cx="208483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42" name="Shape 132"/>
          <p:cNvSpPr/>
          <p:nvPr/>
        </p:nvSpPr>
        <p:spPr>
          <a:xfrm>
            <a:off x="6867144" y="2834640"/>
            <a:ext cx="2084832" cy="38405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3" name="Shape 133"/>
          <p:cNvSpPr/>
          <p:nvPr/>
        </p:nvSpPr>
        <p:spPr>
          <a:xfrm>
            <a:off x="6976872" y="2980944"/>
            <a:ext cx="402336" cy="402336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67398" y="3071470"/>
            <a:ext cx="221285" cy="221285"/>
          </a:xfrm>
          <a:prstGeom prst="rect">
            <a:avLst/>
          </a:prstGeom>
        </p:spPr>
      </p:pic>
      <p:sp>
        <p:nvSpPr>
          <p:cNvPr id="145" name="Text 134"/>
          <p:cNvSpPr/>
          <p:nvPr/>
        </p:nvSpPr>
        <p:spPr>
          <a:xfrm>
            <a:off x="7507224" y="292608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874"/>
                </a:solidFill>
              </a:rPr>
              <a:t>Citation Overlay</a:t>
            </a:r>
            <a:endParaRPr lang="en-US" sz="1100" dirty="0"/>
          </a:p>
        </p:txBody>
      </p:sp>
      <p:sp>
        <p:nvSpPr>
          <p:cNvPr id="146" name="Shape 135"/>
          <p:cNvSpPr/>
          <p:nvPr/>
        </p:nvSpPr>
        <p:spPr>
          <a:xfrm>
            <a:off x="7507224" y="3200400"/>
            <a:ext cx="1316736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7" name="Text 136"/>
          <p:cNvSpPr/>
          <p:nvPr/>
        </p:nvSpPr>
        <p:spPr>
          <a:xfrm>
            <a:off x="6976872" y="3273552"/>
            <a:ext cx="18653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Every claim in the response is linked back to its source document — Jira, Confluence, GitHub or SharePoint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20117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4572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874"/>
                </a:solidFill>
              </a:rPr>
              <a:t>AI Roadmap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84048" y="3657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Four phases from search enhancement to autonomous knowledge maintenance.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92624"/>
            <a:ext cx="80467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EKM  ·  Enterprise Knowledge Management  ·  E3  ·  Citi   |   CONFIDENTIAL  ·  INTERNAL USE ONLY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595360" y="4992624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10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01168" y="822960"/>
            <a:ext cx="2084832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" y="822960"/>
            <a:ext cx="2084832" cy="1078992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841248"/>
            <a:ext cx="749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FFFFFF">
                    <a:alpha val="18000"/>
                  </a:srgbClr>
                </a:solidFill>
              </a:rPr>
              <a:t>01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329184" y="969264"/>
            <a:ext cx="621792" cy="621792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097280"/>
            <a:ext cx="329184" cy="32918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298448" y="1591056"/>
            <a:ext cx="914400" cy="1828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98448" y="15910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</a:rPr>
              <a:t>UP NEXT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310896" y="162763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RAG Answers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10896" y="1975104"/>
            <a:ext cx="804672" cy="18288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10896" y="197510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Sprint 1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170432" y="197510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</a:rPr>
              <a:t>Natural language Q&amp;A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10896" y="2249424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4A3B8"/>
                </a:solidFill>
              </a:rPr>
              <a:t>INPUTS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329184" y="2450592"/>
            <a:ext cx="36576" cy="12801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20624" y="243230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User query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29184" y="2743200"/>
            <a:ext cx="36576" cy="12801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20624" y="2724912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5,092 indexed docs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29184" y="3035808"/>
            <a:ext cx="36576" cy="12801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0624" y="301752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Community flags + scores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10896" y="3346704"/>
            <a:ext cx="186537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10896" y="3419856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4A3B8"/>
                </a:solidFill>
              </a:rPr>
              <a:t>OUTPUTS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329184" y="3639312"/>
            <a:ext cx="128016" cy="128016"/>
          </a:xfrm>
          <a:prstGeom prst="ellipse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12064" y="3621024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Cited answer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29184" y="3931920"/>
            <a:ext cx="128016" cy="128016"/>
          </a:xfrm>
          <a:prstGeom prst="ellipse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12064" y="3913632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Source links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329184" y="4224528"/>
            <a:ext cx="128016" cy="128016"/>
          </a:xfrm>
          <a:prstGeom prst="ellipse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12064" y="4206240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Confidence level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201168" y="4590288"/>
            <a:ext cx="2084832" cy="23774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74320" y="4590288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75569"/>
                </a:solidFill>
              </a:rPr>
              <a:t>Claude claude-sonnet-4-6  ·  BM25 retrieval  ·  FastAPI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2432304" y="822960"/>
            <a:ext cx="2084832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2432304" y="822960"/>
            <a:ext cx="2084832" cy="10789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694176" y="841248"/>
            <a:ext cx="749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FFFFFF">
                    <a:alpha val="18000"/>
                  </a:srgbClr>
                </a:solidFill>
              </a:rPr>
              <a:t>02</a:t>
            </a:r>
            <a:endParaRPr lang="en-US" sz="4400" dirty="0"/>
          </a:p>
        </p:txBody>
      </p:sp>
      <p:sp>
        <p:nvSpPr>
          <p:cNvPr id="40" name="Shape 37"/>
          <p:cNvSpPr/>
          <p:nvPr/>
        </p:nvSpPr>
        <p:spPr>
          <a:xfrm>
            <a:off x="2560320" y="969264"/>
            <a:ext cx="621792" cy="621792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624" y="1097280"/>
            <a:ext cx="329184" cy="329184"/>
          </a:xfrm>
          <a:prstGeom prst="rect">
            <a:avLst/>
          </a:prstGeom>
        </p:spPr>
      </p:pic>
      <p:sp>
        <p:nvSpPr>
          <p:cNvPr id="42" name="Shape 38"/>
          <p:cNvSpPr/>
          <p:nvPr/>
        </p:nvSpPr>
        <p:spPr>
          <a:xfrm>
            <a:off x="3529584" y="1591056"/>
            <a:ext cx="914400" cy="1828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529584" y="15910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</a:rPr>
              <a:t>PLANNED</a:t>
            </a:r>
            <a:endParaRPr lang="en-US" sz="700" dirty="0"/>
          </a:p>
        </p:txBody>
      </p:sp>
      <p:sp>
        <p:nvSpPr>
          <p:cNvPr id="44" name="Text 40"/>
          <p:cNvSpPr/>
          <p:nvPr/>
        </p:nvSpPr>
        <p:spPr>
          <a:xfrm>
            <a:off x="2542032" y="162763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Smart Suggestions</a:t>
            </a:r>
            <a:endParaRPr lang="en-US" sz="1200" dirty="0"/>
          </a:p>
        </p:txBody>
      </p:sp>
      <p:sp>
        <p:nvSpPr>
          <p:cNvPr id="45" name="Shape 41"/>
          <p:cNvSpPr/>
          <p:nvPr/>
        </p:nvSpPr>
        <p:spPr>
          <a:xfrm>
            <a:off x="2542032" y="1975104"/>
            <a:ext cx="804672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2542032" y="197510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Sprint 2</a:t>
            </a:r>
            <a:endParaRPr lang="en-US" sz="750" dirty="0"/>
          </a:p>
        </p:txBody>
      </p:sp>
      <p:sp>
        <p:nvSpPr>
          <p:cNvPr id="47" name="Text 43"/>
          <p:cNvSpPr/>
          <p:nvPr/>
        </p:nvSpPr>
        <p:spPr>
          <a:xfrm>
            <a:off x="3401568" y="197510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</a:rPr>
              <a:t>Proactive gap filling</a:t>
            </a:r>
            <a:endParaRPr lang="en-US" sz="850" dirty="0"/>
          </a:p>
        </p:txBody>
      </p:sp>
      <p:sp>
        <p:nvSpPr>
          <p:cNvPr id="48" name="Text 44"/>
          <p:cNvSpPr/>
          <p:nvPr/>
        </p:nvSpPr>
        <p:spPr>
          <a:xfrm>
            <a:off x="2542032" y="2249424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4A3B8"/>
                </a:solidFill>
              </a:rPr>
              <a:t>INPUTS</a:t>
            </a:r>
            <a:endParaRPr lang="en-US" sz="700" dirty="0"/>
          </a:p>
        </p:txBody>
      </p:sp>
      <p:sp>
        <p:nvSpPr>
          <p:cNvPr id="49" name="Shape 45"/>
          <p:cNvSpPr/>
          <p:nvPr/>
        </p:nvSpPr>
        <p:spPr>
          <a:xfrm>
            <a:off x="2560320" y="2450592"/>
            <a:ext cx="36576" cy="12801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2651760" y="243230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Zero-result searches</a:t>
            </a:r>
            <a:endParaRPr lang="en-US" sz="950" dirty="0"/>
          </a:p>
        </p:txBody>
      </p:sp>
      <p:sp>
        <p:nvSpPr>
          <p:cNvPr id="51" name="Shape 47"/>
          <p:cNvSpPr/>
          <p:nvPr/>
        </p:nvSpPr>
        <p:spPr>
          <a:xfrm>
            <a:off x="2560320" y="2743200"/>
            <a:ext cx="36576" cy="12801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2651760" y="2724912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Knowledge gap report</a:t>
            </a:r>
            <a:endParaRPr lang="en-US" sz="950" dirty="0"/>
          </a:p>
        </p:txBody>
      </p:sp>
      <p:sp>
        <p:nvSpPr>
          <p:cNvPr id="53" name="Shape 49"/>
          <p:cNvSpPr/>
          <p:nvPr/>
        </p:nvSpPr>
        <p:spPr>
          <a:xfrm>
            <a:off x="2560320" y="3035808"/>
            <a:ext cx="36576" cy="12801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2651760" y="301752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Stale doc alerts</a:t>
            </a:r>
            <a:endParaRPr lang="en-US" sz="950" dirty="0"/>
          </a:p>
        </p:txBody>
      </p:sp>
      <p:sp>
        <p:nvSpPr>
          <p:cNvPr id="55" name="Shape 51"/>
          <p:cNvSpPr/>
          <p:nvPr/>
        </p:nvSpPr>
        <p:spPr>
          <a:xfrm>
            <a:off x="2542032" y="3346704"/>
            <a:ext cx="186537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2542032" y="3419856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4A3B8"/>
                </a:solidFill>
              </a:rPr>
              <a:t>OUTPUTS</a:t>
            </a:r>
            <a:endParaRPr lang="en-US" sz="700" dirty="0"/>
          </a:p>
        </p:txBody>
      </p:sp>
      <p:sp>
        <p:nvSpPr>
          <p:cNvPr id="57" name="Shape 53"/>
          <p:cNvSpPr/>
          <p:nvPr/>
        </p:nvSpPr>
        <p:spPr>
          <a:xfrm>
            <a:off x="2560320" y="3639312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2743200" y="3621024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Draft doc stubs</a:t>
            </a:r>
            <a:endParaRPr lang="en-US" sz="950" dirty="0"/>
          </a:p>
        </p:txBody>
      </p:sp>
      <p:sp>
        <p:nvSpPr>
          <p:cNvPr id="59" name="Shape 55"/>
          <p:cNvSpPr/>
          <p:nvPr/>
        </p:nvSpPr>
        <p:spPr>
          <a:xfrm>
            <a:off x="2560320" y="3931920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2743200" y="3913632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Suggested SME owners</a:t>
            </a:r>
            <a:endParaRPr lang="en-US" sz="950" dirty="0"/>
          </a:p>
        </p:txBody>
      </p:sp>
      <p:sp>
        <p:nvSpPr>
          <p:cNvPr id="61" name="Shape 57"/>
          <p:cNvSpPr/>
          <p:nvPr/>
        </p:nvSpPr>
        <p:spPr>
          <a:xfrm>
            <a:off x="2560320" y="4224528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2743200" y="4206240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Gap priority score</a:t>
            </a:r>
            <a:endParaRPr lang="en-US" sz="950" dirty="0"/>
          </a:p>
        </p:txBody>
      </p:sp>
      <p:sp>
        <p:nvSpPr>
          <p:cNvPr id="63" name="Shape 59"/>
          <p:cNvSpPr/>
          <p:nvPr/>
        </p:nvSpPr>
        <p:spPr>
          <a:xfrm>
            <a:off x="2432304" y="4590288"/>
            <a:ext cx="2084832" cy="23774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2505456" y="4590288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75569"/>
                </a:solidFill>
              </a:rPr>
              <a:t>Claude API  ·  Intelligence layer  ·  Scheduled jobs</a:t>
            </a:r>
            <a:endParaRPr lang="en-US" sz="700" dirty="0"/>
          </a:p>
        </p:txBody>
      </p:sp>
      <p:sp>
        <p:nvSpPr>
          <p:cNvPr id="65" name="Shape 61"/>
          <p:cNvSpPr/>
          <p:nvPr/>
        </p:nvSpPr>
        <p:spPr>
          <a:xfrm>
            <a:off x="4663440" y="822960"/>
            <a:ext cx="2084832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66" name="Shape 62"/>
          <p:cNvSpPr/>
          <p:nvPr/>
        </p:nvSpPr>
        <p:spPr>
          <a:xfrm>
            <a:off x="4663440" y="822960"/>
            <a:ext cx="2084832" cy="1078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5925312" y="841248"/>
            <a:ext cx="749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FFFFFF">
                    <a:alpha val="18000"/>
                  </a:srgbClr>
                </a:solidFill>
              </a:rPr>
              <a:t>03</a:t>
            </a:r>
            <a:endParaRPr lang="en-US" sz="4400" dirty="0"/>
          </a:p>
        </p:txBody>
      </p:sp>
      <p:sp>
        <p:nvSpPr>
          <p:cNvPr id="68" name="Shape 64"/>
          <p:cNvSpPr/>
          <p:nvPr/>
        </p:nvSpPr>
        <p:spPr>
          <a:xfrm>
            <a:off x="4791456" y="969264"/>
            <a:ext cx="621792" cy="621792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097280"/>
            <a:ext cx="329184" cy="329184"/>
          </a:xfrm>
          <a:prstGeom prst="rect">
            <a:avLst/>
          </a:prstGeom>
        </p:spPr>
      </p:pic>
      <p:sp>
        <p:nvSpPr>
          <p:cNvPr id="70" name="Shape 65"/>
          <p:cNvSpPr/>
          <p:nvPr/>
        </p:nvSpPr>
        <p:spPr>
          <a:xfrm>
            <a:off x="5760720" y="1591056"/>
            <a:ext cx="914400" cy="1828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Text 66"/>
          <p:cNvSpPr/>
          <p:nvPr/>
        </p:nvSpPr>
        <p:spPr>
          <a:xfrm>
            <a:off x="5760720" y="15910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</a:rPr>
              <a:t>PLANNED</a:t>
            </a:r>
            <a:endParaRPr lang="en-US" sz="700" dirty="0"/>
          </a:p>
        </p:txBody>
      </p:sp>
      <p:sp>
        <p:nvSpPr>
          <p:cNvPr id="72" name="Text 67"/>
          <p:cNvSpPr/>
          <p:nvPr/>
        </p:nvSpPr>
        <p:spPr>
          <a:xfrm>
            <a:off x="4773168" y="162763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 Summaries</a:t>
            </a:r>
            <a:endParaRPr lang="en-US" sz="1200" dirty="0"/>
          </a:p>
        </p:txBody>
      </p:sp>
      <p:sp>
        <p:nvSpPr>
          <p:cNvPr id="73" name="Shape 68"/>
          <p:cNvSpPr/>
          <p:nvPr/>
        </p:nvSpPr>
        <p:spPr>
          <a:xfrm>
            <a:off x="4773168" y="1975104"/>
            <a:ext cx="804672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4" name="Text 69"/>
          <p:cNvSpPr/>
          <p:nvPr/>
        </p:nvSpPr>
        <p:spPr>
          <a:xfrm>
            <a:off x="4773168" y="197510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Sprint 3</a:t>
            </a:r>
            <a:endParaRPr lang="en-US" sz="750" dirty="0"/>
          </a:p>
        </p:txBody>
      </p:sp>
      <p:sp>
        <p:nvSpPr>
          <p:cNvPr id="75" name="Text 70"/>
          <p:cNvSpPr/>
          <p:nvPr/>
        </p:nvSpPr>
        <p:spPr>
          <a:xfrm>
            <a:off x="5632704" y="197510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</a:rPr>
              <a:t>Living documentation</a:t>
            </a:r>
            <a:endParaRPr lang="en-US" sz="850" dirty="0"/>
          </a:p>
        </p:txBody>
      </p:sp>
      <p:sp>
        <p:nvSpPr>
          <p:cNvPr id="76" name="Text 71"/>
          <p:cNvSpPr/>
          <p:nvPr/>
        </p:nvSpPr>
        <p:spPr>
          <a:xfrm>
            <a:off x="4773168" y="2249424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4A3B8"/>
                </a:solidFill>
              </a:rPr>
              <a:t>INPUTS</a:t>
            </a:r>
            <a:endParaRPr lang="en-US" sz="700" dirty="0"/>
          </a:p>
        </p:txBody>
      </p:sp>
      <p:sp>
        <p:nvSpPr>
          <p:cNvPr id="77" name="Shape 72"/>
          <p:cNvSpPr/>
          <p:nvPr/>
        </p:nvSpPr>
        <p:spPr>
          <a:xfrm>
            <a:off x="4791456" y="2450592"/>
            <a:ext cx="36576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8" name="Text 73"/>
          <p:cNvSpPr/>
          <p:nvPr/>
        </p:nvSpPr>
        <p:spPr>
          <a:xfrm>
            <a:off x="4882896" y="243230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New Jira/GitHub commits</a:t>
            </a:r>
            <a:endParaRPr lang="en-US" sz="950" dirty="0"/>
          </a:p>
        </p:txBody>
      </p:sp>
      <p:sp>
        <p:nvSpPr>
          <p:cNvPr id="79" name="Shape 74"/>
          <p:cNvSpPr/>
          <p:nvPr/>
        </p:nvSpPr>
        <p:spPr>
          <a:xfrm>
            <a:off x="4791456" y="2743200"/>
            <a:ext cx="36576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0" name="Text 75"/>
          <p:cNvSpPr/>
          <p:nvPr/>
        </p:nvSpPr>
        <p:spPr>
          <a:xfrm>
            <a:off x="4882896" y="2724912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Confluence page changes</a:t>
            </a:r>
            <a:endParaRPr lang="en-US" sz="950" dirty="0"/>
          </a:p>
        </p:txBody>
      </p:sp>
      <p:sp>
        <p:nvSpPr>
          <p:cNvPr id="81" name="Shape 76"/>
          <p:cNvSpPr/>
          <p:nvPr/>
        </p:nvSpPr>
        <p:spPr>
          <a:xfrm>
            <a:off x="4791456" y="3035808"/>
            <a:ext cx="36576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2" name="Text 77"/>
          <p:cNvSpPr/>
          <p:nvPr/>
        </p:nvSpPr>
        <p:spPr>
          <a:xfrm>
            <a:off x="4882896" y="301752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Community corrections</a:t>
            </a:r>
            <a:endParaRPr lang="en-US" sz="950" dirty="0"/>
          </a:p>
        </p:txBody>
      </p:sp>
      <p:sp>
        <p:nvSpPr>
          <p:cNvPr id="83" name="Shape 78"/>
          <p:cNvSpPr/>
          <p:nvPr/>
        </p:nvSpPr>
        <p:spPr>
          <a:xfrm>
            <a:off x="4773168" y="3346704"/>
            <a:ext cx="186537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79"/>
          <p:cNvSpPr/>
          <p:nvPr/>
        </p:nvSpPr>
        <p:spPr>
          <a:xfrm>
            <a:off x="4773168" y="3419856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4A3B8"/>
                </a:solidFill>
              </a:rPr>
              <a:t>OUTPUTS</a:t>
            </a:r>
            <a:endParaRPr lang="en-US" sz="700" dirty="0"/>
          </a:p>
        </p:txBody>
      </p:sp>
      <p:sp>
        <p:nvSpPr>
          <p:cNvPr id="85" name="Shape 80"/>
          <p:cNvSpPr/>
          <p:nvPr/>
        </p:nvSpPr>
        <p:spPr>
          <a:xfrm>
            <a:off x="4791456" y="363931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6" name="Text 81"/>
          <p:cNvSpPr/>
          <p:nvPr/>
        </p:nvSpPr>
        <p:spPr>
          <a:xfrm>
            <a:off x="4974336" y="3621024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Auto-updated summaries</a:t>
            </a:r>
            <a:endParaRPr lang="en-US" sz="950" dirty="0"/>
          </a:p>
        </p:txBody>
      </p:sp>
      <p:sp>
        <p:nvSpPr>
          <p:cNvPr id="87" name="Shape 82"/>
          <p:cNvSpPr/>
          <p:nvPr/>
        </p:nvSpPr>
        <p:spPr>
          <a:xfrm>
            <a:off x="4791456" y="3931920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8" name="Text 83"/>
          <p:cNvSpPr/>
          <p:nvPr/>
        </p:nvSpPr>
        <p:spPr>
          <a:xfrm>
            <a:off x="4974336" y="3913632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Change digest email</a:t>
            </a:r>
            <a:endParaRPr lang="en-US" sz="950" dirty="0"/>
          </a:p>
        </p:txBody>
      </p:sp>
      <p:sp>
        <p:nvSpPr>
          <p:cNvPr id="89" name="Shape 84"/>
          <p:cNvSpPr/>
          <p:nvPr/>
        </p:nvSpPr>
        <p:spPr>
          <a:xfrm>
            <a:off x="4791456" y="4224528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0" name="Text 85"/>
          <p:cNvSpPr/>
          <p:nvPr/>
        </p:nvSpPr>
        <p:spPr>
          <a:xfrm>
            <a:off x="4974336" y="4206240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Version diff notes</a:t>
            </a:r>
            <a:endParaRPr lang="en-US" sz="950" dirty="0"/>
          </a:p>
        </p:txBody>
      </p:sp>
      <p:sp>
        <p:nvSpPr>
          <p:cNvPr id="91" name="Shape 86"/>
          <p:cNvSpPr/>
          <p:nvPr/>
        </p:nvSpPr>
        <p:spPr>
          <a:xfrm>
            <a:off x="4663440" y="4590288"/>
            <a:ext cx="2084832" cy="23774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Text 87"/>
          <p:cNvSpPr/>
          <p:nvPr/>
        </p:nvSpPr>
        <p:spPr>
          <a:xfrm>
            <a:off x="4736592" y="4590288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75569"/>
                </a:solidFill>
              </a:rPr>
              <a:t>Claude API  ·  Webhook triggers  ·  MongoDB change streams</a:t>
            </a:r>
            <a:endParaRPr lang="en-US" sz="700" dirty="0"/>
          </a:p>
        </p:txBody>
      </p:sp>
      <p:sp>
        <p:nvSpPr>
          <p:cNvPr id="93" name="Shape 88"/>
          <p:cNvSpPr/>
          <p:nvPr/>
        </p:nvSpPr>
        <p:spPr>
          <a:xfrm>
            <a:off x="6894576" y="822960"/>
            <a:ext cx="2084832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94" name="Shape 89"/>
          <p:cNvSpPr/>
          <p:nvPr/>
        </p:nvSpPr>
        <p:spPr>
          <a:xfrm>
            <a:off x="6894576" y="822960"/>
            <a:ext cx="2084832" cy="10789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5" name="Text 90"/>
          <p:cNvSpPr/>
          <p:nvPr/>
        </p:nvSpPr>
        <p:spPr>
          <a:xfrm>
            <a:off x="8156448" y="841248"/>
            <a:ext cx="749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FFFFFF">
                    <a:alpha val="18000"/>
                  </a:srgbClr>
                </a:solidFill>
              </a:rPr>
              <a:t>04</a:t>
            </a:r>
            <a:endParaRPr lang="en-US" sz="4400" dirty="0"/>
          </a:p>
        </p:txBody>
      </p:sp>
      <p:sp>
        <p:nvSpPr>
          <p:cNvPr id="96" name="Shape 91"/>
          <p:cNvSpPr/>
          <p:nvPr/>
        </p:nvSpPr>
        <p:spPr>
          <a:xfrm>
            <a:off x="7022592" y="969264"/>
            <a:ext cx="621792" cy="621792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896" y="1097280"/>
            <a:ext cx="329184" cy="329184"/>
          </a:xfrm>
          <a:prstGeom prst="rect">
            <a:avLst/>
          </a:prstGeom>
        </p:spPr>
      </p:pic>
      <p:sp>
        <p:nvSpPr>
          <p:cNvPr id="98" name="Shape 92"/>
          <p:cNvSpPr/>
          <p:nvPr/>
        </p:nvSpPr>
        <p:spPr>
          <a:xfrm>
            <a:off x="7991856" y="1591056"/>
            <a:ext cx="914400" cy="1828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9" name="Text 93"/>
          <p:cNvSpPr/>
          <p:nvPr/>
        </p:nvSpPr>
        <p:spPr>
          <a:xfrm>
            <a:off x="7991856" y="15910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</a:rPr>
              <a:t>FUTURE</a:t>
            </a:r>
            <a:endParaRPr lang="en-US" sz="700" dirty="0"/>
          </a:p>
        </p:txBody>
      </p:sp>
      <p:sp>
        <p:nvSpPr>
          <p:cNvPr id="100" name="Text 94"/>
          <p:cNvSpPr/>
          <p:nvPr/>
        </p:nvSpPr>
        <p:spPr>
          <a:xfrm>
            <a:off x="7004304" y="162763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Autonomous Maintenance</a:t>
            </a:r>
            <a:endParaRPr lang="en-US" sz="1200" dirty="0"/>
          </a:p>
        </p:txBody>
      </p:sp>
      <p:sp>
        <p:nvSpPr>
          <p:cNvPr id="101" name="Shape 95"/>
          <p:cNvSpPr/>
          <p:nvPr/>
        </p:nvSpPr>
        <p:spPr>
          <a:xfrm>
            <a:off x="7004304" y="1975104"/>
            <a:ext cx="804672" cy="182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2" name="Text 96"/>
          <p:cNvSpPr/>
          <p:nvPr/>
        </p:nvSpPr>
        <p:spPr>
          <a:xfrm>
            <a:off x="7004304" y="197510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Future</a:t>
            </a:r>
            <a:endParaRPr lang="en-US" sz="750" dirty="0"/>
          </a:p>
        </p:txBody>
      </p:sp>
      <p:sp>
        <p:nvSpPr>
          <p:cNvPr id="103" name="Text 97"/>
          <p:cNvSpPr/>
          <p:nvPr/>
        </p:nvSpPr>
        <p:spPr>
          <a:xfrm>
            <a:off x="7863840" y="197510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</a:rPr>
              <a:t>Self-healing knowledge base</a:t>
            </a:r>
            <a:endParaRPr lang="en-US" sz="850" dirty="0"/>
          </a:p>
        </p:txBody>
      </p:sp>
      <p:sp>
        <p:nvSpPr>
          <p:cNvPr id="104" name="Text 98"/>
          <p:cNvSpPr/>
          <p:nvPr/>
        </p:nvSpPr>
        <p:spPr>
          <a:xfrm>
            <a:off x="7004304" y="2249424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4A3B8"/>
                </a:solidFill>
              </a:rPr>
              <a:t>INPUTS</a:t>
            </a:r>
            <a:endParaRPr lang="en-US" sz="700" dirty="0"/>
          </a:p>
        </p:txBody>
      </p:sp>
      <p:sp>
        <p:nvSpPr>
          <p:cNvPr id="105" name="Shape 99"/>
          <p:cNvSpPr/>
          <p:nvPr/>
        </p:nvSpPr>
        <p:spPr>
          <a:xfrm>
            <a:off x="7022592" y="2450592"/>
            <a:ext cx="36576" cy="12801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6" name="Text 100"/>
          <p:cNvSpPr/>
          <p:nvPr/>
        </p:nvSpPr>
        <p:spPr>
          <a:xfrm>
            <a:off x="7114032" y="243230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Flagged outdated docs</a:t>
            </a:r>
            <a:endParaRPr lang="en-US" sz="950" dirty="0"/>
          </a:p>
        </p:txBody>
      </p:sp>
      <p:sp>
        <p:nvSpPr>
          <p:cNvPr id="107" name="Shape 101"/>
          <p:cNvSpPr/>
          <p:nvPr/>
        </p:nvSpPr>
        <p:spPr>
          <a:xfrm>
            <a:off x="7022592" y="2743200"/>
            <a:ext cx="36576" cy="12801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8" name="Text 102"/>
          <p:cNvSpPr/>
          <p:nvPr/>
        </p:nvSpPr>
        <p:spPr>
          <a:xfrm>
            <a:off x="7114032" y="2724912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Cross-source conflicts</a:t>
            </a:r>
            <a:endParaRPr lang="en-US" sz="950" dirty="0"/>
          </a:p>
        </p:txBody>
      </p:sp>
      <p:sp>
        <p:nvSpPr>
          <p:cNvPr id="109" name="Shape 103"/>
          <p:cNvSpPr/>
          <p:nvPr/>
        </p:nvSpPr>
        <p:spPr>
          <a:xfrm>
            <a:off x="7022592" y="3035808"/>
            <a:ext cx="36576" cy="12801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0" name="Text 104"/>
          <p:cNvSpPr/>
          <p:nvPr/>
        </p:nvSpPr>
        <p:spPr>
          <a:xfrm>
            <a:off x="7114032" y="301752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Audit schedules</a:t>
            </a:r>
            <a:endParaRPr lang="en-US" sz="950" dirty="0"/>
          </a:p>
        </p:txBody>
      </p:sp>
      <p:sp>
        <p:nvSpPr>
          <p:cNvPr id="111" name="Shape 105"/>
          <p:cNvSpPr/>
          <p:nvPr/>
        </p:nvSpPr>
        <p:spPr>
          <a:xfrm>
            <a:off x="7004304" y="3346704"/>
            <a:ext cx="186537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2" name="Text 106"/>
          <p:cNvSpPr/>
          <p:nvPr/>
        </p:nvSpPr>
        <p:spPr>
          <a:xfrm>
            <a:off x="7004304" y="3419856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4A3B8"/>
                </a:solidFill>
              </a:rPr>
              <a:t>OUTPUTS</a:t>
            </a:r>
            <a:endParaRPr lang="en-US" sz="700" dirty="0"/>
          </a:p>
        </p:txBody>
      </p:sp>
      <p:sp>
        <p:nvSpPr>
          <p:cNvPr id="113" name="Shape 107"/>
          <p:cNvSpPr/>
          <p:nvPr/>
        </p:nvSpPr>
        <p:spPr>
          <a:xfrm>
            <a:off x="7022592" y="3639312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4" name="Text 108"/>
          <p:cNvSpPr/>
          <p:nvPr/>
        </p:nvSpPr>
        <p:spPr>
          <a:xfrm>
            <a:off x="7205472" y="3621024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Auto-refresh proposals</a:t>
            </a:r>
            <a:endParaRPr lang="en-US" sz="950" dirty="0"/>
          </a:p>
        </p:txBody>
      </p:sp>
      <p:sp>
        <p:nvSpPr>
          <p:cNvPr id="115" name="Shape 109"/>
          <p:cNvSpPr/>
          <p:nvPr/>
        </p:nvSpPr>
        <p:spPr>
          <a:xfrm>
            <a:off x="7022592" y="3931920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6" name="Text 110"/>
          <p:cNvSpPr/>
          <p:nvPr/>
        </p:nvSpPr>
        <p:spPr>
          <a:xfrm>
            <a:off x="7205472" y="3913632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Conflict resolution drafts</a:t>
            </a:r>
            <a:endParaRPr lang="en-US" sz="950" dirty="0"/>
          </a:p>
        </p:txBody>
      </p:sp>
      <p:sp>
        <p:nvSpPr>
          <p:cNvPr id="117" name="Shape 111"/>
          <p:cNvSpPr/>
          <p:nvPr/>
        </p:nvSpPr>
        <p:spPr>
          <a:xfrm>
            <a:off x="7022592" y="4224528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8" name="Text 112"/>
          <p:cNvSpPr/>
          <p:nvPr/>
        </p:nvSpPr>
        <p:spPr>
          <a:xfrm>
            <a:off x="7205472" y="4206240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Audit-ready reports</a:t>
            </a:r>
            <a:endParaRPr lang="en-US" sz="950" dirty="0"/>
          </a:p>
        </p:txBody>
      </p:sp>
      <p:sp>
        <p:nvSpPr>
          <p:cNvPr id="119" name="Shape 113"/>
          <p:cNvSpPr/>
          <p:nvPr/>
        </p:nvSpPr>
        <p:spPr>
          <a:xfrm>
            <a:off x="6894576" y="4590288"/>
            <a:ext cx="2084832" cy="23774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0" name="Text 114"/>
          <p:cNvSpPr/>
          <p:nvPr/>
        </p:nvSpPr>
        <p:spPr>
          <a:xfrm>
            <a:off x="6967728" y="4590288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75569"/>
                </a:solidFill>
              </a:rPr>
              <a:t>Claude API  ·  Human-in-loop review  ·  Full EKM stack</a:t>
            </a:r>
            <a:endParaRPr lang="en-US" sz="700" dirty="0"/>
          </a:p>
        </p:txBody>
      </p:sp>
      <p:sp>
        <p:nvSpPr>
          <p:cNvPr id="121" name="Shape 115"/>
          <p:cNvSpPr/>
          <p:nvPr/>
        </p:nvSpPr>
        <p:spPr>
          <a:xfrm>
            <a:off x="201168" y="1335024"/>
            <a:ext cx="8741664" cy="20117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2" name="Shape 116"/>
          <p:cNvSpPr/>
          <p:nvPr/>
        </p:nvSpPr>
        <p:spPr>
          <a:xfrm>
            <a:off x="2212848" y="1234440"/>
            <a:ext cx="219456" cy="21945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0052CC"/>
            </a:solidFill>
            <a:prstDash val="solid"/>
          </a:ln>
        </p:spPr>
      </p:sp>
      <p:sp>
        <p:nvSpPr>
          <p:cNvPr id="123" name="Text 117"/>
          <p:cNvSpPr/>
          <p:nvPr/>
        </p:nvSpPr>
        <p:spPr>
          <a:xfrm>
            <a:off x="2212848" y="12344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2CC"/>
                </a:solidFill>
              </a:rPr>
              <a:t>→</a:t>
            </a:r>
            <a:endParaRPr lang="en-US" sz="900" dirty="0"/>
          </a:p>
        </p:txBody>
      </p:sp>
      <p:sp>
        <p:nvSpPr>
          <p:cNvPr id="124" name="Shape 118"/>
          <p:cNvSpPr/>
          <p:nvPr/>
        </p:nvSpPr>
        <p:spPr>
          <a:xfrm>
            <a:off x="4443984" y="1234440"/>
            <a:ext cx="219456" cy="21945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25" name="Text 119"/>
          <p:cNvSpPr/>
          <p:nvPr/>
        </p:nvSpPr>
        <p:spPr>
          <a:xfrm>
            <a:off x="4443984" y="12344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→</a:t>
            </a:r>
            <a:endParaRPr lang="en-US" sz="900" dirty="0"/>
          </a:p>
        </p:txBody>
      </p:sp>
      <p:sp>
        <p:nvSpPr>
          <p:cNvPr id="126" name="Shape 120"/>
          <p:cNvSpPr/>
          <p:nvPr/>
        </p:nvSpPr>
        <p:spPr>
          <a:xfrm>
            <a:off x="6675120" y="1234440"/>
            <a:ext cx="219456" cy="21945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7" name="Text 121"/>
          <p:cNvSpPr/>
          <p:nvPr/>
        </p:nvSpPr>
        <p:spPr>
          <a:xfrm>
            <a:off x="6675120" y="12344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</a:rPr>
              <a:t>→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20117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4572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874"/>
                </a:solidFill>
              </a:rPr>
              <a:t>What's Next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84048" y="3657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From Hackathon POC to production-ready platform.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92624"/>
            <a:ext cx="80467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EKM  ·  Enterprise Knowledge Management  ·  E3  ·  Citi   |   CONFIDENTIAL  ·  INTERNAL USE ONLY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595360" y="4992624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75569"/>
                </a:solidFill>
              </a:rPr>
              <a:t>11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" y="877824"/>
            <a:ext cx="5486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877824"/>
            <a:ext cx="5486400" cy="3840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" y="1014984"/>
            <a:ext cx="475488" cy="475488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09" y="1121969"/>
            <a:ext cx="261518" cy="26151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462272" y="1152144"/>
            <a:ext cx="1170432" cy="201168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62272" y="115214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UP NEXT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042416" y="9326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874"/>
                </a:solidFill>
              </a:rPr>
              <a:t>AI-Powered Answers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1042416" y="1243584"/>
            <a:ext cx="329184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42416" y="1298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Claude API + RAG pipeline — natural language answers synthesised from your 5,092 docs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56032" y="1764792"/>
            <a:ext cx="5486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56032" y="1764792"/>
            <a:ext cx="5486400" cy="38405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20624" y="1901952"/>
            <a:ext cx="475488" cy="475488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09" y="2008937"/>
            <a:ext cx="261518" cy="261518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4462272" y="2039112"/>
            <a:ext cx="1170432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462272" y="203911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PLANNED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1042416" y="18196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874"/>
                </a:solidFill>
              </a:rPr>
              <a:t>Result Feedback Loop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1042416" y="2130552"/>
            <a:ext cx="329184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042416" y="21854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Thumbs up/down signals feed back into BM25 ranking — search improves with every query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256032" y="2651760"/>
            <a:ext cx="5486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256032" y="2651760"/>
            <a:ext cx="5486400" cy="38405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20624" y="2788920"/>
            <a:ext cx="475488" cy="475488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9" y="2895905"/>
            <a:ext cx="261518" cy="261518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4462272" y="2926080"/>
            <a:ext cx="1170432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462272" y="292608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PLANNED</a:t>
            </a:r>
            <a:endParaRPr lang="en-US" sz="750" dirty="0"/>
          </a:p>
        </p:txBody>
      </p:sp>
      <p:sp>
        <p:nvSpPr>
          <p:cNvPr id="33" name="Text 28"/>
          <p:cNvSpPr/>
          <p:nvPr/>
        </p:nvSpPr>
        <p:spPr>
          <a:xfrm>
            <a:off x="1042416" y="27066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874"/>
                </a:solidFill>
              </a:rPr>
              <a:t>SharePoint Online</a:t>
            </a:r>
            <a:endParaRPr lang="en-US" sz="1350" dirty="0"/>
          </a:p>
        </p:txBody>
      </p:sp>
      <p:sp>
        <p:nvSpPr>
          <p:cNvPr id="34" name="Shape 29"/>
          <p:cNvSpPr/>
          <p:nvPr/>
        </p:nvSpPr>
        <p:spPr>
          <a:xfrm>
            <a:off x="1042416" y="3017520"/>
            <a:ext cx="329184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1042416" y="30723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O365 ADFS WS-Federation connector extends coverage to cloud SharePoint environments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256032" y="3538728"/>
            <a:ext cx="5486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256032" y="3538728"/>
            <a:ext cx="5486400" cy="38405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420624" y="3675888"/>
            <a:ext cx="475488" cy="475488"/>
          </a:xfrm>
          <a:prstGeom prst="ellipse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09" y="3782873"/>
            <a:ext cx="261518" cy="261518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4462272" y="3813048"/>
            <a:ext cx="1170432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4462272" y="381304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PLANNED</a:t>
            </a:r>
            <a:endParaRPr lang="en-US" sz="750" dirty="0"/>
          </a:p>
        </p:txBody>
      </p:sp>
      <p:sp>
        <p:nvSpPr>
          <p:cNvPr id="42" name="Text 36"/>
          <p:cNvSpPr/>
          <p:nvPr/>
        </p:nvSpPr>
        <p:spPr>
          <a:xfrm>
            <a:off x="1042416" y="35935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874"/>
                </a:solidFill>
              </a:rPr>
              <a:t>Handover Pack PDF Export</a:t>
            </a:r>
            <a:endParaRPr lang="en-US" sz="1350" dirty="0"/>
          </a:p>
        </p:txBody>
      </p:sp>
      <p:sp>
        <p:nvSpPr>
          <p:cNvPr id="43" name="Shape 37"/>
          <p:cNvSpPr/>
          <p:nvPr/>
        </p:nvSpPr>
        <p:spPr>
          <a:xfrm>
            <a:off x="1042416" y="3904488"/>
            <a:ext cx="3291840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1042416" y="39593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Auto-generate exportable SME handover documents — structured, shareable, audit-ready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5998464" y="877824"/>
            <a:ext cx="2889504" cy="356616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46" name="Shape 40"/>
          <p:cNvSpPr/>
          <p:nvPr/>
        </p:nvSpPr>
        <p:spPr>
          <a:xfrm>
            <a:off x="5998464" y="877824"/>
            <a:ext cx="2889504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6144768" y="96926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6803136" y="96926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7461504" y="96926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8119872" y="96926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6144768" y="1371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6803136" y="1371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7461504" y="1371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8119872" y="1371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6144768" y="177393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6803136" y="177393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7461504" y="177393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8119872" y="177393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9" name="Shape 53"/>
          <p:cNvSpPr/>
          <p:nvPr/>
        </p:nvSpPr>
        <p:spPr>
          <a:xfrm>
            <a:off x="6144768" y="217627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0" name="Shape 54"/>
          <p:cNvSpPr/>
          <p:nvPr/>
        </p:nvSpPr>
        <p:spPr>
          <a:xfrm>
            <a:off x="6803136" y="217627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1" name="Shape 55"/>
          <p:cNvSpPr/>
          <p:nvPr/>
        </p:nvSpPr>
        <p:spPr>
          <a:xfrm>
            <a:off x="7461504" y="217627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2" name="Shape 56"/>
          <p:cNvSpPr/>
          <p:nvPr/>
        </p:nvSpPr>
        <p:spPr>
          <a:xfrm>
            <a:off x="8119872" y="217627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3" name="Shape 57"/>
          <p:cNvSpPr/>
          <p:nvPr/>
        </p:nvSpPr>
        <p:spPr>
          <a:xfrm>
            <a:off x="6144768" y="257860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4" name="Shape 58"/>
          <p:cNvSpPr/>
          <p:nvPr/>
        </p:nvSpPr>
        <p:spPr>
          <a:xfrm>
            <a:off x="6803136" y="257860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5" name="Shape 59"/>
          <p:cNvSpPr/>
          <p:nvPr/>
        </p:nvSpPr>
        <p:spPr>
          <a:xfrm>
            <a:off x="7461504" y="257860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6" name="Shape 60"/>
          <p:cNvSpPr/>
          <p:nvPr/>
        </p:nvSpPr>
        <p:spPr>
          <a:xfrm>
            <a:off x="8119872" y="257860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6144768" y="298094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8" name="Shape 62"/>
          <p:cNvSpPr/>
          <p:nvPr/>
        </p:nvSpPr>
        <p:spPr>
          <a:xfrm>
            <a:off x="6803136" y="298094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9" name="Shape 63"/>
          <p:cNvSpPr/>
          <p:nvPr/>
        </p:nvSpPr>
        <p:spPr>
          <a:xfrm>
            <a:off x="7461504" y="298094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0" name="Shape 64"/>
          <p:cNvSpPr/>
          <p:nvPr/>
        </p:nvSpPr>
        <p:spPr>
          <a:xfrm>
            <a:off x="8119872" y="298094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1" name="Shape 65"/>
          <p:cNvSpPr/>
          <p:nvPr/>
        </p:nvSpPr>
        <p:spPr>
          <a:xfrm>
            <a:off x="6144768" y="33832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2" name="Shape 66"/>
          <p:cNvSpPr/>
          <p:nvPr/>
        </p:nvSpPr>
        <p:spPr>
          <a:xfrm>
            <a:off x="6803136" y="33832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3" name="Shape 67"/>
          <p:cNvSpPr/>
          <p:nvPr/>
        </p:nvSpPr>
        <p:spPr>
          <a:xfrm>
            <a:off x="7461504" y="33832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4" name="Shape 68"/>
          <p:cNvSpPr/>
          <p:nvPr/>
        </p:nvSpPr>
        <p:spPr>
          <a:xfrm>
            <a:off x="8119872" y="33832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5" name="Shape 69"/>
          <p:cNvSpPr/>
          <p:nvPr/>
        </p:nvSpPr>
        <p:spPr>
          <a:xfrm>
            <a:off x="6144768" y="378561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6" name="Shape 70"/>
          <p:cNvSpPr/>
          <p:nvPr/>
        </p:nvSpPr>
        <p:spPr>
          <a:xfrm>
            <a:off x="6803136" y="378561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7" name="Shape 71"/>
          <p:cNvSpPr/>
          <p:nvPr/>
        </p:nvSpPr>
        <p:spPr>
          <a:xfrm>
            <a:off x="7461504" y="378561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8" name="Shape 72"/>
          <p:cNvSpPr/>
          <p:nvPr/>
        </p:nvSpPr>
        <p:spPr>
          <a:xfrm>
            <a:off x="8119872" y="378561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7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896" y="1042416"/>
            <a:ext cx="475488" cy="475488"/>
          </a:xfrm>
          <a:prstGeom prst="rect">
            <a:avLst/>
          </a:prstGeom>
        </p:spPr>
      </p:pic>
      <p:sp>
        <p:nvSpPr>
          <p:cNvPr id="80" name="Text 73"/>
          <p:cNvSpPr/>
          <p:nvPr/>
        </p:nvSpPr>
        <p:spPr>
          <a:xfrm>
            <a:off x="6089904" y="1591056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See it live.</a:t>
            </a:r>
            <a:endParaRPr lang="en-US" sz="2200" dirty="0"/>
          </a:p>
        </p:txBody>
      </p:sp>
      <p:sp>
        <p:nvSpPr>
          <p:cNvPr id="81" name="Shape 74"/>
          <p:cNvSpPr/>
          <p:nvPr/>
        </p:nvSpPr>
        <p:spPr>
          <a:xfrm>
            <a:off x="6565392" y="2048256"/>
            <a:ext cx="1755648" cy="34747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2" name="Text 75"/>
          <p:cNvSpPr/>
          <p:nvPr/>
        </p:nvSpPr>
        <p:spPr>
          <a:xfrm>
            <a:off x="6089904" y="2103120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localhost:3000</a:t>
            </a:r>
            <a:endParaRPr lang="en-US" sz="1600" dirty="0"/>
          </a:p>
        </p:txBody>
      </p:sp>
      <p:sp>
        <p:nvSpPr>
          <p:cNvPr id="83" name="Text 76"/>
          <p:cNvSpPr/>
          <p:nvPr/>
        </p:nvSpPr>
        <p:spPr>
          <a:xfrm>
            <a:off x="6089904" y="2523744"/>
            <a:ext cx="2706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5,092 documents.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 data. Right now.</a:t>
            </a:r>
            <a:endParaRPr lang="en-US" sz="1100" dirty="0"/>
          </a:p>
        </p:txBody>
      </p:sp>
      <p:sp>
        <p:nvSpPr>
          <p:cNvPr id="84" name="Shape 77"/>
          <p:cNvSpPr/>
          <p:nvPr/>
        </p:nvSpPr>
        <p:spPr>
          <a:xfrm>
            <a:off x="6089904" y="3163824"/>
            <a:ext cx="1243584" cy="219456"/>
          </a:xfrm>
          <a:prstGeom prst="rect">
            <a:avLst/>
          </a:prstGeom>
          <a:solidFill>
            <a:srgbClr val="FFFFFF">
              <a:alpha val="1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Text 78"/>
          <p:cNvSpPr/>
          <p:nvPr/>
        </p:nvSpPr>
        <p:spPr>
          <a:xfrm>
            <a:off x="6089904" y="316382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✓  Jira</a:t>
            </a:r>
            <a:endParaRPr lang="en-US" sz="850" dirty="0"/>
          </a:p>
        </p:txBody>
      </p:sp>
      <p:sp>
        <p:nvSpPr>
          <p:cNvPr id="86" name="Shape 79"/>
          <p:cNvSpPr/>
          <p:nvPr/>
        </p:nvSpPr>
        <p:spPr>
          <a:xfrm>
            <a:off x="7443216" y="3163824"/>
            <a:ext cx="1243584" cy="219456"/>
          </a:xfrm>
          <a:prstGeom prst="rect">
            <a:avLst/>
          </a:prstGeom>
          <a:solidFill>
            <a:srgbClr val="FFFFFF">
              <a:alpha val="1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Text 80"/>
          <p:cNvSpPr/>
          <p:nvPr/>
        </p:nvSpPr>
        <p:spPr>
          <a:xfrm>
            <a:off x="7443216" y="316382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✓  Confluence</a:t>
            </a:r>
            <a:endParaRPr lang="en-US" sz="850" dirty="0"/>
          </a:p>
        </p:txBody>
      </p:sp>
      <p:sp>
        <p:nvSpPr>
          <p:cNvPr id="88" name="Shape 81"/>
          <p:cNvSpPr/>
          <p:nvPr/>
        </p:nvSpPr>
        <p:spPr>
          <a:xfrm>
            <a:off x="6089904" y="3438144"/>
            <a:ext cx="1243584" cy="219456"/>
          </a:xfrm>
          <a:prstGeom prst="rect">
            <a:avLst/>
          </a:prstGeom>
          <a:solidFill>
            <a:srgbClr val="FFFFFF">
              <a:alpha val="1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Text 82"/>
          <p:cNvSpPr/>
          <p:nvPr/>
        </p:nvSpPr>
        <p:spPr>
          <a:xfrm>
            <a:off x="6089904" y="343814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✓  GitHub</a:t>
            </a:r>
            <a:endParaRPr lang="en-US" sz="850" dirty="0"/>
          </a:p>
        </p:txBody>
      </p:sp>
      <p:sp>
        <p:nvSpPr>
          <p:cNvPr id="90" name="Shape 83"/>
          <p:cNvSpPr/>
          <p:nvPr/>
        </p:nvSpPr>
        <p:spPr>
          <a:xfrm>
            <a:off x="7443216" y="3438144"/>
            <a:ext cx="1243584" cy="219456"/>
          </a:xfrm>
          <a:prstGeom prst="rect">
            <a:avLst/>
          </a:prstGeom>
          <a:solidFill>
            <a:srgbClr val="FFFFFF">
              <a:alpha val="1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Text 84"/>
          <p:cNvSpPr/>
          <p:nvPr/>
        </p:nvSpPr>
        <p:spPr>
          <a:xfrm>
            <a:off x="7443216" y="343814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✓  SharePoint</a:t>
            </a:r>
            <a:endParaRPr lang="en-US" sz="850" dirty="0"/>
          </a:p>
        </p:txBody>
      </p:sp>
      <p:sp>
        <p:nvSpPr>
          <p:cNvPr id="92" name="Text 85"/>
          <p:cNvSpPr/>
          <p:nvPr/>
        </p:nvSpPr>
        <p:spPr>
          <a:xfrm>
            <a:off x="6089904" y="4242816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E3  ·  Citi  ·  Hackathon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EKM — Enterprise Knowledge Management</dc:title>
  <dc:subject>PptxGenJS Presentation</dc:subject>
  <dc:creator>PptxGenJS</dc:creator>
  <cp:lastModifiedBy>PptxGenJS</cp:lastModifiedBy>
  <cp:revision>1</cp:revision>
  <dcterms:created xsi:type="dcterms:W3CDTF">2026-03-11T10:56:44Z</dcterms:created>
  <dcterms:modified xsi:type="dcterms:W3CDTF">2026-03-11T10:56:44Z</dcterms:modified>
</cp:coreProperties>
</file>