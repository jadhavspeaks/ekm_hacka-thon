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13258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knowledge.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 start.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 · intelligence analytics · community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Jira, Confluence, GitHub and SharePoint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749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POC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Team  ·  Citi  ·  March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84048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640080"/>
            <a:ext cx="23774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Indexed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46520" y="64008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640080"/>
            <a:ext cx="2377440" cy="64008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1389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2057400"/>
            <a:ext cx="23774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4048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Modules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0574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057400"/>
            <a:ext cx="23774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1945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77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Confluence  ·  GitHub  ·  SharePoint  ·  MongoDB  ·  FastAPI  ·  React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separate problems. One systemic knowledge gap.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658368"/>
            <a:ext cx="422452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 tools. 1 question.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context-switch across Jira, Confluence, GitHub and SharePoint for every single answer.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658368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658368"/>
            <a:ext cx="42245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7680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8032" y="9784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Knowledge walks out.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31673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departures silently erase years of context. No handover pack. No audit trail.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724912"/>
            <a:ext cx="422452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No single source of truth.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 return inconsistent, stale results with no unified relevance ranking.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2724912"/>
            <a:ext cx="422452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724912"/>
            <a:ext cx="4224528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28032" y="30449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Right now, at Citi.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3832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audits, repeated questions, and lost institutional knowledge compound daily.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46120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46120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 spent searching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08392" y="10424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08392" y="14081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handover trails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246120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search effort daily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08392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708392" y="3474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engineer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engine. Four sources. Instant answers.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658368"/>
            <a:ext cx="2560320" cy="41605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22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ENGINE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Unified Search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Intelligence Layer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368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Community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29352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Onboarding Paths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35021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 Links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6858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68580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795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52928" y="106984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169164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801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52928" y="207568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69748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2651760" cy="5486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52928" y="308152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70332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3703320"/>
            <a:ext cx="265176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130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2928" y="4087368"/>
            <a:ext cx="43891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68580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685800"/>
            <a:ext cx="29260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7589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10149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across all 4 sources simultaneously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106984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69164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1691640"/>
            <a:ext cx="292608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202082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analytical modules — gaps, risk, experts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207568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269748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269748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770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72200" y="30266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Flags, smart annotations, leaderboard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852160" y="308152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703320"/>
            <a:ext cx="2926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703320"/>
            <a:ext cx="29260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76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Paths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4032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per topic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52160" y="4087368"/>
            <a:ext cx="1828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5537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·  FastAPI  ·  React  ·  Python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features. Running on your infrastructure. Real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Unified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across Jira, Confluence, GitHub &amp; SharePoint simultaneously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 Hub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analytics: knowledge gaps, risk, experts &amp; more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 Community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docs outdated, incorrect, useful or needing SME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Paths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learning journeys — share with any new joiner instantly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&amp; Vendor Intel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risk alerts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Annotations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notes, corrections &amp; suggestions with community upvotes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Leaderboard &amp; Digest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contributions with weekly knowledge digest and rankings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Deep Links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/join/:topic URLs route directly to curated onboarding paths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People Search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across all sources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5,092 raw documents to 6 actionable analytical views.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undocumented systems and topics your team searches but finds nothing 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At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departure alerts — who owns critical topics and what happens when they leave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65836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768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768096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Vendors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2252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 vendor classification with knowledge concentration and dependency alerts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88336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SME knowledge transfer packs — shareable and audit-ready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546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688336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033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finder and contributor profiles built from real activity across all sources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688336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688336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75120" y="2798064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/join/:topic onboarding journeys for any new joiner, instantly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 makes the platform smarter for the next.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Flags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— content no longer reflects reality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— factual error identified by reviewer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Useful — high-value document, surface to others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 — escalate to SME for attention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546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Annotations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— add contextual insight directly on a doc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— propose improvements or missing content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— fix factual errors with upvote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community-added knowledge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658368"/>
            <a:ext cx="2834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749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&amp; Leaderboard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63640" y="1207008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— top contributors ranked by quality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198424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Flagged — docs needing urgent attention surfaced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63640" y="2706624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— highest-rated docs promoted to new joiners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456432"/>
            <a:ext cx="25603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4838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— activity summary and highlights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  —  EKM  ·  E3  ·  Citi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5200" y="5486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09728" y="804672"/>
            <a:ext cx="171907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804672"/>
            <a:ext cx="17190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82880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P: Engineers run 4 separate searches per question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I: Knowledge exits silently with every SME departure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C: No unified source of truth across tools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U: Manual onboarding, manual audits — every time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74520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80467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47672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947672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BM25 unified search — 1 query, 4 sources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947672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6-tab intelligence hub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947672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&amp; smart annotations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47672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Deep-link /join/:topic onboarding URLs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39312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80467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712464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 search. All your knowledge.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712464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 cold start.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712464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· Day-1 ready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12464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cold start problem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04104" y="804672"/>
            <a:ext cx="171907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04104" y="804672"/>
            <a:ext cx="17190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868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477256" y="107899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docs already indexed — Day 1 ready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77256" y="146304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SharePoint connector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77256" y="184708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Citi TECH NE vendor classifier built-in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77256" y="223113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Built by E3 — deep insider knowledge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168896" y="804672"/>
            <a:ext cx="1865376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68896" y="804672"/>
            <a:ext cx="1865376" cy="457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86868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7242048" y="107899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Engineering teams (primary users)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42048" y="146304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joiners &amp; graduates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42048" y="18470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managers &amp;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42048" y="223113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Compliance &amp; audit teams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74520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74520" y="2770632"/>
            <a:ext cx="1719072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ALTERNATIVES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947672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Native Jira / Confluence search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947672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Manual wiki maintenance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947672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Apache Answer (no Citi data)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947672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SharePoint search (SP only)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39312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39312" y="2770632"/>
            <a:ext cx="171907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2464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712464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Searches per week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12464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query rate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712464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contributions/week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12464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Time-to-first-answer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404104" y="2770632"/>
            <a:ext cx="1719072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04104" y="2770632"/>
            <a:ext cx="1719072" cy="457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77256" y="283464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477256" y="304495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localhost:3000 (internal deploy)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477256" y="34290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/join/:topic shareable deep links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77256" y="3813048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Microsoft Teams integration path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477256" y="4197096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 onboarding share URLs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09728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8288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(existing infra)  ·  Python · FastAPI · React (open source)  ·  Engineer time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599432" y="4590288"/>
            <a:ext cx="4434840" cy="347472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59943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663440" y="4754880"/>
            <a:ext cx="4206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productivity uplift  ·  POC pathway to enterprise platform rollout across Citi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search to synthesis — the next frontier for EKM.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62179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 ·  EKM + AI ENGINE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search. You read.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manually scans 10+ results per query to piece together an answer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36592" y="1042416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042416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88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Ask. Get a synthesised answer.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13624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reads your 5,092 docs and returns a direct answer with citations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36245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lost between docs.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 links to Confluence. Confluence links to GitHub. You follow each separately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36592" y="1993392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993392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39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stitched automatically.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connects Jira tickets, Confluence pages and GitHub PRs into a unified response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231343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every onboard.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ask the same questions. Knowledge stays in peoples heads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2944368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294436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Zero-repeat onboarding.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2644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asks once. The AI answer is reusable and lives in EKM forever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26440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as the search engine.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become bottlenecks because there is no synthesised answer layer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36592" y="3895344"/>
            <a:ext cx="42245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3895344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9410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freed from bottlenecks.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42153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instantly. SME time reserved for real decisions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7408" y="421538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engine integrates with EKM via Retrieval-Augmented Generation.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1600200" cy="1417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658368"/>
            <a:ext cx="1600200" cy="141732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6596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Retrieval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indexed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658368"/>
            <a:ext cx="16002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4924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658368"/>
            <a:ext cx="16002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3212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(Anthropic)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0" y="1362456"/>
            <a:ext cx="1828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658368"/>
            <a:ext cx="16002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71323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38988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331720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search returns top-20 candidate chunks. Metadata filters by source, recency and community 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331720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42032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concatenated with doc metadata, community flags and expert annotations into structured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26864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233172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generates a direct answer grounded strictly in retrieved context — no hallucination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48856" y="2331720"/>
            <a:ext cx="20574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233172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86016" y="24231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Overlay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86016" y="2743200"/>
            <a:ext cx="1783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response is linked back to its source document — Jira, Confluence, GitHub or SharePoint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search enhancement to autonomous knowledge maintenance.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5836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01752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Natural language Q&amp;A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 query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5,092 indexed docs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175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flags + scores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1752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Cited answer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1752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Source links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Confidence level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6032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BM25 retrieval  ·  FastAPI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86584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86584" y="658368"/>
            <a:ext cx="20574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23744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23744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Proactive gap filling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23744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23744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Zero-result searches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23744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Knowledge gap report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2374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Stale doc alerts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23744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23744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doc stubs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523744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Suggested SME owners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23744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Gap priority score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478024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Intelligence layer  ·  Scheduled jobs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4608576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65836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1576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45736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Summaries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Living documentation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45736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45736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Jira/GitHub commits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45736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Confluence page changes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4573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corrections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5736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45736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Auto-updated summaries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45736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Change digest email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45736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Version diff notes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0016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Webhook triggers  ·  MongoDB change streams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6830568" y="658368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830568" y="658368"/>
            <a:ext cx="2057400" cy="5486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7498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804672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12070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Maintenance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67728" y="1572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· Self-healing knowledge 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67728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67728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Flagged outdated docs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67728" y="2395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Cross-source conflicts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67728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 schedules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67728" y="2990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67728" y="3191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Auto-refresh proposals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677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Conflict resolution drafts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67728" y="37398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Audit-ready reports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922008" y="4462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·  Human-in-loop review  ·  Full EKM stack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POC to production-ready platform.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5943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8229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627632" y="7315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Answers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27632" y="1042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RAG pipeline — natural language answers synthesised from your 5,092 docs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66420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664208"/>
            <a:ext cx="594360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5564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27632" y="17373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Feedback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27632" y="204825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signals feed back into BM25 ranking — search improves with every query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670048"/>
            <a:ext cx="59436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6148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3464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627632" y="2743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Online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7632" y="305409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O365 ADFS WS-Federation connector extends coverage to cloud SharePoint environments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3675888"/>
            <a:ext cx="5943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675888"/>
            <a:ext cx="5943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673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84048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627632" y="3749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 PDF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27632" y="405993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exportable SME handover documents — structured, shareable, audit-ready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09360" y="658368"/>
            <a:ext cx="2651760" cy="4005072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914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55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5,092 documents.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data. Right now.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3284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36758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SharePoint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251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 ·  Citi  ·  Hackathon 2026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 ·  500 engineers  ·  Fully loaded cost range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12344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search overhead  ·  40% recovered  ·  $120k loaded cost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36592" y="621792"/>
            <a:ext cx="422452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28032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388352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search overhead  ·  60% recovered  ·  $150k loaded cost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2880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217627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45059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65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rollout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272491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overhead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974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(6 hrs)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(8 hrs)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/ IDC knowledge worker data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99923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recovered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9748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(2.4 hrs)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(4.8 hrs)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65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week, per engineer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327355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9748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/ yr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/ yr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65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$62–$78 per hour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354787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engineer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$7,200 / yr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 / yr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× hourly rate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382219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(500 eng.)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 / yr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$9.0M / yr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465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onboarding &amp; cost offset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82880" y="4133088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Onboarding savings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202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+$200k / yr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926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new joiners · 40% faster ramp · 64 hrs saved each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1546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154680" y="4133088"/>
            <a:ext cx="28346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644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to run EKM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−$65k / yr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644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 · ~0.5 FTE maintenance only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1264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26480" y="4133088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Net ROI (conservative)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638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$3.74M / yr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362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 + $200k onboarding − $65k running cost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481888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based on McKinsey &amp; IDC knowledge worker productivity benchmarks. Actual savings subject to adoption rate and baseline measurement.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Baseline  ·  Time-to-Answer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number to establish before presenting ROI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21792"/>
            <a:ext cx="4224528" cy="123444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EKM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34640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4-tool search workflow  ·  estimated baseline  ·  per query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36592" y="621792"/>
            <a:ext cx="422452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6766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EKM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28032" y="89611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min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388352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609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search  ·  EKM target state  ·  per query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82880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ARE CLAIMING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217627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EKM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2176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EKM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465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45059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40–75 min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46520" y="2450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reduction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272491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/ engineer / day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9748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0" y="2724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46520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volume, drop in zero-result rate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99923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lost per day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9748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hrs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6520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hrs recovered per engineer/day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3273552"/>
            <a:ext cx="8778240" cy="27432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measure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9748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survey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Post-EKM survey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652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with 5–10 engineers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3547872"/>
            <a:ext cx="8778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measure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pilot launch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0" y="3547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weeks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3547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formal baseline at Day 1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3822192"/>
            <a:ext cx="8778240" cy="274320"/>
          </a:xfrm>
          <a:prstGeom prst="rect">
            <a:avLst/>
          </a:prstGeom>
          <a:solidFill>
            <a:srgbClr val="00387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analytics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volume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200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rate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46520" y="3822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— tracked in MongoDB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82880" y="4133088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Baseline Survey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202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to run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926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5–10 engineers: How long to find an answer today? How many times a day?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1546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154680" y="4133088"/>
            <a:ext cx="28346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644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Post-EKM Measurement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920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weeks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32644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survey after 2 weeks of EKM use — compare directly to baseline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126480" y="413308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26480" y="4133088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36208" y="417880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 to Say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863840" y="4160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&amp; honest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36208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estimate 40–75 min today. EKM targets sub-5 min. Formal baseline set at pilot launch.”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" y="4818888"/>
            <a:ext cx="8778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based on McKinsey &amp; IDC knowledge worker productivity benchmarks. Actual savings subject to adoption rate and baseline measurement.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from Hackathon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Project Management Learnings  ·  Hackathon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65836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Ruthless Prioritization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non-essential features ruthlessly to focus on delivering a high-impact, working demo within the time constraint.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546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Understanding User Needs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918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from developer-centric thinking to a user-centric mindset — solving a specific, real-world pain point for engineers.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65836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Pivot Decision-Making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078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when to change project direction based on technical feasibility or mentor feedback — and act on it fast.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075688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Agile Team Collaboration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 and task delegation within a diverse team — designers working alongside backend developers.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546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07568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Communication Under Pressure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 and async updates kept the team aligned across different workstreams without blocking progress.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207568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075688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167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Time-Boxing Decisions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hard time-boxes on decisions prevented analysis paralysis and kept momentum through the sprint.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493008"/>
            <a:ext cx="2834640" cy="54864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Scope Management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 clear MVP scope on day one and resisted feature creep — every addition was tested against the demo goal.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54680" y="3493008"/>
            <a:ext cx="28346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Failing Fast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918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Prototyped ideas quickly to validate technical approaches early, avoiding wasted effort on dead-end solutions.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126480" y="3493008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493008"/>
            <a:ext cx="2834640" cy="5486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584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Demo-First Thinking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63640" y="391363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toward the final presentation from the start — every feature decision was made with the executive demo in mind.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3874"/>
          </a:solidFill>
          <a:ln w="12700">
            <a:solidFill>
              <a:srgbClr val="00387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6519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  ·  Enterprise Knowledge Management  ·  E3  ·  Citi   |   CONFIDENTIAL  ·  INTERNAL USE ONLY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412480" y="496519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Executive Demo v7</dc:title>
  <dc:subject>PptxGenJS Presentation</dc:subject>
  <dc:creator>PptxGenJS</dc:creator>
  <cp:lastModifiedBy>PptxGenJS</cp:lastModifiedBy>
  <cp:revision>1</cp:revision>
  <dcterms:created xsi:type="dcterms:W3CDTF">2026-03-16T06:11:21Z</dcterms:created>
  <dcterms:modified xsi:type="dcterms:W3CDTF">2026-03-16T06:11:21Z</dcterms:modified>
</cp:coreProperties>
</file>