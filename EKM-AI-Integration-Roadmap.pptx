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1005840"/>
            <a:ext cx="3200400" cy="32004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365760"/>
            <a:ext cx="2011680" cy="201168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4754880"/>
            <a:ext cx="8915400" cy="45720"/>
          </a:xfrm>
          <a:prstGeom prst="rect">
            <a:avLst/>
          </a:prstGeom>
          <a:solidFill>
            <a:srgbClr val="0891B2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Integration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document search to intelligent answers — what AI unlocks for EKM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4160520"/>
            <a:ext cx="2377440" cy="749808"/>
          </a:xfrm>
          <a:prstGeom prst="rect">
            <a:avLst/>
          </a:prstGeom>
          <a:solidFill>
            <a:srgbClr val="112233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1879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5,092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45079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indexed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4160520"/>
            <a:ext cx="2377440" cy="749808"/>
          </a:xfrm>
          <a:prstGeom prst="rect">
            <a:avLst/>
          </a:prstGeom>
          <a:solidFill>
            <a:srgbClr val="112233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41879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00400" y="45079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sources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0" y="4160520"/>
            <a:ext cx="2377440" cy="749808"/>
          </a:xfrm>
          <a:prstGeom prst="rect">
            <a:avLst/>
          </a:prstGeom>
          <a:solidFill>
            <a:srgbClr val="112233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41879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43600" y="45079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tiers planned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finds documents. AI synthesises answers.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gap — between linking and understanding — is where AI creates the most value.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39319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011680"/>
            <a:ext cx="393192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011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Search Today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542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User types: "BIC ETL reconciliation"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9443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Returns 10 document links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3467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User opens each one manually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7490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User synthesises the answer themselves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1513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 cost: 20–40 minutes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2011680"/>
            <a:ext cx="393192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2011680"/>
            <a:ext cx="393192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011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With AI Answers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542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User asks the same question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9443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reads 4 docs + 2 Jira tickets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33467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Returns a 3-paragraph direct answer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37490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Sources cited inline, clickable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41513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Time cost: 30 seconds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25112" y="3246120"/>
            <a:ext cx="493776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4279392" y="30906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 —  MAKES OR BREAKS THE DEMO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498080" y="182880"/>
            <a:ext cx="137160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0" y="182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features that transform EKM from a search tool into a knowledge platform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84124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17320"/>
            <a:ext cx="54864" cy="10241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0876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4904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Ask a Question, Get an Answer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03720" y="1508760"/>
            <a:ext cx="1600200" cy="237744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150876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 Engine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" y="181051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synthesis from indexed docs. Instead of 10 links, a 3-paragraph answer with inline citations from Confluence + Jira + GitHub.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0624" y="2148840"/>
            <a:ext cx="8302752" cy="237744"/>
          </a:xfrm>
          <a:prstGeom prst="rect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14884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Most demo-visible feature. Everyone gets it immediately.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587752"/>
            <a:ext cx="84124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587752"/>
            <a:ext cx="54864" cy="1024128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67919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2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266090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Why Is This Relevant?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03720" y="2679192"/>
            <a:ext cx="1600200" cy="237744"/>
          </a:xfrm>
          <a:prstGeom prst="rect">
            <a:avLst/>
          </a:prstGeom>
          <a:solidFill>
            <a:srgbClr val="0052CC">
              <a:alpha val="15000"/>
            </a:srgbClr>
          </a:solidFill>
          <a:ln w="12700">
            <a:solidFill>
              <a:srgbClr val="0052CC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267919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2960" y="298094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search result gets a one-sentence AI explanation of why it matched — not just a score but 'This matches because it documents the exact payment gateway you mentioned.'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0624" y="3319272"/>
            <a:ext cx="8302752" cy="237744"/>
          </a:xfrm>
          <a:prstGeom prst="rect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3192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Changes how users trust and act on search results.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758184"/>
            <a:ext cx="84124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758184"/>
            <a:ext cx="54864" cy="10241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84962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38313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Stale Document Detector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903720" y="3849624"/>
            <a:ext cx="1600200" cy="237744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384962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Intelligence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" y="415137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a Confluence page and cross-references it against recent Jira activity. Flags: 'This page says X but 3 recent tickets suggest the process has changed.'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0624" y="4489704"/>
            <a:ext cx="8302752" cy="237744"/>
          </a:xfrm>
          <a:prstGeom prst="rect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48970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Hard to fake without AI. Genuinely solves a real Citi pain point.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 —  INTELLIGENCE FEATURES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0" y="182880"/>
            <a:ext cx="155448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182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BUILT → 10×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EKM intelligence tabs become dramatically more useful with AI narrative generation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17320"/>
            <a:ext cx="54864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813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Auto-Generate Handover Pack Narrative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0" y="1508760"/>
            <a:ext cx="1188720" cy="256032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1508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tab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182880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" y="18288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list of owned docs + tickets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97680" y="182880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00600" y="1828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briefing: 'Sarah owns 3 critical systems. Her Jira backlog has 12 open tickets with no backup. Risk: HIGH.'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578608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578608"/>
            <a:ext cx="54864" cy="100584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64261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Knowledge Gap Auto-Diagnosis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0" y="2670048"/>
            <a:ext cx="1188720" cy="256032"/>
          </a:xfrm>
          <a:prstGeom prst="rect">
            <a:avLst/>
          </a:prstGeom>
          <a:solidFill>
            <a:srgbClr val="E11D48">
              <a:alpha val="12000"/>
            </a:srgbClr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26700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tab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29900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" y="299008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search terms that returned zero results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97680" y="2990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0600" y="29900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 docs found for settlement cutoff times — but 4 Jira tickets reference this process. Someone should write this.'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739896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739896"/>
            <a:ext cx="54864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80390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Truly Curated Learning Paths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69280" y="3831336"/>
            <a:ext cx="1188720" cy="256032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38313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/learn page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8640" y="415137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" y="41513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search results grouped by source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297680" y="41513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00600" y="415137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docs, orders by conceptual dependency, adds one-line summary per doc, generates intro paragraph. A real curriculum.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+ WHERE TO START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3 — Strategic Long-term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264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Incident Summariser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Jira ticket → extract decisions, actions, link to existing docs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35915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4323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 Proactive Weekly Digest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AI-generated: what changed, what's outdated, 3 things you should know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36499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4381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Expert Finder enhanced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7490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explains WHY someone is an expert, not just doc counts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914400"/>
            <a:ext cx="36576" cy="39319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9144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Starting Point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92040" y="1353312"/>
            <a:ext cx="3886200" cy="14630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1353312"/>
            <a:ext cx="54864" cy="1463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14447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with #1: Ask a Question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184708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Most visible — everyone in the room gets 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74920" y="208483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Anchors Tiers 2 &amp; 3 (same AI pipeline)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4920" y="232257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Works with your 5,092 docs on day one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74920" y="256032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Single new endpoint + UI panel to build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2040" y="2971800"/>
            <a:ext cx="3886200" cy="91440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297180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3017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Pre-check before coding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74920" y="329184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Anthropic API is reachable from Citi's corporate network. If blocked, an internal AI gateway may be needed. Worth verifying before any implementation.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92040" y="4005072"/>
            <a:ext cx="3886200" cy="502920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400507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build time for #1 → #3:  3–5 focused sessions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 — 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Answer Engine — Request Flow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1600200" cy="1005840"/>
          </a:xfrm>
          <a:prstGeom prst="rect">
            <a:avLst/>
          </a:prstGeom>
          <a:solidFill>
            <a:srgbClr val="0891B2">
              <a:alpha val="20000"/>
            </a:srgbClr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5544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74520" y="2011680"/>
            <a:ext cx="411480" cy="36576"/>
          </a:xfrm>
          <a:prstGeom prst="rect">
            <a:avLst/>
          </a:prstGeom>
          <a:solidFill>
            <a:srgbClr val="0891B2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029968" y="18928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11680" y="1554480"/>
            <a:ext cx="1600200" cy="1005840"/>
          </a:xfrm>
          <a:prstGeom prst="rect">
            <a:avLst/>
          </a:prstGeom>
          <a:solidFill>
            <a:srgbClr val="0052CC">
              <a:alpha val="20000"/>
            </a:srgbClr>
          </a:solidFill>
          <a:ln w="19050">
            <a:solidFill>
              <a:srgbClr val="0052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15544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top 8 docs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11880" y="2011680"/>
            <a:ext cx="411480" cy="36576"/>
          </a:xfrm>
          <a:prstGeom prst="rect">
            <a:avLst/>
          </a:prstGeom>
          <a:solidFill>
            <a:srgbClr val="0891B2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767328" y="18928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49040" y="1554480"/>
            <a:ext cx="1600200" cy="1005840"/>
          </a:xfrm>
          <a:prstGeom prst="rect">
            <a:avLst/>
          </a:prstGeom>
          <a:solidFill>
            <a:srgbClr val="7C3AED">
              <a:alpha val="20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49040" y="15544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passed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Claude 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49240" y="2011680"/>
            <a:ext cx="411480" cy="36576"/>
          </a:xfrm>
          <a:prstGeom prst="rect">
            <a:avLst/>
          </a:prstGeom>
          <a:solidFill>
            <a:srgbClr val="0891B2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504688" y="18928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0" y="1554480"/>
            <a:ext cx="1600200" cy="1005840"/>
          </a:xfrm>
          <a:prstGeom prst="rect">
            <a:avLst/>
          </a:prstGeom>
          <a:solidFill>
            <a:srgbClr val="F59E0B">
              <a:alpha val="20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15544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synthesises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citations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86600" y="2011680"/>
            <a:ext cx="411480" cy="36576"/>
          </a:xfrm>
          <a:prstGeom prst="rect">
            <a:avLst/>
          </a:prstGeom>
          <a:solidFill>
            <a:srgbClr val="0891B2">
              <a:alpha val="6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242048" y="18928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23760" y="1554480"/>
            <a:ext cx="1600200" cy="1005840"/>
          </a:xfrm>
          <a:prstGeom prst="rect">
            <a:avLst/>
          </a:prstGeom>
          <a:solidFill>
            <a:srgbClr val="10B981">
              <a:alpha val="20000"/>
            </a:srgbClr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23760" y="15544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shown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EKM UI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788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Design Decisions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200400"/>
            <a:ext cx="4114800" cy="384048"/>
          </a:xfrm>
          <a:prstGeom prst="rect">
            <a:avLst/>
          </a:prstGeom>
          <a:solidFill>
            <a:srgbClr val="112233"/>
          </a:solidFill>
          <a:ln w="635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2004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83080" y="32004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8 search results sent as context — enough signal, within token limits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657600"/>
            <a:ext cx="4114800" cy="384048"/>
          </a:xfrm>
          <a:prstGeom prst="rect">
            <a:avLst/>
          </a:prstGeom>
          <a:solidFill>
            <a:srgbClr val="112233"/>
          </a:solidFill>
          <a:ln w="635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6576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fine-tuning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783080" y="36576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(RAG) — works with your live data, no model training needed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114800"/>
            <a:ext cx="4114800" cy="384048"/>
          </a:xfrm>
          <a:prstGeom prst="rect">
            <a:avLst/>
          </a:prstGeom>
          <a:solidFill>
            <a:srgbClr val="112233"/>
          </a:solidFill>
          <a:ln w="635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4114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83080" y="41148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instructs Claude to cite source titles inline — user can verify every claim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3200400"/>
            <a:ext cx="4114800" cy="384048"/>
          </a:xfrm>
          <a:prstGeom prst="rect">
            <a:avLst/>
          </a:prstGeom>
          <a:solidFill>
            <a:srgbClr val="112233"/>
          </a:solidFill>
          <a:ln w="635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32004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32004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Claude API unreachable, silently falls back to search-only mode — nothing breaks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657600"/>
            <a:ext cx="4114800" cy="384048"/>
          </a:xfrm>
          <a:prstGeom prst="rect">
            <a:avLst/>
          </a:prstGeom>
          <a:solidFill>
            <a:srgbClr val="112233"/>
          </a:solidFill>
          <a:ln w="635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36576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72200" y="36576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called on explicit AI Question queries, not every search — predictable API cost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EKM AI Integration Roadmap</dc:title>
  <dc:subject>PptxGenJS Presentation</dc:subject>
  <dc:creator>PptxGenJS</dc:creator>
  <cp:lastModifiedBy>PptxGenJS</cp:lastModifiedBy>
  <cp:revision>1</cp:revision>
  <dcterms:created xsi:type="dcterms:W3CDTF">2026-03-09T08:07:53Z</dcterms:created>
  <dcterms:modified xsi:type="dcterms:W3CDTF">2026-03-09T08:07:53Z</dcterms:modified>
</cp:coreProperties>
</file>